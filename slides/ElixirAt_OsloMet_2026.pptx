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61" r:id="rId2"/>
    <p:sldId id="279" r:id="rId3"/>
    <p:sldId id="271" r:id="rId4"/>
    <p:sldId id="272" r:id="rId5"/>
    <p:sldId id="273" r:id="rId6"/>
    <p:sldId id="274" r:id="rId7"/>
    <p:sldId id="276" r:id="rId8"/>
    <p:sldId id="275" r:id="rId9"/>
    <p:sldId id="278" r:id="rId10"/>
    <p:sldId id="277" r:id="rId11"/>
    <p:sldId id="315" r:id="rId12"/>
    <p:sldId id="316" r:id="rId13"/>
    <p:sldId id="318" r:id="rId14"/>
    <p:sldId id="319" r:id="rId15"/>
    <p:sldId id="256" r:id="rId16"/>
    <p:sldId id="320" r:id="rId17"/>
    <p:sldId id="321" r:id="rId18"/>
    <p:sldId id="322" r:id="rId19"/>
    <p:sldId id="323" r:id="rId20"/>
    <p:sldId id="324" r:id="rId21"/>
    <p:sldId id="280" r:id="rId22"/>
    <p:sldId id="281" r:id="rId23"/>
    <p:sldId id="283" r:id="rId24"/>
    <p:sldId id="617" r:id="rId25"/>
    <p:sldId id="325" r:id="rId26"/>
    <p:sldId id="628" r:id="rId27"/>
    <p:sldId id="629" r:id="rId28"/>
    <p:sldId id="630" r:id="rId29"/>
    <p:sldId id="631" r:id="rId30"/>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6B1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E07E3F-1ED2-44D6-850F-6BBE98948C19}" v="3" dt="2026-10-15T14:30:18.2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1" d="100"/>
          <a:sy n="71" d="100"/>
        </p:scale>
        <p:origin x="464" y="2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turo Vera Ponce De Leon" userId="208490ea-1926-4bb9-bbb4-8049552516e6" providerId="ADAL" clId="{E70203B5-9BF8-4E22-A958-43D867263497}"/>
    <pc:docChg chg="custSel modSld">
      <pc:chgData name="Arturo Vera Ponce De Leon" userId="208490ea-1926-4bb9-bbb4-8049552516e6" providerId="ADAL" clId="{E70203B5-9BF8-4E22-A958-43D867263497}" dt="2026-10-15T14:30:55.319" v="112" actId="20577"/>
      <pc:docMkLst>
        <pc:docMk/>
      </pc:docMkLst>
      <pc:sldChg chg="modSp">
        <pc:chgData name="Arturo Vera Ponce De Leon" userId="208490ea-1926-4bb9-bbb4-8049552516e6" providerId="ADAL" clId="{E70203B5-9BF8-4E22-A958-43D867263497}" dt="2026-10-15T14:30:18.224" v="88"/>
        <pc:sldMkLst>
          <pc:docMk/>
          <pc:sldMk cId="0" sldId="261"/>
        </pc:sldMkLst>
        <pc:spChg chg="mod">
          <ac:chgData name="Arturo Vera Ponce De Leon" userId="208490ea-1926-4bb9-bbb4-8049552516e6" providerId="ADAL" clId="{E70203B5-9BF8-4E22-A958-43D867263497}" dt="2026-10-15T14:30:18.224" v="88"/>
          <ac:spMkLst>
            <pc:docMk/>
            <pc:sldMk cId="0" sldId="261"/>
            <ac:spMk id="97" creationId="{00000000-0000-0000-0000-000000000000}"/>
          </ac:spMkLst>
        </pc:spChg>
      </pc:sldChg>
      <pc:sldChg chg="addSp delSp modSp mod">
        <pc:chgData name="Arturo Vera Ponce De Leon" userId="208490ea-1926-4bb9-bbb4-8049552516e6" providerId="ADAL" clId="{E70203B5-9BF8-4E22-A958-43D867263497}" dt="2026-10-15T14:30:37.329" v="100" actId="20577"/>
        <pc:sldMkLst>
          <pc:docMk/>
          <pc:sldMk cId="672009441" sldId="271"/>
        </pc:sldMkLst>
        <pc:spChg chg="mod">
          <ac:chgData name="Arturo Vera Ponce De Leon" userId="208490ea-1926-4bb9-bbb4-8049552516e6" providerId="ADAL" clId="{E70203B5-9BF8-4E22-A958-43D867263497}" dt="2026-10-15T14:30:18.224" v="88"/>
          <ac:spMkLst>
            <pc:docMk/>
            <pc:sldMk cId="672009441" sldId="271"/>
            <ac:spMk id="6" creationId="{2963B8A3-5136-6D9E-F9FF-4B136E3F372A}"/>
          </ac:spMkLst>
        </pc:spChg>
        <pc:spChg chg="mod">
          <ac:chgData name="Arturo Vera Ponce De Leon" userId="208490ea-1926-4bb9-bbb4-8049552516e6" providerId="ADAL" clId="{E70203B5-9BF8-4E22-A958-43D867263497}" dt="2026-10-15T14:30:37.329" v="100" actId="20577"/>
          <ac:spMkLst>
            <pc:docMk/>
            <pc:sldMk cId="672009441" sldId="271"/>
            <ac:spMk id="8" creationId="{56DB279B-5C6F-E19F-B163-AC6A8C7B95A1}"/>
          </ac:spMkLst>
        </pc:spChg>
        <pc:spChg chg="del">
          <ac:chgData name="Arturo Vera Ponce De Leon" userId="208490ea-1926-4bb9-bbb4-8049552516e6" providerId="ADAL" clId="{E70203B5-9BF8-4E22-A958-43D867263497}" dt="2026-10-15T12:30:39.891" v="31" actId="478"/>
          <ac:spMkLst>
            <pc:docMk/>
            <pc:sldMk cId="672009441" sldId="271"/>
            <ac:spMk id="9" creationId="{488D0EC6-DBFD-8988-3F26-8C36F076857B}"/>
          </ac:spMkLst>
        </pc:spChg>
        <pc:spChg chg="del">
          <ac:chgData name="Arturo Vera Ponce De Leon" userId="208490ea-1926-4bb9-bbb4-8049552516e6" providerId="ADAL" clId="{E70203B5-9BF8-4E22-A958-43D867263497}" dt="2026-10-15T12:32:32.441" v="41" actId="478"/>
          <ac:spMkLst>
            <pc:docMk/>
            <pc:sldMk cId="672009441" sldId="271"/>
            <ac:spMk id="10" creationId="{C6FF1E20-AF05-120F-B2B0-3091AA839D4B}"/>
          </ac:spMkLst>
        </pc:spChg>
        <pc:picChg chg="add del mod">
          <ac:chgData name="Arturo Vera Ponce De Leon" userId="208490ea-1926-4bb9-bbb4-8049552516e6" providerId="ADAL" clId="{E70203B5-9BF8-4E22-A958-43D867263497}" dt="2026-10-15T12:32:29.824" v="40" actId="478"/>
          <ac:picMkLst>
            <pc:docMk/>
            <pc:sldMk cId="672009441" sldId="271"/>
            <ac:picMk id="3" creationId="{626859AE-71DE-A4F4-4A32-1D034147D580}"/>
          </ac:picMkLst>
        </pc:picChg>
        <pc:picChg chg="del">
          <ac:chgData name="Arturo Vera Ponce De Leon" userId="208490ea-1926-4bb9-bbb4-8049552516e6" providerId="ADAL" clId="{E70203B5-9BF8-4E22-A958-43D867263497}" dt="2026-10-15T12:32:59.029" v="43" actId="478"/>
          <ac:picMkLst>
            <pc:docMk/>
            <pc:sldMk cId="672009441" sldId="271"/>
            <ac:picMk id="4" creationId="{8FD4037B-4BFE-753B-79D8-981622B3F607}"/>
          </ac:picMkLst>
        </pc:picChg>
        <pc:picChg chg="del">
          <ac:chgData name="Arturo Vera Ponce De Leon" userId="208490ea-1926-4bb9-bbb4-8049552516e6" providerId="ADAL" clId="{E70203B5-9BF8-4E22-A958-43D867263497}" dt="2026-10-15T12:30:37.290" v="30" actId="478"/>
          <ac:picMkLst>
            <pc:docMk/>
            <pc:sldMk cId="672009441" sldId="271"/>
            <ac:picMk id="5" creationId="{3632F2B1-0BED-B43A-B54A-BD20568F3D8A}"/>
          </ac:picMkLst>
        </pc:picChg>
        <pc:picChg chg="add mod">
          <ac:chgData name="Arturo Vera Ponce De Leon" userId="208490ea-1926-4bb9-bbb4-8049552516e6" providerId="ADAL" clId="{E70203B5-9BF8-4E22-A958-43D867263497}" dt="2026-10-15T12:33:22.393" v="52" actId="1076"/>
          <ac:picMkLst>
            <pc:docMk/>
            <pc:sldMk cId="672009441" sldId="271"/>
            <ac:picMk id="11" creationId="{42B67DA9-BC46-5567-82D6-148703A8229B}"/>
          </ac:picMkLst>
        </pc:picChg>
        <pc:picChg chg="del">
          <ac:chgData name="Arturo Vera Ponce De Leon" userId="208490ea-1926-4bb9-bbb4-8049552516e6" providerId="ADAL" clId="{E70203B5-9BF8-4E22-A958-43D867263497}" dt="2026-10-15T12:29:47.320" v="29" actId="478"/>
          <ac:picMkLst>
            <pc:docMk/>
            <pc:sldMk cId="672009441" sldId="271"/>
            <ac:picMk id="12" creationId="{D54ABB6C-2071-4FA8-F38E-8EE089F89E71}"/>
          </ac:picMkLst>
        </pc:picChg>
        <pc:picChg chg="add mod ord">
          <ac:chgData name="Arturo Vera Ponce De Leon" userId="208490ea-1926-4bb9-bbb4-8049552516e6" providerId="ADAL" clId="{E70203B5-9BF8-4E22-A958-43D867263497}" dt="2026-10-15T12:33:20.601" v="51" actId="1076"/>
          <ac:picMkLst>
            <pc:docMk/>
            <pc:sldMk cId="672009441" sldId="271"/>
            <ac:picMk id="14" creationId="{58281AEA-2B4F-D4E3-CF74-83D0FA490E32}"/>
          </ac:picMkLst>
        </pc:picChg>
      </pc:sldChg>
      <pc:sldChg chg="modSp mod">
        <pc:chgData name="Arturo Vera Ponce De Leon" userId="208490ea-1926-4bb9-bbb4-8049552516e6" providerId="ADAL" clId="{E70203B5-9BF8-4E22-A958-43D867263497}" dt="2026-10-15T14:30:28.687" v="94" actId="20577"/>
        <pc:sldMkLst>
          <pc:docMk/>
          <pc:sldMk cId="3066467202" sldId="272"/>
        </pc:sldMkLst>
        <pc:spChg chg="mod">
          <ac:chgData name="Arturo Vera Ponce De Leon" userId="208490ea-1926-4bb9-bbb4-8049552516e6" providerId="ADAL" clId="{E70203B5-9BF8-4E22-A958-43D867263497}" dt="2026-10-15T14:30:28.687" v="94" actId="20577"/>
          <ac:spMkLst>
            <pc:docMk/>
            <pc:sldMk cId="3066467202" sldId="272"/>
            <ac:spMk id="8" creationId="{BF9E8687-41B7-F4CA-3461-9A80F98378E0}"/>
          </ac:spMkLst>
        </pc:spChg>
        <pc:spChg chg="mod">
          <ac:chgData name="Arturo Vera Ponce De Leon" userId="208490ea-1926-4bb9-bbb4-8049552516e6" providerId="ADAL" clId="{E70203B5-9BF8-4E22-A958-43D867263497}" dt="2026-10-15T12:35:11.765" v="60" actId="20577"/>
          <ac:spMkLst>
            <pc:docMk/>
            <pc:sldMk cId="3066467202" sldId="272"/>
            <ac:spMk id="10" creationId="{2F1933AA-1D4C-1D98-0EBF-E0484B634901}"/>
          </ac:spMkLst>
        </pc:spChg>
      </pc:sldChg>
      <pc:sldChg chg="modSp mod">
        <pc:chgData name="Arturo Vera Ponce De Leon" userId="208490ea-1926-4bb9-bbb4-8049552516e6" providerId="ADAL" clId="{E70203B5-9BF8-4E22-A958-43D867263497}" dt="2026-10-15T14:30:18.224" v="88"/>
        <pc:sldMkLst>
          <pc:docMk/>
          <pc:sldMk cId="496814807" sldId="273"/>
        </pc:sldMkLst>
        <pc:spChg chg="mod">
          <ac:chgData name="Arturo Vera Ponce De Leon" userId="208490ea-1926-4bb9-bbb4-8049552516e6" providerId="ADAL" clId="{E70203B5-9BF8-4E22-A958-43D867263497}" dt="2026-10-15T14:30:18.224" v="88"/>
          <ac:spMkLst>
            <pc:docMk/>
            <pc:sldMk cId="496814807" sldId="273"/>
            <ac:spMk id="2" creationId="{8CBC0A73-66AD-1DEE-2964-9624ADDC8860}"/>
          </ac:spMkLst>
        </pc:spChg>
        <pc:spChg chg="mod">
          <ac:chgData name="Arturo Vera Ponce De Leon" userId="208490ea-1926-4bb9-bbb4-8049552516e6" providerId="ADAL" clId="{E70203B5-9BF8-4E22-A958-43D867263497}" dt="2026-10-15T14:30:18.224" v="88"/>
          <ac:spMkLst>
            <pc:docMk/>
            <pc:sldMk cId="496814807" sldId="273"/>
            <ac:spMk id="9" creationId="{A41E493D-63C8-5922-9512-0056833B9C61}"/>
          </ac:spMkLst>
        </pc:spChg>
      </pc:sldChg>
      <pc:sldChg chg="modSp">
        <pc:chgData name="Arturo Vera Ponce De Leon" userId="208490ea-1926-4bb9-bbb4-8049552516e6" providerId="ADAL" clId="{E70203B5-9BF8-4E22-A958-43D867263497}" dt="2026-10-15T14:30:18.224" v="88"/>
        <pc:sldMkLst>
          <pc:docMk/>
          <pc:sldMk cId="1658681954" sldId="274"/>
        </pc:sldMkLst>
        <pc:spChg chg="mod">
          <ac:chgData name="Arturo Vera Ponce De Leon" userId="208490ea-1926-4bb9-bbb4-8049552516e6" providerId="ADAL" clId="{E70203B5-9BF8-4E22-A958-43D867263497}" dt="2026-10-15T14:30:18.224" v="88"/>
          <ac:spMkLst>
            <pc:docMk/>
            <pc:sldMk cId="1658681954" sldId="274"/>
            <ac:spMk id="2" creationId="{8CBC0A73-66AD-1DEE-2964-9624ADDC8860}"/>
          </ac:spMkLst>
        </pc:spChg>
      </pc:sldChg>
      <pc:sldChg chg="modSp mod">
        <pc:chgData name="Arturo Vera Ponce De Leon" userId="208490ea-1926-4bb9-bbb4-8049552516e6" providerId="ADAL" clId="{E70203B5-9BF8-4E22-A958-43D867263497}" dt="2026-10-15T14:30:18.224" v="88"/>
        <pc:sldMkLst>
          <pc:docMk/>
          <pc:sldMk cId="3190048735" sldId="275"/>
        </pc:sldMkLst>
        <pc:spChg chg="mod">
          <ac:chgData name="Arturo Vera Ponce De Leon" userId="208490ea-1926-4bb9-bbb4-8049552516e6" providerId="ADAL" clId="{E70203B5-9BF8-4E22-A958-43D867263497}" dt="2026-10-15T14:30:18.224" v="88"/>
          <ac:spMkLst>
            <pc:docMk/>
            <pc:sldMk cId="3190048735" sldId="275"/>
            <ac:spMk id="2" creationId="{8CBC0A73-66AD-1DEE-2964-9624ADDC8860}"/>
          </ac:spMkLst>
        </pc:spChg>
        <pc:spChg chg="mod">
          <ac:chgData name="Arturo Vera Ponce De Leon" userId="208490ea-1926-4bb9-bbb4-8049552516e6" providerId="ADAL" clId="{E70203B5-9BF8-4E22-A958-43D867263497}" dt="2026-10-15T14:30:18.224" v="88"/>
          <ac:spMkLst>
            <pc:docMk/>
            <pc:sldMk cId="3190048735" sldId="275"/>
            <ac:spMk id="9" creationId="{A41E493D-63C8-5922-9512-0056833B9C61}"/>
          </ac:spMkLst>
        </pc:spChg>
      </pc:sldChg>
      <pc:sldChg chg="modSp">
        <pc:chgData name="Arturo Vera Ponce De Leon" userId="208490ea-1926-4bb9-bbb4-8049552516e6" providerId="ADAL" clId="{E70203B5-9BF8-4E22-A958-43D867263497}" dt="2026-10-15T14:30:18.224" v="88"/>
        <pc:sldMkLst>
          <pc:docMk/>
          <pc:sldMk cId="964270117" sldId="276"/>
        </pc:sldMkLst>
        <pc:spChg chg="mod">
          <ac:chgData name="Arturo Vera Ponce De Leon" userId="208490ea-1926-4bb9-bbb4-8049552516e6" providerId="ADAL" clId="{E70203B5-9BF8-4E22-A958-43D867263497}" dt="2026-10-15T14:30:18.224" v="88"/>
          <ac:spMkLst>
            <pc:docMk/>
            <pc:sldMk cId="964270117" sldId="276"/>
            <ac:spMk id="2" creationId="{8CBC0A73-66AD-1DEE-2964-9624ADDC8860}"/>
          </ac:spMkLst>
        </pc:spChg>
      </pc:sldChg>
      <pc:sldChg chg="modSp mod">
        <pc:chgData name="Arturo Vera Ponce De Leon" userId="208490ea-1926-4bb9-bbb4-8049552516e6" providerId="ADAL" clId="{E70203B5-9BF8-4E22-A958-43D867263497}" dt="2026-10-15T14:30:46.443" v="106" actId="20577"/>
        <pc:sldMkLst>
          <pc:docMk/>
          <pc:sldMk cId="4116785444" sldId="277"/>
        </pc:sldMkLst>
        <pc:spChg chg="mod">
          <ac:chgData name="Arturo Vera Ponce De Leon" userId="208490ea-1926-4bb9-bbb4-8049552516e6" providerId="ADAL" clId="{E70203B5-9BF8-4E22-A958-43D867263497}" dt="2026-10-15T14:30:18.224" v="88"/>
          <ac:spMkLst>
            <pc:docMk/>
            <pc:sldMk cId="4116785444" sldId="277"/>
            <ac:spMk id="4" creationId="{F04B1848-1AAA-53BF-A0AB-B6086D22A2A1}"/>
          </ac:spMkLst>
        </pc:spChg>
        <pc:spChg chg="mod">
          <ac:chgData name="Arturo Vera Ponce De Leon" userId="208490ea-1926-4bb9-bbb4-8049552516e6" providerId="ADAL" clId="{E70203B5-9BF8-4E22-A958-43D867263497}" dt="2026-10-15T14:30:46.443" v="106" actId="20577"/>
          <ac:spMkLst>
            <pc:docMk/>
            <pc:sldMk cId="4116785444" sldId="277"/>
            <ac:spMk id="6" creationId="{873983D1-36C8-ECA9-912E-55A7F8C849EC}"/>
          </ac:spMkLst>
        </pc:spChg>
      </pc:sldChg>
      <pc:sldChg chg="modSp">
        <pc:chgData name="Arturo Vera Ponce De Leon" userId="208490ea-1926-4bb9-bbb4-8049552516e6" providerId="ADAL" clId="{E70203B5-9BF8-4E22-A958-43D867263497}" dt="2026-10-15T14:30:18.224" v="88"/>
        <pc:sldMkLst>
          <pc:docMk/>
          <pc:sldMk cId="0" sldId="279"/>
        </pc:sldMkLst>
        <pc:spChg chg="mod">
          <ac:chgData name="Arturo Vera Ponce De Leon" userId="208490ea-1926-4bb9-bbb4-8049552516e6" providerId="ADAL" clId="{E70203B5-9BF8-4E22-A958-43D867263497}" dt="2026-10-15T14:30:18.224" v="88"/>
          <ac:spMkLst>
            <pc:docMk/>
            <pc:sldMk cId="0" sldId="279"/>
            <ac:spMk id="102" creationId="{00000000-0000-0000-0000-000000000000}"/>
          </ac:spMkLst>
        </pc:spChg>
        <pc:spChg chg="mod">
          <ac:chgData name="Arturo Vera Ponce De Leon" userId="208490ea-1926-4bb9-bbb4-8049552516e6" providerId="ADAL" clId="{E70203B5-9BF8-4E22-A958-43D867263497}" dt="2026-10-15T14:30:18.224" v="88"/>
          <ac:spMkLst>
            <pc:docMk/>
            <pc:sldMk cId="0" sldId="279"/>
            <ac:spMk id="103" creationId="{00000000-0000-0000-0000-000000000000}"/>
          </ac:spMkLst>
        </pc:spChg>
      </pc:sldChg>
      <pc:sldChg chg="modSp">
        <pc:chgData name="Arturo Vera Ponce De Leon" userId="208490ea-1926-4bb9-bbb4-8049552516e6" providerId="ADAL" clId="{E70203B5-9BF8-4E22-A958-43D867263497}" dt="2026-10-15T14:30:18.224" v="88"/>
        <pc:sldMkLst>
          <pc:docMk/>
          <pc:sldMk cId="482806400" sldId="315"/>
        </pc:sldMkLst>
        <pc:spChg chg="mod">
          <ac:chgData name="Arturo Vera Ponce De Leon" userId="208490ea-1926-4bb9-bbb4-8049552516e6" providerId="ADAL" clId="{E70203B5-9BF8-4E22-A958-43D867263497}" dt="2026-10-15T14:30:18.224" v="88"/>
          <ac:spMkLst>
            <pc:docMk/>
            <pc:sldMk cId="482806400" sldId="315"/>
            <ac:spMk id="2" creationId="{34E4CF8B-12E7-2AB4-44E8-9AEF926396BF}"/>
          </ac:spMkLst>
        </pc:spChg>
      </pc:sldChg>
      <pc:sldChg chg="modSp">
        <pc:chgData name="Arturo Vera Ponce De Leon" userId="208490ea-1926-4bb9-bbb4-8049552516e6" providerId="ADAL" clId="{E70203B5-9BF8-4E22-A958-43D867263497}" dt="2026-10-15T14:30:18.224" v="88"/>
        <pc:sldMkLst>
          <pc:docMk/>
          <pc:sldMk cId="0" sldId="316"/>
        </pc:sldMkLst>
        <pc:spChg chg="mod">
          <ac:chgData name="Arturo Vera Ponce De Leon" userId="208490ea-1926-4bb9-bbb4-8049552516e6" providerId="ADAL" clId="{E70203B5-9BF8-4E22-A958-43D867263497}" dt="2026-10-15T14:30:18.224" v="88"/>
          <ac:spMkLst>
            <pc:docMk/>
            <pc:sldMk cId="0" sldId="316"/>
            <ac:spMk id="97" creationId="{00000000-0000-0000-0000-000000000000}"/>
          </ac:spMkLst>
        </pc:spChg>
      </pc:sldChg>
      <pc:sldChg chg="addSp delSp modSp mod">
        <pc:chgData name="Arturo Vera Ponce De Leon" userId="208490ea-1926-4bb9-bbb4-8049552516e6" providerId="ADAL" clId="{E70203B5-9BF8-4E22-A958-43D867263497}" dt="2026-10-15T11:42:24.793" v="28" actId="20577"/>
        <pc:sldMkLst>
          <pc:docMk/>
          <pc:sldMk cId="3283684441" sldId="318"/>
        </pc:sldMkLst>
        <pc:spChg chg="mod">
          <ac:chgData name="Arturo Vera Ponce De Leon" userId="208490ea-1926-4bb9-bbb4-8049552516e6" providerId="ADAL" clId="{E70203B5-9BF8-4E22-A958-43D867263497}" dt="2026-10-15T11:42:24.793" v="28" actId="20577"/>
          <ac:spMkLst>
            <pc:docMk/>
            <pc:sldMk cId="3283684441" sldId="318"/>
            <ac:spMk id="7" creationId="{D1F58279-4571-0A3B-7EA3-904344656A33}"/>
          </ac:spMkLst>
        </pc:spChg>
        <pc:picChg chg="add mod">
          <ac:chgData name="Arturo Vera Ponce De Leon" userId="208490ea-1926-4bb9-bbb4-8049552516e6" providerId="ADAL" clId="{E70203B5-9BF8-4E22-A958-43D867263497}" dt="2026-10-15T11:39:58.146" v="17" actId="1076"/>
          <ac:picMkLst>
            <pc:docMk/>
            <pc:sldMk cId="3283684441" sldId="318"/>
            <ac:picMk id="3" creationId="{8D65C5C0-A40F-4623-1105-DA8B4E08FA9A}"/>
          </ac:picMkLst>
        </pc:picChg>
        <pc:picChg chg="del">
          <ac:chgData name="Arturo Vera Ponce De Leon" userId="208490ea-1926-4bb9-bbb4-8049552516e6" providerId="ADAL" clId="{E70203B5-9BF8-4E22-A958-43D867263497}" dt="2026-10-15T11:21:45.560" v="14" actId="478"/>
          <ac:picMkLst>
            <pc:docMk/>
            <pc:sldMk cId="3283684441" sldId="318"/>
            <ac:picMk id="5" creationId="{D5796484-4C84-C3AD-354A-C2BF3BC7F89F}"/>
          </ac:picMkLst>
        </pc:picChg>
        <pc:picChg chg="add mod">
          <ac:chgData name="Arturo Vera Ponce De Leon" userId="208490ea-1926-4bb9-bbb4-8049552516e6" providerId="ADAL" clId="{E70203B5-9BF8-4E22-A958-43D867263497}" dt="2026-10-15T11:41:52.173" v="21" actId="14100"/>
          <ac:picMkLst>
            <pc:docMk/>
            <pc:sldMk cId="3283684441" sldId="318"/>
            <ac:picMk id="6" creationId="{590AC02D-5F7E-BA0C-0BC2-8E8510C8EC9C}"/>
          </ac:picMkLst>
        </pc:picChg>
        <pc:picChg chg="del">
          <ac:chgData name="Arturo Vera Ponce De Leon" userId="208490ea-1926-4bb9-bbb4-8049552516e6" providerId="ADAL" clId="{E70203B5-9BF8-4E22-A958-43D867263497}" dt="2026-10-15T11:40:00.892" v="18" actId="478"/>
          <ac:picMkLst>
            <pc:docMk/>
            <pc:sldMk cId="3283684441" sldId="318"/>
            <ac:picMk id="1030" creationId="{8500593E-37BD-CC18-5C3F-7D2C6DC89639}"/>
          </ac:picMkLst>
        </pc:picChg>
        <pc:cxnChg chg="mod">
          <ac:chgData name="Arturo Vera Ponce De Leon" userId="208490ea-1926-4bb9-bbb4-8049552516e6" providerId="ADAL" clId="{E70203B5-9BF8-4E22-A958-43D867263497}" dt="2026-10-15T11:41:58.525" v="22" actId="14100"/>
          <ac:cxnSpMkLst>
            <pc:docMk/>
            <pc:sldMk cId="3283684441" sldId="318"/>
            <ac:cxnSpMk id="11" creationId="{A12998A3-9C1F-F90F-FF79-79F59D9F3FAC}"/>
          </ac:cxnSpMkLst>
        </pc:cxnChg>
      </pc:sldChg>
      <pc:sldChg chg="addSp delSp modSp mod">
        <pc:chgData name="Arturo Vera Ponce De Leon" userId="208490ea-1926-4bb9-bbb4-8049552516e6" providerId="ADAL" clId="{E70203B5-9BF8-4E22-A958-43D867263497}" dt="2026-10-15T14:30:18.224" v="88"/>
        <pc:sldMkLst>
          <pc:docMk/>
          <pc:sldMk cId="2467475655" sldId="319"/>
        </pc:sldMkLst>
        <pc:spChg chg="mod">
          <ac:chgData name="Arturo Vera Ponce De Leon" userId="208490ea-1926-4bb9-bbb4-8049552516e6" providerId="ADAL" clId="{E70203B5-9BF8-4E22-A958-43D867263497}" dt="2026-10-15T14:30:18.224" v="88"/>
          <ac:spMkLst>
            <pc:docMk/>
            <pc:sldMk cId="2467475655" sldId="319"/>
            <ac:spMk id="4" creationId="{71C7BA23-733A-9477-F1BA-27E7F349B4B6}"/>
          </ac:spMkLst>
        </pc:spChg>
        <pc:spChg chg="mod">
          <ac:chgData name="Arturo Vera Ponce De Leon" userId="208490ea-1926-4bb9-bbb4-8049552516e6" providerId="ADAL" clId="{E70203B5-9BF8-4E22-A958-43D867263497}" dt="2026-10-15T08:56:29.847" v="9" actId="1076"/>
          <ac:spMkLst>
            <pc:docMk/>
            <pc:sldMk cId="2467475655" sldId="319"/>
            <ac:spMk id="16" creationId="{2DD6314C-7D7B-DD24-7776-D3452DD2FABE}"/>
          </ac:spMkLst>
        </pc:spChg>
        <pc:picChg chg="add mod">
          <ac:chgData name="Arturo Vera Ponce De Leon" userId="208490ea-1926-4bb9-bbb4-8049552516e6" providerId="ADAL" clId="{E70203B5-9BF8-4E22-A958-43D867263497}" dt="2026-10-15T08:56:28.012" v="7" actId="1076"/>
          <ac:picMkLst>
            <pc:docMk/>
            <pc:sldMk cId="2467475655" sldId="319"/>
            <ac:picMk id="5" creationId="{FAC21AD9-3992-29A5-AD63-244C00723612}"/>
          </ac:picMkLst>
        </pc:picChg>
        <pc:picChg chg="del">
          <ac:chgData name="Arturo Vera Ponce De Leon" userId="208490ea-1926-4bb9-bbb4-8049552516e6" providerId="ADAL" clId="{E70203B5-9BF8-4E22-A958-43D867263497}" dt="2026-10-15T08:48:02.506" v="0" actId="478"/>
          <ac:picMkLst>
            <pc:docMk/>
            <pc:sldMk cId="2467475655" sldId="319"/>
            <ac:picMk id="6" creationId="{530B3DD4-AB59-0252-9881-B3D4EC6D6330}"/>
          </ac:picMkLst>
        </pc:picChg>
      </pc:sldChg>
      <pc:sldChg chg="modSp mod">
        <pc:chgData name="Arturo Vera Ponce De Leon" userId="208490ea-1926-4bb9-bbb4-8049552516e6" providerId="ADAL" clId="{E70203B5-9BF8-4E22-A958-43D867263497}" dt="2026-10-15T14:30:55.319" v="112" actId="20577"/>
        <pc:sldMkLst>
          <pc:docMk/>
          <pc:sldMk cId="4266055906" sldId="323"/>
        </pc:sldMkLst>
        <pc:spChg chg="mod">
          <ac:chgData name="Arturo Vera Ponce De Leon" userId="208490ea-1926-4bb9-bbb4-8049552516e6" providerId="ADAL" clId="{E70203B5-9BF8-4E22-A958-43D867263497}" dt="2026-10-15T14:30:55.319" v="112" actId="20577"/>
          <ac:spMkLst>
            <pc:docMk/>
            <pc:sldMk cId="4266055906" sldId="323"/>
            <ac:spMk id="6" creationId="{FE47C884-0455-8054-3997-B9475EC72FB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1EB62E-0BBB-4AFA-8C9D-7E62F0218BD1}" type="datetimeFigureOut">
              <a:rPr lang="nb-NO" smtClean="0"/>
              <a:t>15.10.2026</a:t>
            </a:fld>
            <a:endParaRPr lang="nb-NO"/>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b-NO"/>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057E58-FCA3-4B2F-9200-08D8AA169427}" type="slidenum">
              <a:rPr lang="nb-NO" smtClean="0"/>
              <a:t>‹#›</a:t>
            </a:fld>
            <a:endParaRPr lang="nb-NO"/>
          </a:p>
        </p:txBody>
      </p:sp>
    </p:spTree>
    <p:extLst>
      <p:ext uri="{BB962C8B-B14F-4D97-AF65-F5344CB8AC3E}">
        <p14:creationId xmlns:p14="http://schemas.microsoft.com/office/powerpoint/2010/main" val="1559436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 name="Google Shape;9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 name="Google Shape;10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 name="Google Shape;9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18F0-2984-678F-9CDC-AC35DD847DA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b-NO"/>
          </a:p>
        </p:txBody>
      </p:sp>
      <p:sp>
        <p:nvSpPr>
          <p:cNvPr id="3" name="Subtitle 2">
            <a:extLst>
              <a:ext uri="{FF2B5EF4-FFF2-40B4-BE49-F238E27FC236}">
                <a16:creationId xmlns:a16="http://schemas.microsoft.com/office/drawing/2014/main" id="{235E45E1-D76F-012E-A901-7DC6E17F28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b-NO"/>
          </a:p>
        </p:txBody>
      </p:sp>
      <p:sp>
        <p:nvSpPr>
          <p:cNvPr id="4" name="Date Placeholder 3">
            <a:extLst>
              <a:ext uri="{FF2B5EF4-FFF2-40B4-BE49-F238E27FC236}">
                <a16:creationId xmlns:a16="http://schemas.microsoft.com/office/drawing/2014/main" id="{9F67FAAF-2C86-2AA3-4F37-C5839F753460}"/>
              </a:ext>
            </a:extLst>
          </p:cNvPr>
          <p:cNvSpPr>
            <a:spLocks noGrp="1"/>
          </p:cNvSpPr>
          <p:nvPr>
            <p:ph type="dt" sz="half" idx="10"/>
          </p:nvPr>
        </p:nvSpPr>
        <p:spPr/>
        <p:txBody>
          <a:bodyPr/>
          <a:lstStyle/>
          <a:p>
            <a:fld id="{AD260E7C-F412-4A51-B851-AA100237D48C}" type="datetimeFigureOut">
              <a:rPr lang="nb-NO" smtClean="0"/>
              <a:t>15.10.2026</a:t>
            </a:fld>
            <a:endParaRPr lang="nb-NO"/>
          </a:p>
        </p:txBody>
      </p:sp>
      <p:sp>
        <p:nvSpPr>
          <p:cNvPr id="5" name="Footer Placeholder 4">
            <a:extLst>
              <a:ext uri="{FF2B5EF4-FFF2-40B4-BE49-F238E27FC236}">
                <a16:creationId xmlns:a16="http://schemas.microsoft.com/office/drawing/2014/main" id="{6D2E8FE0-651A-C298-741B-850C1286687D}"/>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BB7BC346-5302-4E96-AB17-E8295450844D}"/>
              </a:ext>
            </a:extLst>
          </p:cNvPr>
          <p:cNvSpPr>
            <a:spLocks noGrp="1"/>
          </p:cNvSpPr>
          <p:nvPr>
            <p:ph type="sldNum" sz="quarter" idx="12"/>
          </p:nvPr>
        </p:nvSpPr>
        <p:spPr/>
        <p:txBody>
          <a:bodyPr/>
          <a:lstStyle/>
          <a:p>
            <a:fld id="{E691408C-4705-464B-BC6D-A406311D76FF}" type="slidenum">
              <a:rPr lang="nb-NO" smtClean="0"/>
              <a:t>‹#›</a:t>
            </a:fld>
            <a:endParaRPr lang="nb-NO"/>
          </a:p>
        </p:txBody>
      </p:sp>
    </p:spTree>
    <p:extLst>
      <p:ext uri="{BB962C8B-B14F-4D97-AF65-F5344CB8AC3E}">
        <p14:creationId xmlns:p14="http://schemas.microsoft.com/office/powerpoint/2010/main" val="726807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9E708-5BFD-5048-F5D3-A2D8DA76A2C3}"/>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527C9CE8-E10D-CB03-B760-8ADA63D7EE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D1EFC77D-64F1-F03A-F25B-25019FBCEEF4}"/>
              </a:ext>
            </a:extLst>
          </p:cNvPr>
          <p:cNvSpPr>
            <a:spLocks noGrp="1"/>
          </p:cNvSpPr>
          <p:nvPr>
            <p:ph type="dt" sz="half" idx="10"/>
          </p:nvPr>
        </p:nvSpPr>
        <p:spPr/>
        <p:txBody>
          <a:bodyPr/>
          <a:lstStyle/>
          <a:p>
            <a:fld id="{AD260E7C-F412-4A51-B851-AA100237D48C}" type="datetimeFigureOut">
              <a:rPr lang="nb-NO" smtClean="0"/>
              <a:t>15.10.2026</a:t>
            </a:fld>
            <a:endParaRPr lang="nb-NO"/>
          </a:p>
        </p:txBody>
      </p:sp>
      <p:sp>
        <p:nvSpPr>
          <p:cNvPr id="5" name="Footer Placeholder 4">
            <a:extLst>
              <a:ext uri="{FF2B5EF4-FFF2-40B4-BE49-F238E27FC236}">
                <a16:creationId xmlns:a16="http://schemas.microsoft.com/office/drawing/2014/main" id="{2FACCC36-479E-FBA6-0757-95268C4AA94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0D3869D9-1653-3577-4082-F9E15526EB93}"/>
              </a:ext>
            </a:extLst>
          </p:cNvPr>
          <p:cNvSpPr>
            <a:spLocks noGrp="1"/>
          </p:cNvSpPr>
          <p:nvPr>
            <p:ph type="sldNum" sz="quarter" idx="12"/>
          </p:nvPr>
        </p:nvSpPr>
        <p:spPr/>
        <p:txBody>
          <a:bodyPr/>
          <a:lstStyle/>
          <a:p>
            <a:fld id="{E691408C-4705-464B-BC6D-A406311D76FF}" type="slidenum">
              <a:rPr lang="nb-NO" smtClean="0"/>
              <a:t>‹#›</a:t>
            </a:fld>
            <a:endParaRPr lang="nb-NO"/>
          </a:p>
        </p:txBody>
      </p:sp>
    </p:spTree>
    <p:extLst>
      <p:ext uri="{BB962C8B-B14F-4D97-AF65-F5344CB8AC3E}">
        <p14:creationId xmlns:p14="http://schemas.microsoft.com/office/powerpoint/2010/main" val="2083272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9A4ED-526E-941A-9008-D6AF496DF68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b-NO"/>
          </a:p>
        </p:txBody>
      </p:sp>
      <p:sp>
        <p:nvSpPr>
          <p:cNvPr id="3" name="Text Placeholder 2">
            <a:extLst>
              <a:ext uri="{FF2B5EF4-FFF2-40B4-BE49-F238E27FC236}">
                <a16:creationId xmlns:a16="http://schemas.microsoft.com/office/drawing/2014/main" id="{D21E73FD-EB64-909B-B51F-DF107A6202F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2AF8C8-CED1-1E40-B017-BDD2970F32E7}"/>
              </a:ext>
            </a:extLst>
          </p:cNvPr>
          <p:cNvSpPr>
            <a:spLocks noGrp="1"/>
          </p:cNvSpPr>
          <p:nvPr>
            <p:ph type="dt" sz="half" idx="10"/>
          </p:nvPr>
        </p:nvSpPr>
        <p:spPr/>
        <p:txBody>
          <a:bodyPr/>
          <a:lstStyle/>
          <a:p>
            <a:fld id="{AD260E7C-F412-4A51-B851-AA100237D48C}" type="datetimeFigureOut">
              <a:rPr lang="nb-NO" smtClean="0"/>
              <a:t>15.10.2026</a:t>
            </a:fld>
            <a:endParaRPr lang="nb-NO"/>
          </a:p>
        </p:txBody>
      </p:sp>
      <p:sp>
        <p:nvSpPr>
          <p:cNvPr id="5" name="Footer Placeholder 4">
            <a:extLst>
              <a:ext uri="{FF2B5EF4-FFF2-40B4-BE49-F238E27FC236}">
                <a16:creationId xmlns:a16="http://schemas.microsoft.com/office/drawing/2014/main" id="{17555CA9-10F7-E364-DA7A-82B7C9C459F9}"/>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E99E0B48-52E8-BAB7-53C1-78EF6A774E2E}"/>
              </a:ext>
            </a:extLst>
          </p:cNvPr>
          <p:cNvSpPr>
            <a:spLocks noGrp="1"/>
          </p:cNvSpPr>
          <p:nvPr>
            <p:ph type="sldNum" sz="quarter" idx="12"/>
          </p:nvPr>
        </p:nvSpPr>
        <p:spPr/>
        <p:txBody>
          <a:bodyPr/>
          <a:lstStyle/>
          <a:p>
            <a:fld id="{E691408C-4705-464B-BC6D-A406311D76FF}" type="slidenum">
              <a:rPr lang="nb-NO" smtClean="0"/>
              <a:t>‹#›</a:t>
            </a:fld>
            <a:endParaRPr lang="nb-NO"/>
          </a:p>
        </p:txBody>
      </p:sp>
    </p:spTree>
    <p:extLst>
      <p:ext uri="{BB962C8B-B14F-4D97-AF65-F5344CB8AC3E}">
        <p14:creationId xmlns:p14="http://schemas.microsoft.com/office/powerpoint/2010/main" val="4205949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B9EAC-344E-5DDD-4410-90F936455019}"/>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B7F9D255-01D0-9CA9-25AF-B8866A047E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Content Placeholder 3">
            <a:extLst>
              <a:ext uri="{FF2B5EF4-FFF2-40B4-BE49-F238E27FC236}">
                <a16:creationId xmlns:a16="http://schemas.microsoft.com/office/drawing/2014/main" id="{502FFF6D-76A0-7DC6-6F11-BAA7939017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Date Placeholder 4">
            <a:extLst>
              <a:ext uri="{FF2B5EF4-FFF2-40B4-BE49-F238E27FC236}">
                <a16:creationId xmlns:a16="http://schemas.microsoft.com/office/drawing/2014/main" id="{16E97DB8-0404-6FD5-3D3A-89DC0ED17DA4}"/>
              </a:ext>
            </a:extLst>
          </p:cNvPr>
          <p:cNvSpPr>
            <a:spLocks noGrp="1"/>
          </p:cNvSpPr>
          <p:nvPr>
            <p:ph type="dt" sz="half" idx="10"/>
          </p:nvPr>
        </p:nvSpPr>
        <p:spPr/>
        <p:txBody>
          <a:bodyPr/>
          <a:lstStyle/>
          <a:p>
            <a:fld id="{AD260E7C-F412-4A51-B851-AA100237D48C}" type="datetimeFigureOut">
              <a:rPr lang="nb-NO" smtClean="0"/>
              <a:t>15.10.2026</a:t>
            </a:fld>
            <a:endParaRPr lang="nb-NO"/>
          </a:p>
        </p:txBody>
      </p:sp>
      <p:sp>
        <p:nvSpPr>
          <p:cNvPr id="6" name="Footer Placeholder 5">
            <a:extLst>
              <a:ext uri="{FF2B5EF4-FFF2-40B4-BE49-F238E27FC236}">
                <a16:creationId xmlns:a16="http://schemas.microsoft.com/office/drawing/2014/main" id="{9868A821-A263-2B92-FEC6-004A525AC5DA}"/>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256AF7F5-FFBA-6ADF-B797-7AE9CB51EDF2}"/>
              </a:ext>
            </a:extLst>
          </p:cNvPr>
          <p:cNvSpPr>
            <a:spLocks noGrp="1"/>
          </p:cNvSpPr>
          <p:nvPr>
            <p:ph type="sldNum" sz="quarter" idx="12"/>
          </p:nvPr>
        </p:nvSpPr>
        <p:spPr/>
        <p:txBody>
          <a:bodyPr/>
          <a:lstStyle/>
          <a:p>
            <a:fld id="{E691408C-4705-464B-BC6D-A406311D76FF}" type="slidenum">
              <a:rPr lang="nb-NO" smtClean="0"/>
              <a:t>‹#›</a:t>
            </a:fld>
            <a:endParaRPr lang="nb-NO"/>
          </a:p>
        </p:txBody>
      </p:sp>
    </p:spTree>
    <p:extLst>
      <p:ext uri="{BB962C8B-B14F-4D97-AF65-F5344CB8AC3E}">
        <p14:creationId xmlns:p14="http://schemas.microsoft.com/office/powerpoint/2010/main" val="2734515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9870C-BF64-FCB9-128F-89E910F1836B}"/>
              </a:ext>
            </a:extLst>
          </p:cNvPr>
          <p:cNvSpPr>
            <a:spLocks noGrp="1"/>
          </p:cNvSpPr>
          <p:nvPr>
            <p:ph type="title"/>
          </p:nvPr>
        </p:nvSpPr>
        <p:spPr>
          <a:xfrm>
            <a:off x="839788" y="365125"/>
            <a:ext cx="10515600" cy="1325563"/>
          </a:xfrm>
        </p:spPr>
        <p:txBody>
          <a:bodyPr/>
          <a:lstStyle/>
          <a:p>
            <a:r>
              <a:rPr lang="en-US"/>
              <a:t>Click to edit Master title style</a:t>
            </a:r>
            <a:endParaRPr lang="nb-NO"/>
          </a:p>
        </p:txBody>
      </p:sp>
      <p:sp>
        <p:nvSpPr>
          <p:cNvPr id="3" name="Text Placeholder 2">
            <a:extLst>
              <a:ext uri="{FF2B5EF4-FFF2-40B4-BE49-F238E27FC236}">
                <a16:creationId xmlns:a16="http://schemas.microsoft.com/office/drawing/2014/main" id="{525EC81A-8E30-0281-B42D-27D23EEC93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F65AE4-3ECF-347E-F9C9-E43D105F21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Text Placeholder 4">
            <a:extLst>
              <a:ext uri="{FF2B5EF4-FFF2-40B4-BE49-F238E27FC236}">
                <a16:creationId xmlns:a16="http://schemas.microsoft.com/office/drawing/2014/main" id="{1FD58853-4139-F3CB-E3B1-45F67F8B0C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093782-D04E-93D4-7F78-BFDB28B6D6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Date Placeholder 6">
            <a:extLst>
              <a:ext uri="{FF2B5EF4-FFF2-40B4-BE49-F238E27FC236}">
                <a16:creationId xmlns:a16="http://schemas.microsoft.com/office/drawing/2014/main" id="{F1A1A13C-69A3-7A9A-ECEF-32AC6D253B75}"/>
              </a:ext>
            </a:extLst>
          </p:cNvPr>
          <p:cNvSpPr>
            <a:spLocks noGrp="1"/>
          </p:cNvSpPr>
          <p:nvPr>
            <p:ph type="dt" sz="half" idx="10"/>
          </p:nvPr>
        </p:nvSpPr>
        <p:spPr/>
        <p:txBody>
          <a:bodyPr/>
          <a:lstStyle/>
          <a:p>
            <a:fld id="{AD260E7C-F412-4A51-B851-AA100237D48C}" type="datetimeFigureOut">
              <a:rPr lang="nb-NO" smtClean="0"/>
              <a:t>15.10.2026</a:t>
            </a:fld>
            <a:endParaRPr lang="nb-NO"/>
          </a:p>
        </p:txBody>
      </p:sp>
      <p:sp>
        <p:nvSpPr>
          <p:cNvPr id="8" name="Footer Placeholder 7">
            <a:extLst>
              <a:ext uri="{FF2B5EF4-FFF2-40B4-BE49-F238E27FC236}">
                <a16:creationId xmlns:a16="http://schemas.microsoft.com/office/drawing/2014/main" id="{09E6E5E6-15AB-54FF-ACC1-1759247FA3AC}"/>
              </a:ext>
            </a:extLst>
          </p:cNvPr>
          <p:cNvSpPr>
            <a:spLocks noGrp="1"/>
          </p:cNvSpPr>
          <p:nvPr>
            <p:ph type="ftr" sz="quarter" idx="11"/>
          </p:nvPr>
        </p:nvSpPr>
        <p:spPr/>
        <p:txBody>
          <a:bodyPr/>
          <a:lstStyle/>
          <a:p>
            <a:endParaRPr lang="nb-NO"/>
          </a:p>
        </p:txBody>
      </p:sp>
      <p:sp>
        <p:nvSpPr>
          <p:cNvPr id="9" name="Slide Number Placeholder 8">
            <a:extLst>
              <a:ext uri="{FF2B5EF4-FFF2-40B4-BE49-F238E27FC236}">
                <a16:creationId xmlns:a16="http://schemas.microsoft.com/office/drawing/2014/main" id="{8082B02B-F213-AC52-0846-F6132F428747}"/>
              </a:ext>
            </a:extLst>
          </p:cNvPr>
          <p:cNvSpPr>
            <a:spLocks noGrp="1"/>
          </p:cNvSpPr>
          <p:nvPr>
            <p:ph type="sldNum" sz="quarter" idx="12"/>
          </p:nvPr>
        </p:nvSpPr>
        <p:spPr/>
        <p:txBody>
          <a:bodyPr/>
          <a:lstStyle/>
          <a:p>
            <a:fld id="{E691408C-4705-464B-BC6D-A406311D76FF}" type="slidenum">
              <a:rPr lang="nb-NO" smtClean="0"/>
              <a:t>‹#›</a:t>
            </a:fld>
            <a:endParaRPr lang="nb-NO"/>
          </a:p>
        </p:txBody>
      </p:sp>
    </p:spTree>
    <p:extLst>
      <p:ext uri="{BB962C8B-B14F-4D97-AF65-F5344CB8AC3E}">
        <p14:creationId xmlns:p14="http://schemas.microsoft.com/office/powerpoint/2010/main" val="933111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1B30B-926C-D8CA-9ADA-B1631520F014}"/>
              </a:ext>
            </a:extLst>
          </p:cNvPr>
          <p:cNvSpPr>
            <a:spLocks noGrp="1"/>
          </p:cNvSpPr>
          <p:nvPr>
            <p:ph type="title"/>
          </p:nvPr>
        </p:nvSpPr>
        <p:spPr/>
        <p:txBody>
          <a:bodyPr/>
          <a:lstStyle/>
          <a:p>
            <a:r>
              <a:rPr lang="en-US"/>
              <a:t>Click to edit Master title style</a:t>
            </a:r>
            <a:endParaRPr lang="nb-NO"/>
          </a:p>
        </p:txBody>
      </p:sp>
      <p:sp>
        <p:nvSpPr>
          <p:cNvPr id="3" name="Date Placeholder 2">
            <a:extLst>
              <a:ext uri="{FF2B5EF4-FFF2-40B4-BE49-F238E27FC236}">
                <a16:creationId xmlns:a16="http://schemas.microsoft.com/office/drawing/2014/main" id="{84BED94D-7F0D-BD6B-8860-105C23BE0222}"/>
              </a:ext>
            </a:extLst>
          </p:cNvPr>
          <p:cNvSpPr>
            <a:spLocks noGrp="1"/>
          </p:cNvSpPr>
          <p:nvPr>
            <p:ph type="dt" sz="half" idx="10"/>
          </p:nvPr>
        </p:nvSpPr>
        <p:spPr/>
        <p:txBody>
          <a:bodyPr/>
          <a:lstStyle/>
          <a:p>
            <a:fld id="{AD260E7C-F412-4A51-B851-AA100237D48C}" type="datetimeFigureOut">
              <a:rPr lang="nb-NO" smtClean="0"/>
              <a:t>15.10.2026</a:t>
            </a:fld>
            <a:endParaRPr lang="nb-NO"/>
          </a:p>
        </p:txBody>
      </p:sp>
      <p:sp>
        <p:nvSpPr>
          <p:cNvPr id="4" name="Footer Placeholder 3">
            <a:extLst>
              <a:ext uri="{FF2B5EF4-FFF2-40B4-BE49-F238E27FC236}">
                <a16:creationId xmlns:a16="http://schemas.microsoft.com/office/drawing/2014/main" id="{9D31B2D6-5EF1-41E6-4774-3DC9A6CDB4C6}"/>
              </a:ext>
            </a:extLst>
          </p:cNvPr>
          <p:cNvSpPr>
            <a:spLocks noGrp="1"/>
          </p:cNvSpPr>
          <p:nvPr>
            <p:ph type="ftr" sz="quarter" idx="11"/>
          </p:nvPr>
        </p:nvSpPr>
        <p:spPr/>
        <p:txBody>
          <a:bodyPr/>
          <a:lstStyle/>
          <a:p>
            <a:endParaRPr lang="nb-NO"/>
          </a:p>
        </p:txBody>
      </p:sp>
      <p:sp>
        <p:nvSpPr>
          <p:cNvPr id="5" name="Slide Number Placeholder 4">
            <a:extLst>
              <a:ext uri="{FF2B5EF4-FFF2-40B4-BE49-F238E27FC236}">
                <a16:creationId xmlns:a16="http://schemas.microsoft.com/office/drawing/2014/main" id="{4F7F22FC-B6C2-1433-D59B-C31A306F5D62}"/>
              </a:ext>
            </a:extLst>
          </p:cNvPr>
          <p:cNvSpPr>
            <a:spLocks noGrp="1"/>
          </p:cNvSpPr>
          <p:nvPr>
            <p:ph type="sldNum" sz="quarter" idx="12"/>
          </p:nvPr>
        </p:nvSpPr>
        <p:spPr/>
        <p:txBody>
          <a:bodyPr/>
          <a:lstStyle/>
          <a:p>
            <a:fld id="{E691408C-4705-464B-BC6D-A406311D76FF}" type="slidenum">
              <a:rPr lang="nb-NO" smtClean="0"/>
              <a:t>‹#›</a:t>
            </a:fld>
            <a:endParaRPr lang="nb-NO"/>
          </a:p>
        </p:txBody>
      </p:sp>
    </p:spTree>
    <p:extLst>
      <p:ext uri="{BB962C8B-B14F-4D97-AF65-F5344CB8AC3E}">
        <p14:creationId xmlns:p14="http://schemas.microsoft.com/office/powerpoint/2010/main" val="3673736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93EFDE-F0DA-18F0-A828-AAB50C871E25}"/>
              </a:ext>
            </a:extLst>
          </p:cNvPr>
          <p:cNvSpPr>
            <a:spLocks noGrp="1"/>
          </p:cNvSpPr>
          <p:nvPr>
            <p:ph type="dt" sz="half" idx="10"/>
          </p:nvPr>
        </p:nvSpPr>
        <p:spPr/>
        <p:txBody>
          <a:bodyPr/>
          <a:lstStyle/>
          <a:p>
            <a:fld id="{AD260E7C-F412-4A51-B851-AA100237D48C}" type="datetimeFigureOut">
              <a:rPr lang="nb-NO" smtClean="0"/>
              <a:t>15.10.2026</a:t>
            </a:fld>
            <a:endParaRPr lang="nb-NO"/>
          </a:p>
        </p:txBody>
      </p:sp>
      <p:sp>
        <p:nvSpPr>
          <p:cNvPr id="3" name="Footer Placeholder 2">
            <a:extLst>
              <a:ext uri="{FF2B5EF4-FFF2-40B4-BE49-F238E27FC236}">
                <a16:creationId xmlns:a16="http://schemas.microsoft.com/office/drawing/2014/main" id="{F8675CF4-C68A-DC1E-8B13-1A185D822A54}"/>
              </a:ext>
            </a:extLst>
          </p:cNvPr>
          <p:cNvSpPr>
            <a:spLocks noGrp="1"/>
          </p:cNvSpPr>
          <p:nvPr>
            <p:ph type="ftr" sz="quarter" idx="11"/>
          </p:nvPr>
        </p:nvSpPr>
        <p:spPr/>
        <p:txBody>
          <a:bodyPr/>
          <a:lstStyle/>
          <a:p>
            <a:endParaRPr lang="nb-NO"/>
          </a:p>
        </p:txBody>
      </p:sp>
      <p:sp>
        <p:nvSpPr>
          <p:cNvPr id="4" name="Slide Number Placeholder 3">
            <a:extLst>
              <a:ext uri="{FF2B5EF4-FFF2-40B4-BE49-F238E27FC236}">
                <a16:creationId xmlns:a16="http://schemas.microsoft.com/office/drawing/2014/main" id="{18650D55-410F-D7C6-9F4B-B9EEE356C5A4}"/>
              </a:ext>
            </a:extLst>
          </p:cNvPr>
          <p:cNvSpPr>
            <a:spLocks noGrp="1"/>
          </p:cNvSpPr>
          <p:nvPr>
            <p:ph type="sldNum" sz="quarter" idx="12"/>
          </p:nvPr>
        </p:nvSpPr>
        <p:spPr/>
        <p:txBody>
          <a:bodyPr/>
          <a:lstStyle/>
          <a:p>
            <a:fld id="{E691408C-4705-464B-BC6D-A406311D76FF}" type="slidenum">
              <a:rPr lang="nb-NO" smtClean="0"/>
              <a:t>‹#›</a:t>
            </a:fld>
            <a:endParaRPr lang="nb-NO"/>
          </a:p>
        </p:txBody>
      </p:sp>
    </p:spTree>
    <p:extLst>
      <p:ext uri="{BB962C8B-B14F-4D97-AF65-F5344CB8AC3E}">
        <p14:creationId xmlns:p14="http://schemas.microsoft.com/office/powerpoint/2010/main" val="1074835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20B91-F5A2-19D2-A41E-B58010BABF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Content Placeholder 2">
            <a:extLst>
              <a:ext uri="{FF2B5EF4-FFF2-40B4-BE49-F238E27FC236}">
                <a16:creationId xmlns:a16="http://schemas.microsoft.com/office/drawing/2014/main" id="{14C78D7F-6DC8-E65D-610B-82DC4D5F55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Text Placeholder 3">
            <a:extLst>
              <a:ext uri="{FF2B5EF4-FFF2-40B4-BE49-F238E27FC236}">
                <a16:creationId xmlns:a16="http://schemas.microsoft.com/office/drawing/2014/main" id="{A0C33745-DD59-CD3D-85BF-6BE51EE54B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E70922-3F25-923B-54E3-A05FBBF995C9}"/>
              </a:ext>
            </a:extLst>
          </p:cNvPr>
          <p:cNvSpPr>
            <a:spLocks noGrp="1"/>
          </p:cNvSpPr>
          <p:nvPr>
            <p:ph type="dt" sz="half" idx="10"/>
          </p:nvPr>
        </p:nvSpPr>
        <p:spPr/>
        <p:txBody>
          <a:bodyPr/>
          <a:lstStyle/>
          <a:p>
            <a:fld id="{AD260E7C-F412-4A51-B851-AA100237D48C}" type="datetimeFigureOut">
              <a:rPr lang="nb-NO" smtClean="0"/>
              <a:t>15.10.2026</a:t>
            </a:fld>
            <a:endParaRPr lang="nb-NO"/>
          </a:p>
        </p:txBody>
      </p:sp>
      <p:sp>
        <p:nvSpPr>
          <p:cNvPr id="6" name="Footer Placeholder 5">
            <a:extLst>
              <a:ext uri="{FF2B5EF4-FFF2-40B4-BE49-F238E27FC236}">
                <a16:creationId xmlns:a16="http://schemas.microsoft.com/office/drawing/2014/main" id="{C8649392-B4DF-91E7-FC23-59C075912EF2}"/>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FEFAB380-BB85-AA93-17DC-3563E8E20427}"/>
              </a:ext>
            </a:extLst>
          </p:cNvPr>
          <p:cNvSpPr>
            <a:spLocks noGrp="1"/>
          </p:cNvSpPr>
          <p:nvPr>
            <p:ph type="sldNum" sz="quarter" idx="12"/>
          </p:nvPr>
        </p:nvSpPr>
        <p:spPr/>
        <p:txBody>
          <a:bodyPr/>
          <a:lstStyle/>
          <a:p>
            <a:fld id="{E691408C-4705-464B-BC6D-A406311D76FF}" type="slidenum">
              <a:rPr lang="nb-NO" smtClean="0"/>
              <a:t>‹#›</a:t>
            </a:fld>
            <a:endParaRPr lang="nb-NO"/>
          </a:p>
        </p:txBody>
      </p:sp>
    </p:spTree>
    <p:extLst>
      <p:ext uri="{BB962C8B-B14F-4D97-AF65-F5344CB8AC3E}">
        <p14:creationId xmlns:p14="http://schemas.microsoft.com/office/powerpoint/2010/main" val="2964181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C419C-167F-08C7-44D3-701348E740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Picture Placeholder 2">
            <a:extLst>
              <a:ext uri="{FF2B5EF4-FFF2-40B4-BE49-F238E27FC236}">
                <a16:creationId xmlns:a16="http://schemas.microsoft.com/office/drawing/2014/main" id="{7092ACD4-A01C-FDC3-D2D4-463E695B6F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Text Placeholder 3">
            <a:extLst>
              <a:ext uri="{FF2B5EF4-FFF2-40B4-BE49-F238E27FC236}">
                <a16:creationId xmlns:a16="http://schemas.microsoft.com/office/drawing/2014/main" id="{67A97666-2DE3-EAF4-CDFD-0715F777E8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7649B0-F588-E649-15DF-6AD548D9DE45}"/>
              </a:ext>
            </a:extLst>
          </p:cNvPr>
          <p:cNvSpPr>
            <a:spLocks noGrp="1"/>
          </p:cNvSpPr>
          <p:nvPr>
            <p:ph type="dt" sz="half" idx="10"/>
          </p:nvPr>
        </p:nvSpPr>
        <p:spPr/>
        <p:txBody>
          <a:bodyPr/>
          <a:lstStyle/>
          <a:p>
            <a:fld id="{AD260E7C-F412-4A51-B851-AA100237D48C}" type="datetimeFigureOut">
              <a:rPr lang="nb-NO" smtClean="0"/>
              <a:t>15.10.2026</a:t>
            </a:fld>
            <a:endParaRPr lang="nb-NO"/>
          </a:p>
        </p:txBody>
      </p:sp>
      <p:sp>
        <p:nvSpPr>
          <p:cNvPr id="6" name="Footer Placeholder 5">
            <a:extLst>
              <a:ext uri="{FF2B5EF4-FFF2-40B4-BE49-F238E27FC236}">
                <a16:creationId xmlns:a16="http://schemas.microsoft.com/office/drawing/2014/main" id="{C4A5A0F8-E9B4-38E8-0B5E-FAAEF7E3BE9E}"/>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452A8DC8-8198-BB1F-921B-0513A882FCA6}"/>
              </a:ext>
            </a:extLst>
          </p:cNvPr>
          <p:cNvSpPr>
            <a:spLocks noGrp="1"/>
          </p:cNvSpPr>
          <p:nvPr>
            <p:ph type="sldNum" sz="quarter" idx="12"/>
          </p:nvPr>
        </p:nvSpPr>
        <p:spPr/>
        <p:txBody>
          <a:bodyPr/>
          <a:lstStyle/>
          <a:p>
            <a:fld id="{E691408C-4705-464B-BC6D-A406311D76FF}" type="slidenum">
              <a:rPr lang="nb-NO" smtClean="0"/>
              <a:t>‹#›</a:t>
            </a:fld>
            <a:endParaRPr lang="nb-NO"/>
          </a:p>
        </p:txBody>
      </p:sp>
    </p:spTree>
    <p:extLst>
      <p:ext uri="{BB962C8B-B14F-4D97-AF65-F5344CB8AC3E}">
        <p14:creationId xmlns:p14="http://schemas.microsoft.com/office/powerpoint/2010/main" val="29884940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3A2E6-D822-B024-E2DB-F3A4436FD232}"/>
              </a:ext>
            </a:extLst>
          </p:cNvPr>
          <p:cNvSpPr>
            <a:spLocks noGrp="1"/>
          </p:cNvSpPr>
          <p:nvPr>
            <p:ph type="title"/>
          </p:nvPr>
        </p:nvSpPr>
        <p:spPr/>
        <p:txBody>
          <a:bodyPr/>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73311C45-453C-8A25-29DC-940CD298D50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F4E57882-519C-5BE3-36BB-9F0EF650FB15}"/>
              </a:ext>
            </a:extLst>
          </p:cNvPr>
          <p:cNvSpPr>
            <a:spLocks noGrp="1"/>
          </p:cNvSpPr>
          <p:nvPr>
            <p:ph type="dt" sz="half" idx="10"/>
          </p:nvPr>
        </p:nvSpPr>
        <p:spPr/>
        <p:txBody>
          <a:bodyPr/>
          <a:lstStyle/>
          <a:p>
            <a:fld id="{AD260E7C-F412-4A51-B851-AA100237D48C}" type="datetimeFigureOut">
              <a:rPr lang="nb-NO" smtClean="0"/>
              <a:t>15.10.2026</a:t>
            </a:fld>
            <a:endParaRPr lang="nb-NO"/>
          </a:p>
        </p:txBody>
      </p:sp>
      <p:sp>
        <p:nvSpPr>
          <p:cNvPr id="5" name="Footer Placeholder 4">
            <a:extLst>
              <a:ext uri="{FF2B5EF4-FFF2-40B4-BE49-F238E27FC236}">
                <a16:creationId xmlns:a16="http://schemas.microsoft.com/office/drawing/2014/main" id="{A5B0CDA7-3F85-F622-49DA-2662A3ED0E87}"/>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DD56EDAD-956C-FA2B-F46F-A9CE146AED07}"/>
              </a:ext>
            </a:extLst>
          </p:cNvPr>
          <p:cNvSpPr>
            <a:spLocks noGrp="1"/>
          </p:cNvSpPr>
          <p:nvPr>
            <p:ph type="sldNum" sz="quarter" idx="12"/>
          </p:nvPr>
        </p:nvSpPr>
        <p:spPr/>
        <p:txBody>
          <a:bodyPr/>
          <a:lstStyle/>
          <a:p>
            <a:fld id="{E691408C-4705-464B-BC6D-A406311D76FF}" type="slidenum">
              <a:rPr lang="nb-NO" smtClean="0"/>
              <a:t>‹#›</a:t>
            </a:fld>
            <a:endParaRPr lang="nb-NO"/>
          </a:p>
        </p:txBody>
      </p:sp>
    </p:spTree>
    <p:extLst>
      <p:ext uri="{BB962C8B-B14F-4D97-AF65-F5344CB8AC3E}">
        <p14:creationId xmlns:p14="http://schemas.microsoft.com/office/powerpoint/2010/main" val="3696629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F4C029-FEF4-318A-C548-D93F5F722A9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2FF0CE35-CDA5-8D3B-E67C-1240D68BF4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E0A0F37D-93B5-1418-059C-FAE3F570D8D2}"/>
              </a:ext>
            </a:extLst>
          </p:cNvPr>
          <p:cNvSpPr>
            <a:spLocks noGrp="1"/>
          </p:cNvSpPr>
          <p:nvPr>
            <p:ph type="dt" sz="half" idx="10"/>
          </p:nvPr>
        </p:nvSpPr>
        <p:spPr/>
        <p:txBody>
          <a:bodyPr/>
          <a:lstStyle/>
          <a:p>
            <a:fld id="{AD260E7C-F412-4A51-B851-AA100237D48C}" type="datetimeFigureOut">
              <a:rPr lang="nb-NO" smtClean="0"/>
              <a:t>15.10.2026</a:t>
            </a:fld>
            <a:endParaRPr lang="nb-NO"/>
          </a:p>
        </p:txBody>
      </p:sp>
      <p:sp>
        <p:nvSpPr>
          <p:cNvPr id="5" name="Footer Placeholder 4">
            <a:extLst>
              <a:ext uri="{FF2B5EF4-FFF2-40B4-BE49-F238E27FC236}">
                <a16:creationId xmlns:a16="http://schemas.microsoft.com/office/drawing/2014/main" id="{BF0F7A54-D665-92B9-63BE-8B20516AB09C}"/>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3E5AF009-0260-E97D-C6B2-07F78A96A857}"/>
              </a:ext>
            </a:extLst>
          </p:cNvPr>
          <p:cNvSpPr>
            <a:spLocks noGrp="1"/>
          </p:cNvSpPr>
          <p:nvPr>
            <p:ph type="sldNum" sz="quarter" idx="12"/>
          </p:nvPr>
        </p:nvSpPr>
        <p:spPr/>
        <p:txBody>
          <a:bodyPr/>
          <a:lstStyle/>
          <a:p>
            <a:fld id="{E691408C-4705-464B-BC6D-A406311D76FF}" type="slidenum">
              <a:rPr lang="nb-NO" smtClean="0"/>
              <a:t>‹#›</a:t>
            </a:fld>
            <a:endParaRPr lang="nb-NO"/>
          </a:p>
        </p:txBody>
      </p:sp>
    </p:spTree>
    <p:extLst>
      <p:ext uri="{BB962C8B-B14F-4D97-AF65-F5344CB8AC3E}">
        <p14:creationId xmlns:p14="http://schemas.microsoft.com/office/powerpoint/2010/main" val="38716814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ELIXIR">
  <p:cSld name="Title slide ELIXIR">
    <p:spTree>
      <p:nvGrpSpPr>
        <p:cNvPr id="1" name="Shape 16"/>
        <p:cNvGrpSpPr/>
        <p:nvPr/>
      </p:nvGrpSpPr>
      <p:grpSpPr>
        <a:xfrm>
          <a:off x="0" y="0"/>
          <a:ext cx="0" cy="0"/>
          <a:chOff x="0" y="0"/>
          <a:chExt cx="0" cy="0"/>
        </a:xfrm>
      </p:grpSpPr>
      <p:pic>
        <p:nvPicPr>
          <p:cNvPr id="17" name="Google Shape;17;p13" descr="elixir_helix_200_2.eps"/>
          <p:cNvPicPr preferRelativeResize="0"/>
          <p:nvPr/>
        </p:nvPicPr>
        <p:blipFill rotWithShape="1">
          <a:blip r:embed="rId2">
            <a:alphaModFix/>
          </a:blip>
          <a:srcRect/>
          <a:stretch/>
        </p:blipFill>
        <p:spPr>
          <a:xfrm>
            <a:off x="-48683" y="-26988"/>
            <a:ext cx="12240683" cy="6186488"/>
          </a:xfrm>
          <a:prstGeom prst="rect">
            <a:avLst/>
          </a:prstGeom>
          <a:noFill/>
          <a:ln>
            <a:noFill/>
          </a:ln>
        </p:spPr>
      </p:pic>
      <p:sp>
        <p:nvSpPr>
          <p:cNvPr id="18" name="Google Shape;18;p13"/>
          <p:cNvSpPr txBox="1">
            <a:spLocks noGrp="1"/>
          </p:cNvSpPr>
          <p:nvPr>
            <p:ph type="ctrTitle"/>
          </p:nvPr>
        </p:nvSpPr>
        <p:spPr>
          <a:xfrm>
            <a:off x="911424" y="3356993"/>
            <a:ext cx="10363200" cy="864096"/>
          </a:xfrm>
          <a:prstGeom prst="rect">
            <a:avLst/>
          </a:prstGeom>
          <a:noFill/>
          <a:ln>
            <a:noFill/>
          </a:ln>
        </p:spPr>
        <p:txBody>
          <a:bodyPr spcFirstLastPara="1" wrap="square" lIns="0" tIns="0" rIns="0" bIns="0" anchor="t" anchorCtr="0">
            <a:normAutofit/>
          </a:bodyPr>
          <a:lstStyle>
            <a:lvl1pPr lvl="0" algn="r">
              <a:lnSpc>
                <a:spcPct val="100000"/>
              </a:lnSpc>
              <a:spcBef>
                <a:spcPts val="0"/>
              </a:spcBef>
              <a:spcAft>
                <a:spcPts val="0"/>
              </a:spcAft>
              <a:buSzPts val="1400"/>
              <a:buNone/>
              <a:defRPr sz="5000" b="1">
                <a:solidFill>
                  <a:srgbClr val="003F41"/>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3"/>
          <p:cNvSpPr txBox="1">
            <a:spLocks noGrp="1"/>
          </p:cNvSpPr>
          <p:nvPr>
            <p:ph type="subTitle" idx="1"/>
          </p:nvPr>
        </p:nvSpPr>
        <p:spPr>
          <a:xfrm>
            <a:off x="3503712" y="4293097"/>
            <a:ext cx="7755467" cy="899583"/>
          </a:xfrm>
          <a:prstGeom prst="rect">
            <a:avLst/>
          </a:prstGeom>
          <a:noFill/>
          <a:ln>
            <a:noFill/>
          </a:ln>
        </p:spPr>
        <p:txBody>
          <a:bodyPr spcFirstLastPara="1" wrap="square" lIns="0" tIns="0" rIns="0" bIns="0" anchor="t" anchorCtr="0">
            <a:normAutofit/>
          </a:bodyPr>
          <a:lstStyle>
            <a:lvl1pPr lvl="0" algn="r">
              <a:lnSpc>
                <a:spcPct val="100000"/>
              </a:lnSpc>
              <a:spcBef>
                <a:spcPts val="560"/>
              </a:spcBef>
              <a:spcAft>
                <a:spcPts val="0"/>
              </a:spcAft>
              <a:buSzPts val="2800"/>
              <a:buFont typeface="Corbel"/>
              <a:buNone/>
              <a:defRPr sz="2800" i="1"/>
            </a:lvl1pPr>
            <a:lvl2pPr lvl="1" algn="ctr">
              <a:lnSpc>
                <a:spcPct val="100000"/>
              </a:lnSpc>
              <a:spcBef>
                <a:spcPts val="600"/>
              </a:spcBef>
              <a:spcAft>
                <a:spcPts val="0"/>
              </a:spcAft>
              <a:buSzPts val="2000"/>
              <a:buNone/>
              <a:defRPr>
                <a:solidFill>
                  <a:srgbClr val="888888"/>
                </a:solidFill>
              </a:defRPr>
            </a:lvl2pPr>
            <a:lvl3pPr lvl="2" algn="ctr">
              <a:lnSpc>
                <a:spcPct val="100000"/>
              </a:lnSpc>
              <a:spcBef>
                <a:spcPts val="600"/>
              </a:spcBef>
              <a:spcAft>
                <a:spcPts val="0"/>
              </a:spcAft>
              <a:buSzPts val="2000"/>
              <a:buNone/>
              <a:defRPr>
                <a:solidFill>
                  <a:srgbClr val="888888"/>
                </a:solidFill>
              </a:defRPr>
            </a:lvl3pPr>
            <a:lvl4pPr lvl="3" algn="ctr">
              <a:lnSpc>
                <a:spcPct val="100000"/>
              </a:lnSpc>
              <a:spcBef>
                <a:spcPts val="600"/>
              </a:spcBef>
              <a:spcAft>
                <a:spcPts val="0"/>
              </a:spcAft>
              <a:buSzPts val="2000"/>
              <a:buNone/>
              <a:defRPr>
                <a:solidFill>
                  <a:srgbClr val="888888"/>
                </a:solidFill>
              </a:defRPr>
            </a:lvl4pPr>
            <a:lvl5pPr lvl="4" algn="ctr">
              <a:lnSpc>
                <a:spcPct val="100000"/>
              </a:lnSpc>
              <a:spcBef>
                <a:spcPts val="600"/>
              </a:spcBef>
              <a:spcAft>
                <a:spcPts val="0"/>
              </a:spcAft>
              <a:buSzPts val="2000"/>
              <a:buNone/>
              <a:defRPr>
                <a:solidFill>
                  <a:srgbClr val="888888"/>
                </a:solidFill>
              </a:defRPr>
            </a:lvl5pPr>
            <a:lvl6pPr lvl="5" algn="ctr">
              <a:lnSpc>
                <a:spcPct val="100000"/>
              </a:lnSpc>
              <a:spcBef>
                <a:spcPts val="600"/>
              </a:spcBef>
              <a:spcAft>
                <a:spcPts val="0"/>
              </a:spcAft>
              <a:buSzPts val="2000"/>
              <a:buNone/>
              <a:defRPr>
                <a:solidFill>
                  <a:srgbClr val="888888"/>
                </a:solidFill>
              </a:defRPr>
            </a:lvl6pPr>
            <a:lvl7pPr lvl="6" algn="ctr">
              <a:lnSpc>
                <a:spcPct val="100000"/>
              </a:lnSpc>
              <a:spcBef>
                <a:spcPts val="400"/>
              </a:spcBef>
              <a:spcAft>
                <a:spcPts val="0"/>
              </a:spcAft>
              <a:buSzPts val="2000"/>
              <a:buNone/>
              <a:defRPr>
                <a:solidFill>
                  <a:srgbClr val="888888"/>
                </a:solidFill>
              </a:defRPr>
            </a:lvl7pPr>
            <a:lvl8pPr lvl="7" algn="ctr">
              <a:lnSpc>
                <a:spcPct val="100000"/>
              </a:lnSpc>
              <a:spcBef>
                <a:spcPts val="400"/>
              </a:spcBef>
              <a:spcAft>
                <a:spcPts val="0"/>
              </a:spcAft>
              <a:buSzPts val="2000"/>
              <a:buNone/>
              <a:defRPr>
                <a:solidFill>
                  <a:srgbClr val="888888"/>
                </a:solidFill>
              </a:defRPr>
            </a:lvl8pPr>
            <a:lvl9pPr lvl="8" algn="ctr">
              <a:lnSpc>
                <a:spcPct val="100000"/>
              </a:lnSpc>
              <a:spcBef>
                <a:spcPts val="400"/>
              </a:spcBef>
              <a:spcAft>
                <a:spcPts val="0"/>
              </a:spcAft>
              <a:buSzPts val="2000"/>
              <a:buNone/>
              <a:defRPr>
                <a:solidFill>
                  <a:srgbClr val="888888"/>
                </a:solidFill>
              </a:defRPr>
            </a:lvl9pPr>
          </a:lstStyle>
          <a:p>
            <a:endParaRPr/>
          </a:p>
        </p:txBody>
      </p:sp>
      <p:sp>
        <p:nvSpPr>
          <p:cNvPr id="20" name="Google Shape;20;p13"/>
          <p:cNvSpPr txBox="1">
            <a:spLocks noGrp="1"/>
          </p:cNvSpPr>
          <p:nvPr>
            <p:ph type="body" idx="2"/>
          </p:nvPr>
        </p:nvSpPr>
        <p:spPr>
          <a:xfrm>
            <a:off x="6761891" y="5192680"/>
            <a:ext cx="4512733" cy="360040"/>
          </a:xfrm>
          <a:prstGeom prst="rect">
            <a:avLst/>
          </a:prstGeom>
          <a:noFill/>
          <a:ln>
            <a:noFill/>
          </a:ln>
        </p:spPr>
        <p:txBody>
          <a:bodyPr spcFirstLastPara="1" wrap="square" lIns="0" tIns="0" rIns="0" bIns="0" anchor="t" anchorCtr="0">
            <a:noAutofit/>
          </a:bodyPr>
          <a:lstStyle>
            <a:lvl1pPr marL="457200" lvl="0" indent="-228600" algn="r">
              <a:lnSpc>
                <a:spcPct val="100000"/>
              </a:lnSpc>
              <a:spcBef>
                <a:spcPts val="360"/>
              </a:spcBef>
              <a:spcAft>
                <a:spcPts val="0"/>
              </a:spcAft>
              <a:buSzPts val="1800"/>
              <a:buFont typeface="Corbel"/>
              <a:buNone/>
              <a:defRPr sz="1800">
                <a:solidFill>
                  <a:schemeClr val="dk2"/>
                </a:solidFill>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pic>
        <p:nvPicPr>
          <p:cNvPr id="21" name="Google Shape;21;p13"/>
          <p:cNvPicPr preferRelativeResize="0"/>
          <p:nvPr/>
        </p:nvPicPr>
        <p:blipFill rotWithShape="1">
          <a:blip r:embed="rId3">
            <a:alphaModFix/>
          </a:blip>
          <a:srcRect/>
          <a:stretch/>
        </p:blipFill>
        <p:spPr>
          <a:xfrm>
            <a:off x="582159" y="4987396"/>
            <a:ext cx="2115348" cy="1423792"/>
          </a:xfrm>
          <a:prstGeom prst="rect">
            <a:avLst/>
          </a:prstGeom>
          <a:noFill/>
          <a:ln>
            <a:noFill/>
          </a:ln>
        </p:spPr>
      </p:pic>
    </p:spTree>
    <p:extLst>
      <p:ext uri="{BB962C8B-B14F-4D97-AF65-F5344CB8AC3E}">
        <p14:creationId xmlns:p14="http://schemas.microsoft.com/office/powerpoint/2010/main" val="30496491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246BF5-9A83-669B-18CC-A498B7CEED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b-NO"/>
          </a:p>
        </p:txBody>
      </p:sp>
      <p:sp>
        <p:nvSpPr>
          <p:cNvPr id="3" name="Text Placeholder 2">
            <a:extLst>
              <a:ext uri="{FF2B5EF4-FFF2-40B4-BE49-F238E27FC236}">
                <a16:creationId xmlns:a16="http://schemas.microsoft.com/office/drawing/2014/main" id="{8A3EBCEA-1F95-F928-A801-D157B815A0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79500DF8-58CA-3264-1DEB-80DEC84A3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D260E7C-F412-4A51-B851-AA100237D48C}" type="datetimeFigureOut">
              <a:rPr lang="nb-NO" smtClean="0"/>
              <a:t>15.10.2026</a:t>
            </a:fld>
            <a:endParaRPr lang="nb-NO"/>
          </a:p>
        </p:txBody>
      </p:sp>
      <p:sp>
        <p:nvSpPr>
          <p:cNvPr id="5" name="Footer Placeholder 4">
            <a:extLst>
              <a:ext uri="{FF2B5EF4-FFF2-40B4-BE49-F238E27FC236}">
                <a16:creationId xmlns:a16="http://schemas.microsoft.com/office/drawing/2014/main" id="{94CBE340-6ADE-7A94-9C4E-BFE41FBFD1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Slide Number Placeholder 5">
            <a:extLst>
              <a:ext uri="{FF2B5EF4-FFF2-40B4-BE49-F238E27FC236}">
                <a16:creationId xmlns:a16="http://schemas.microsoft.com/office/drawing/2014/main" id="{16591728-7CB4-DDA8-9061-ADE20C2EA3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91408C-4705-464B-BC6D-A406311D76FF}" type="slidenum">
              <a:rPr lang="nb-NO" smtClean="0"/>
              <a:t>‹#›</a:t>
            </a:fld>
            <a:endParaRPr lang="nb-NO"/>
          </a:p>
        </p:txBody>
      </p:sp>
    </p:spTree>
    <p:extLst>
      <p:ext uri="{BB962C8B-B14F-4D97-AF65-F5344CB8AC3E}">
        <p14:creationId xmlns:p14="http://schemas.microsoft.com/office/powerpoint/2010/main" val="24105794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hyperlink" Target="https://elixir.no/" TargetMode="External"/><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hyperlink" Target="mailto:support@elixir.no"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mailto:support@elixir.no" TargetMode="Externa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jpe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hyperlink" Target="https://elixir.no/services/#h189ski0azw351sumomawbgap516oayux" TargetMode="External"/><Relationship Id="rId2" Type="http://schemas.openxmlformats.org/officeDocument/2006/relationships/hyperlink" Target="https://nels.bioinfo.no/" TargetMode="Externa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jpe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hyperlink" Target="https://nels.elixir.no/nels-web/#/"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mailto:support@elixir.no" TargetMode="External"/><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41.png"/><Relationship Id="rId1" Type="http://schemas.openxmlformats.org/officeDocument/2006/relationships/slideLayout" Target="../slideLayouts/slideLayout6.xml"/><Relationship Id="rId5" Type="http://schemas.openxmlformats.org/officeDocument/2006/relationships/image" Target="../media/image43.png"/><Relationship Id="rId4" Type="http://schemas.openxmlformats.org/officeDocument/2006/relationships/image" Target="../media/image42.pn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jpeg"/><Relationship Id="rId12" Type="http://schemas.openxmlformats.org/officeDocument/2006/relationships/image" Target="../media/image45.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2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hyperlink" Target="https://training.galaxyproject.org/training-material/topics/transcriptomics/tutorials/ref-based/tutorial.html"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8"/>
          <p:cNvSpPr txBox="1">
            <a:spLocks noGrp="1"/>
          </p:cNvSpPr>
          <p:nvPr>
            <p:ph type="subTitle" idx="1"/>
          </p:nvPr>
        </p:nvSpPr>
        <p:spPr>
          <a:xfrm>
            <a:off x="1881904" y="3491036"/>
            <a:ext cx="9709678" cy="1758820"/>
          </a:xfrm>
          <a:prstGeom prst="rect">
            <a:avLst/>
          </a:prstGeom>
          <a:noFill/>
          <a:ln>
            <a:noFill/>
          </a:ln>
        </p:spPr>
        <p:txBody>
          <a:bodyPr spcFirstLastPara="1" wrap="square" lIns="91425" tIns="45700" rIns="91425" bIns="45700" anchor="t" anchorCtr="0">
            <a:noAutofit/>
          </a:bodyPr>
          <a:lstStyle/>
          <a:p>
            <a:pPr marL="0" lvl="0" indent="0" algn="ctr" rtl="0">
              <a:lnSpc>
                <a:spcPct val="70000"/>
              </a:lnSpc>
              <a:spcBef>
                <a:spcPts val="0"/>
              </a:spcBef>
              <a:spcAft>
                <a:spcPts val="0"/>
              </a:spcAft>
              <a:buClr>
                <a:srgbClr val="F57E20"/>
              </a:buClr>
              <a:buSzPts val="5120"/>
              <a:buFont typeface="Corbel"/>
              <a:buNone/>
            </a:pPr>
            <a:r>
              <a:rPr lang="en-US" sz="3600" dirty="0">
                <a:solidFill>
                  <a:srgbClr val="F57E20"/>
                </a:solidFill>
              </a:rPr>
              <a:t>Do you need help with life science data? </a:t>
            </a:r>
          </a:p>
          <a:p>
            <a:pPr marL="0" lvl="0" indent="0" algn="ctr" rtl="0">
              <a:lnSpc>
                <a:spcPct val="70000"/>
              </a:lnSpc>
              <a:spcBef>
                <a:spcPts val="0"/>
              </a:spcBef>
              <a:spcAft>
                <a:spcPts val="0"/>
              </a:spcAft>
              <a:buClr>
                <a:srgbClr val="F57E20"/>
              </a:buClr>
              <a:buSzPts val="5120"/>
              <a:buFont typeface="Corbel"/>
              <a:buNone/>
            </a:pPr>
            <a:endParaRPr lang="en-US" sz="3600" dirty="0">
              <a:solidFill>
                <a:srgbClr val="F57E20"/>
              </a:solidFill>
            </a:endParaRPr>
          </a:p>
          <a:p>
            <a:pPr marL="0" lvl="0" indent="0" algn="ctr" rtl="0">
              <a:lnSpc>
                <a:spcPct val="70000"/>
              </a:lnSpc>
              <a:spcBef>
                <a:spcPts val="0"/>
              </a:spcBef>
              <a:spcAft>
                <a:spcPts val="0"/>
              </a:spcAft>
              <a:buClr>
                <a:srgbClr val="F57E20"/>
              </a:buClr>
              <a:buSzPts val="5120"/>
              <a:buFont typeface="Corbel"/>
              <a:buNone/>
            </a:pPr>
            <a:r>
              <a:rPr lang="en-US" sz="3600" dirty="0">
                <a:solidFill>
                  <a:srgbClr val="F57E20"/>
                </a:solidFill>
              </a:rPr>
              <a:t>Get it by ELIXIR-Norway</a:t>
            </a:r>
            <a:endParaRPr lang="en-US" sz="1400" dirty="0">
              <a:solidFill>
                <a:srgbClr val="003F41"/>
              </a:solidFill>
            </a:endParaRPr>
          </a:p>
          <a:p>
            <a:pPr marL="0" lvl="0" indent="0" algn="ctr" rtl="0">
              <a:lnSpc>
                <a:spcPct val="70000"/>
              </a:lnSpc>
              <a:spcBef>
                <a:spcPts val="0"/>
              </a:spcBef>
              <a:spcAft>
                <a:spcPts val="0"/>
              </a:spcAft>
              <a:buClr>
                <a:srgbClr val="F57E20"/>
              </a:buClr>
              <a:buSzPts val="5120"/>
              <a:buFont typeface="Corbel"/>
              <a:buNone/>
            </a:pPr>
            <a:endParaRPr lang="en-US" sz="1400" b="1" dirty="0">
              <a:solidFill>
                <a:srgbClr val="003F41"/>
              </a:solidFill>
            </a:endParaRPr>
          </a:p>
          <a:p>
            <a:pPr marL="0" lvl="0" indent="0" algn="ctr" rtl="0">
              <a:lnSpc>
                <a:spcPct val="70000"/>
              </a:lnSpc>
              <a:spcBef>
                <a:spcPts val="0"/>
              </a:spcBef>
              <a:spcAft>
                <a:spcPts val="0"/>
              </a:spcAft>
              <a:buClr>
                <a:srgbClr val="F57E20"/>
              </a:buClr>
              <a:buSzPts val="5120"/>
              <a:buFont typeface="Corbel"/>
              <a:buNone/>
            </a:pPr>
            <a:endParaRPr lang="en-US" sz="1400" b="1" dirty="0">
              <a:solidFill>
                <a:srgbClr val="003F41"/>
              </a:solidFill>
            </a:endParaRPr>
          </a:p>
          <a:p>
            <a:pPr marL="0" lvl="0" indent="0" algn="ctr" rtl="0">
              <a:lnSpc>
                <a:spcPct val="70000"/>
              </a:lnSpc>
              <a:spcBef>
                <a:spcPts val="0"/>
              </a:spcBef>
              <a:spcAft>
                <a:spcPts val="0"/>
              </a:spcAft>
              <a:buClr>
                <a:srgbClr val="F57E20"/>
              </a:buClr>
              <a:buSzPts val="5120"/>
              <a:buFont typeface="Corbel"/>
              <a:buNone/>
            </a:pPr>
            <a:endParaRPr lang="en-US" sz="1400" b="1" dirty="0">
              <a:solidFill>
                <a:srgbClr val="003F41"/>
              </a:solidFill>
            </a:endParaRPr>
          </a:p>
          <a:p>
            <a:pPr marL="0" lvl="0" indent="0" algn="ctr" rtl="0">
              <a:lnSpc>
                <a:spcPct val="70000"/>
              </a:lnSpc>
              <a:spcBef>
                <a:spcPts val="0"/>
              </a:spcBef>
              <a:spcAft>
                <a:spcPts val="0"/>
              </a:spcAft>
              <a:buClr>
                <a:srgbClr val="F57E20"/>
              </a:buClr>
              <a:buSzPts val="5120"/>
              <a:buFont typeface="Corbel"/>
              <a:buNone/>
            </a:pPr>
            <a:endParaRPr lang="en-US" sz="1400" b="1" dirty="0">
              <a:solidFill>
                <a:srgbClr val="003F41"/>
              </a:solidFill>
            </a:endParaRPr>
          </a:p>
          <a:p>
            <a:pPr marL="0" lvl="0" indent="0" algn="ctr" rtl="0">
              <a:lnSpc>
                <a:spcPct val="70000"/>
              </a:lnSpc>
              <a:spcBef>
                <a:spcPts val="0"/>
              </a:spcBef>
              <a:spcAft>
                <a:spcPts val="0"/>
              </a:spcAft>
              <a:buClr>
                <a:srgbClr val="F57E20"/>
              </a:buClr>
              <a:buSzPts val="5120"/>
              <a:buFont typeface="Corbel"/>
              <a:buNone/>
            </a:pPr>
            <a:r>
              <a:rPr lang="en-US" sz="1400" b="1" dirty="0">
                <a:solidFill>
                  <a:srgbClr val="003F41"/>
                </a:solidFill>
              </a:rPr>
              <a:t>Arturo Vera Ponce de Leon</a:t>
            </a:r>
            <a:endParaRPr sz="1200" dirty="0"/>
          </a:p>
          <a:p>
            <a:pPr marL="0" lvl="0" indent="0" algn="ctr" rtl="0">
              <a:lnSpc>
                <a:spcPct val="70000"/>
              </a:lnSpc>
              <a:spcBef>
                <a:spcPts val="448"/>
              </a:spcBef>
              <a:spcAft>
                <a:spcPts val="0"/>
              </a:spcAft>
              <a:buClr>
                <a:srgbClr val="003F41"/>
              </a:buClr>
              <a:buSzPts val="2240"/>
              <a:buFont typeface="Corbel"/>
              <a:buNone/>
            </a:pPr>
            <a:r>
              <a:rPr lang="en-GB" sz="1400" b="1" i="1" dirty="0">
                <a:solidFill>
                  <a:srgbClr val="003F41"/>
                </a:solidFill>
                <a:latin typeface="Corbel"/>
                <a:ea typeface="Corbel"/>
                <a:cs typeface="Corbel"/>
                <a:sym typeface="Corbel"/>
              </a:rPr>
              <a:t>ELIXIR Norway</a:t>
            </a:r>
            <a:endParaRPr lang="en-GB" sz="1400" b="1" dirty="0">
              <a:solidFill>
                <a:srgbClr val="003F41"/>
              </a:solidFill>
              <a:latin typeface="Corbel"/>
              <a:ea typeface="Corbel"/>
              <a:cs typeface="Corbel"/>
              <a:sym typeface="Corbel"/>
            </a:endParaRPr>
          </a:p>
          <a:p>
            <a:pPr marL="0" lvl="0" indent="0" algn="ctr" rtl="0">
              <a:lnSpc>
                <a:spcPct val="70000"/>
              </a:lnSpc>
              <a:spcBef>
                <a:spcPts val="448"/>
              </a:spcBef>
              <a:spcAft>
                <a:spcPts val="0"/>
              </a:spcAft>
              <a:buClr>
                <a:srgbClr val="003F41"/>
              </a:buClr>
              <a:buSzPts val="2240"/>
              <a:buFont typeface="Corbel"/>
              <a:buNone/>
            </a:pPr>
            <a:r>
              <a:rPr lang="en-GB" sz="1400" b="1" dirty="0">
                <a:solidFill>
                  <a:srgbClr val="003F41"/>
                </a:solidFill>
                <a:latin typeface="Corbel"/>
                <a:ea typeface="Corbel"/>
                <a:cs typeface="Corbel"/>
                <a:sym typeface="Corbel"/>
              </a:rPr>
              <a:t>Centre for Integrative Genetics (CIGENE)</a:t>
            </a:r>
          </a:p>
          <a:p>
            <a:pPr marL="0" lvl="0" indent="0" algn="ctr" rtl="0">
              <a:lnSpc>
                <a:spcPct val="70000"/>
              </a:lnSpc>
              <a:spcBef>
                <a:spcPts val="448"/>
              </a:spcBef>
              <a:spcAft>
                <a:spcPts val="0"/>
              </a:spcAft>
              <a:buClr>
                <a:srgbClr val="003F41"/>
              </a:buClr>
              <a:buSzPts val="2240"/>
              <a:buFont typeface="Corbel"/>
              <a:buNone/>
            </a:pPr>
            <a:r>
              <a:rPr lang="en-GB" sz="1400" b="1" dirty="0">
                <a:solidFill>
                  <a:srgbClr val="003F41"/>
                </a:solidFill>
                <a:latin typeface="Corbel"/>
                <a:ea typeface="Corbel"/>
                <a:cs typeface="Corbel"/>
                <a:sym typeface="Corbel"/>
              </a:rPr>
              <a:t>Norwegian University of Life Sciences</a:t>
            </a:r>
          </a:p>
          <a:p>
            <a:pPr marL="0" lvl="0" indent="0" algn="l" rtl="0">
              <a:lnSpc>
                <a:spcPct val="70000"/>
              </a:lnSpc>
              <a:spcBef>
                <a:spcPts val="1600"/>
              </a:spcBef>
              <a:spcAft>
                <a:spcPts val="0"/>
              </a:spcAft>
              <a:buClr>
                <a:schemeClr val="dk1"/>
              </a:buClr>
              <a:buSzPts val="2040"/>
              <a:buFont typeface="Corbel"/>
              <a:buNone/>
            </a:pPr>
            <a:endParaRPr lang="en-GB" sz="1400" dirty="0">
              <a:solidFill>
                <a:srgbClr val="003F41"/>
              </a:solidFill>
              <a:latin typeface="Corbel"/>
              <a:ea typeface="Corbel"/>
              <a:cs typeface="Corbel"/>
              <a:sym typeface="Corbel"/>
            </a:endParaRPr>
          </a:p>
          <a:p>
            <a:pPr marL="0" lvl="0" indent="0" algn="ctr" rtl="0">
              <a:lnSpc>
                <a:spcPct val="70000"/>
              </a:lnSpc>
              <a:spcBef>
                <a:spcPts val="1000"/>
              </a:spcBef>
              <a:spcAft>
                <a:spcPts val="0"/>
              </a:spcAft>
              <a:buClr>
                <a:schemeClr val="dk1"/>
              </a:buClr>
              <a:buSzPts val="2040"/>
              <a:buFont typeface="Corbel"/>
              <a:buNone/>
            </a:pPr>
            <a:endParaRPr sz="1400" dirty="0">
              <a:latin typeface="Corbel"/>
              <a:ea typeface="Corbel"/>
              <a:cs typeface="Corbel"/>
              <a:sym typeface="Corbe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6"/>
          <p:cNvSpPr txBox="1">
            <a:spLocks noGrp="1"/>
          </p:cNvSpPr>
          <p:nvPr>
            <p:ph type="title"/>
          </p:nvPr>
        </p:nvSpPr>
        <p:spPr>
          <a:xfrm>
            <a:off x="719403" y="332656"/>
            <a:ext cx="10871200" cy="648072"/>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400"/>
              <a:buNone/>
            </a:pPr>
            <a:r>
              <a:rPr lang="en-GB" sz="3800" i="1" dirty="0">
                <a:solidFill>
                  <a:srgbClr val="F57E20"/>
                </a:solidFill>
              </a:rPr>
              <a:t>ELIXIR - A distributed infrastructure for Life Science data</a:t>
            </a:r>
            <a:endParaRPr dirty="0"/>
          </a:p>
        </p:txBody>
      </p:sp>
      <p:pic>
        <p:nvPicPr>
          <p:cNvPr id="104" name="Google Shape;104;p6" descr="Picture 2"/>
          <p:cNvPicPr preferRelativeResize="0"/>
          <p:nvPr/>
        </p:nvPicPr>
        <p:blipFill rotWithShape="1">
          <a:blip r:embed="rId3">
            <a:alphaModFix/>
          </a:blip>
          <a:srcRect/>
          <a:stretch/>
        </p:blipFill>
        <p:spPr>
          <a:xfrm>
            <a:off x="7370618" y="1771394"/>
            <a:ext cx="4821382" cy="5086606"/>
          </a:xfrm>
          <a:prstGeom prst="rect">
            <a:avLst/>
          </a:prstGeom>
          <a:noFill/>
          <a:ln>
            <a:noFill/>
          </a:ln>
        </p:spPr>
      </p:pic>
      <p:pic>
        <p:nvPicPr>
          <p:cNvPr id="105" name="Google Shape;105;p6" descr="Picture 7"/>
          <p:cNvPicPr preferRelativeResize="0"/>
          <p:nvPr/>
        </p:nvPicPr>
        <p:blipFill rotWithShape="1">
          <a:blip r:embed="rId4">
            <a:alphaModFix/>
          </a:blip>
          <a:srcRect/>
          <a:stretch/>
        </p:blipFill>
        <p:spPr>
          <a:xfrm>
            <a:off x="7522783" y="2009296"/>
            <a:ext cx="4541399" cy="4923651"/>
          </a:xfrm>
          <a:prstGeom prst="rect">
            <a:avLst/>
          </a:prstGeom>
          <a:noFill/>
          <a:ln>
            <a:noFill/>
          </a:ln>
        </p:spPr>
      </p:pic>
      <p:pic>
        <p:nvPicPr>
          <p:cNvPr id="106" name="Google Shape;106;p6" descr="How we work_Infographic.png"/>
          <p:cNvPicPr preferRelativeResize="0"/>
          <p:nvPr/>
        </p:nvPicPr>
        <p:blipFill rotWithShape="1">
          <a:blip r:embed="rId5">
            <a:alphaModFix/>
          </a:blip>
          <a:srcRect/>
          <a:stretch/>
        </p:blipFill>
        <p:spPr>
          <a:xfrm>
            <a:off x="1419726" y="2430378"/>
            <a:ext cx="4941340" cy="4830279"/>
          </a:xfrm>
          <a:prstGeom prst="rect">
            <a:avLst/>
          </a:prstGeom>
          <a:noFill/>
          <a:ln>
            <a:noFill/>
          </a:ln>
        </p:spPr>
      </p:pic>
      <p:sp>
        <p:nvSpPr>
          <p:cNvPr id="2" name="TextBox 1">
            <a:extLst>
              <a:ext uri="{FF2B5EF4-FFF2-40B4-BE49-F238E27FC236}">
                <a16:creationId xmlns:a16="http://schemas.microsoft.com/office/drawing/2014/main" id="{EFB8BFE7-451F-09C9-EA05-6C920A8ED8B4}"/>
              </a:ext>
            </a:extLst>
          </p:cNvPr>
          <p:cNvSpPr txBox="1"/>
          <p:nvPr/>
        </p:nvSpPr>
        <p:spPr>
          <a:xfrm>
            <a:off x="0" y="6525344"/>
            <a:ext cx="2638927" cy="276999"/>
          </a:xfrm>
          <a:prstGeom prst="rect">
            <a:avLst/>
          </a:prstGeom>
          <a:noFill/>
        </p:spPr>
        <p:txBody>
          <a:bodyPr wrap="square" rtlCol="0">
            <a:spAutoFit/>
          </a:bodyPr>
          <a:lstStyle/>
          <a:p>
            <a:r>
              <a:rPr lang="en-US" sz="1200" dirty="0"/>
              <a:t>Slide by David Dolan</a:t>
            </a:r>
          </a:p>
        </p:txBody>
      </p:sp>
      <p:sp>
        <p:nvSpPr>
          <p:cNvPr id="103" name="Google Shape;103;p6"/>
          <p:cNvSpPr txBox="1">
            <a:spLocks noGrp="1"/>
          </p:cNvSpPr>
          <p:nvPr>
            <p:ph type="body" idx="1"/>
          </p:nvPr>
        </p:nvSpPr>
        <p:spPr>
          <a:xfrm>
            <a:off x="719403" y="1253331"/>
            <a:ext cx="10871200" cy="4351337"/>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2400"/>
              <a:buFont typeface="Corbel"/>
              <a:buNone/>
            </a:pPr>
            <a:r>
              <a:rPr lang="en-US" sz="2400" b="0" i="0" dirty="0">
                <a:solidFill>
                  <a:srgbClr val="000000"/>
                </a:solidFill>
                <a:effectLst/>
                <a:latin typeface="Lato" panose="020F0502020204030203" pitchFamily="34" charset="0"/>
              </a:rPr>
              <a:t>ELIXIR is an intergovernmental organization that brings together life science resources from across Europe. The  resources include databases, software tools, training materials, cloud storage and supercomputers.</a:t>
            </a:r>
            <a:endParaRPr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8281AEA-2B4F-D4E3-CF74-83D0FA490E32}"/>
              </a:ext>
            </a:extLst>
          </p:cNvPr>
          <p:cNvPicPr>
            <a:picLocks noChangeAspect="1"/>
          </p:cNvPicPr>
          <p:nvPr/>
        </p:nvPicPr>
        <p:blipFill>
          <a:blip r:embed="rId2"/>
          <a:stretch>
            <a:fillRect/>
          </a:stretch>
        </p:blipFill>
        <p:spPr>
          <a:xfrm>
            <a:off x="868587" y="809155"/>
            <a:ext cx="10349007" cy="5239689"/>
          </a:xfrm>
          <a:prstGeom prst="rect">
            <a:avLst/>
          </a:prstGeom>
        </p:spPr>
      </p:pic>
      <p:sp>
        <p:nvSpPr>
          <p:cNvPr id="6" name="Google Shape;126;p7">
            <a:extLst>
              <a:ext uri="{FF2B5EF4-FFF2-40B4-BE49-F238E27FC236}">
                <a16:creationId xmlns:a16="http://schemas.microsoft.com/office/drawing/2014/main" id="{2963B8A3-5136-6D9E-F9FF-4B136E3F372A}"/>
              </a:ext>
            </a:extLst>
          </p:cNvPr>
          <p:cNvSpPr txBox="1">
            <a:spLocks noGrp="1"/>
          </p:cNvSpPr>
          <p:nvPr>
            <p:ph type="title"/>
          </p:nvPr>
        </p:nvSpPr>
        <p:spPr>
          <a:xfrm>
            <a:off x="0" y="300163"/>
            <a:ext cx="10871200" cy="648072"/>
          </a:xfrm>
          <a:prstGeom prst="rect">
            <a:avLst/>
          </a:prstGeom>
          <a:noFill/>
          <a:ln>
            <a:noFill/>
          </a:ln>
        </p:spPr>
        <p:txBody>
          <a:bodyPr spcFirstLastPara="1" wrap="square" lIns="0" tIns="0" rIns="0" bIns="0" anchor="t" anchorCtr="0">
            <a:noAutofit/>
          </a:bodyPr>
          <a:lstStyle/>
          <a:p>
            <a:pPr marL="0" lvl="0" indent="0" algn="ctr" rtl="0">
              <a:lnSpc>
                <a:spcPct val="90000"/>
              </a:lnSpc>
              <a:spcBef>
                <a:spcPts val="0"/>
              </a:spcBef>
              <a:spcAft>
                <a:spcPts val="0"/>
              </a:spcAft>
              <a:buSzPts val="1400"/>
              <a:buNone/>
            </a:pPr>
            <a:r>
              <a:rPr lang="en-GB" sz="4000" i="1" dirty="0">
                <a:solidFill>
                  <a:srgbClr val="F57E20"/>
                </a:solidFill>
              </a:rPr>
              <a:t>ELIXIR Norway</a:t>
            </a:r>
            <a:br>
              <a:rPr lang="en-GB" sz="4000" i="1" dirty="0">
                <a:solidFill>
                  <a:srgbClr val="F57E20"/>
                </a:solidFill>
              </a:rPr>
            </a:br>
            <a:endParaRPr sz="4000" i="1" dirty="0">
              <a:solidFill>
                <a:srgbClr val="F57E20"/>
              </a:solidFill>
            </a:endParaRPr>
          </a:p>
        </p:txBody>
      </p:sp>
      <p:sp>
        <p:nvSpPr>
          <p:cNvPr id="8" name="TextBox 7">
            <a:extLst>
              <a:ext uri="{FF2B5EF4-FFF2-40B4-BE49-F238E27FC236}">
                <a16:creationId xmlns:a16="http://schemas.microsoft.com/office/drawing/2014/main" id="{56DB279B-5C6F-E19F-B163-AC6A8C7B95A1}"/>
              </a:ext>
            </a:extLst>
          </p:cNvPr>
          <p:cNvSpPr txBox="1"/>
          <p:nvPr/>
        </p:nvSpPr>
        <p:spPr>
          <a:xfrm>
            <a:off x="8847180" y="4597260"/>
            <a:ext cx="6096680" cy="461665"/>
          </a:xfrm>
          <a:prstGeom prst="rect">
            <a:avLst/>
          </a:prstGeom>
          <a:noFill/>
        </p:spPr>
        <p:txBody>
          <a:bodyPr wrap="square">
            <a:spAutoFit/>
          </a:bodyPr>
          <a:lstStyle/>
          <a:p>
            <a:r>
              <a:rPr lang="en-GB" sz="2400" i="1" dirty="0">
                <a:solidFill>
                  <a:srgbClr val="F57E20"/>
                </a:solidFill>
                <a:hlinkClick r:id="rId3"/>
              </a:rPr>
              <a:t>https://elixir.no/</a:t>
            </a:r>
            <a:r>
              <a:rPr lang="en-GB" sz="2400" i="1" dirty="0">
                <a:solidFill>
                  <a:srgbClr val="F57E20"/>
                </a:solidFill>
              </a:rPr>
              <a:t> </a:t>
            </a:r>
            <a:endParaRPr lang="en-US" sz="2400" dirty="0"/>
          </a:p>
        </p:txBody>
      </p:sp>
      <p:pic>
        <p:nvPicPr>
          <p:cNvPr id="11" name="Picture 10">
            <a:extLst>
              <a:ext uri="{FF2B5EF4-FFF2-40B4-BE49-F238E27FC236}">
                <a16:creationId xmlns:a16="http://schemas.microsoft.com/office/drawing/2014/main" id="{42B67DA9-BC46-5567-82D6-148703A8229B}"/>
              </a:ext>
            </a:extLst>
          </p:cNvPr>
          <p:cNvPicPr>
            <a:picLocks noChangeAspect="1"/>
          </p:cNvPicPr>
          <p:nvPr/>
        </p:nvPicPr>
        <p:blipFill>
          <a:blip r:embed="rId4"/>
          <a:stretch>
            <a:fillRect/>
          </a:stretch>
        </p:blipFill>
        <p:spPr>
          <a:xfrm>
            <a:off x="9092939" y="2969054"/>
            <a:ext cx="1717301" cy="1717301"/>
          </a:xfrm>
          <a:prstGeom prst="rect">
            <a:avLst/>
          </a:prstGeom>
        </p:spPr>
      </p:pic>
    </p:spTree>
    <p:extLst>
      <p:ext uri="{BB962C8B-B14F-4D97-AF65-F5344CB8AC3E}">
        <p14:creationId xmlns:p14="http://schemas.microsoft.com/office/powerpoint/2010/main" val="672009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7DAD147-A774-7A05-D0C3-BC43C2E028C1}"/>
              </a:ext>
            </a:extLst>
          </p:cNvPr>
          <p:cNvPicPr>
            <a:picLocks noChangeAspect="1"/>
          </p:cNvPicPr>
          <p:nvPr/>
        </p:nvPicPr>
        <p:blipFill>
          <a:blip r:embed="rId2"/>
          <a:stretch>
            <a:fillRect/>
          </a:stretch>
        </p:blipFill>
        <p:spPr>
          <a:xfrm>
            <a:off x="187914" y="111798"/>
            <a:ext cx="5837329" cy="2602452"/>
          </a:xfrm>
          <a:prstGeom prst="rect">
            <a:avLst/>
          </a:prstGeom>
        </p:spPr>
      </p:pic>
      <p:sp>
        <p:nvSpPr>
          <p:cNvPr id="8" name="TextBox 7">
            <a:extLst>
              <a:ext uri="{FF2B5EF4-FFF2-40B4-BE49-F238E27FC236}">
                <a16:creationId xmlns:a16="http://schemas.microsoft.com/office/drawing/2014/main" id="{BF9E8687-41B7-F4CA-3461-9A80F98378E0}"/>
              </a:ext>
            </a:extLst>
          </p:cNvPr>
          <p:cNvSpPr txBox="1"/>
          <p:nvPr/>
        </p:nvSpPr>
        <p:spPr>
          <a:xfrm>
            <a:off x="2633934" y="5622227"/>
            <a:ext cx="7163209" cy="523220"/>
          </a:xfrm>
          <a:prstGeom prst="rect">
            <a:avLst/>
          </a:prstGeom>
          <a:noFill/>
        </p:spPr>
        <p:txBody>
          <a:bodyPr wrap="square">
            <a:spAutoFit/>
          </a:bodyPr>
          <a:lstStyle/>
          <a:p>
            <a:r>
              <a:rPr lang="en-US" sz="2800" b="1" i="0" dirty="0">
                <a:solidFill>
                  <a:srgbClr val="000000"/>
                </a:solidFill>
                <a:effectLst/>
                <a:latin typeface="Lato" panose="020F0502020204030203" pitchFamily="34" charset="0"/>
              </a:rPr>
              <a:t>Contact us by email at </a:t>
            </a:r>
            <a:r>
              <a:rPr lang="en-US" sz="2800" b="1" i="0" u="none" strike="noStrike" dirty="0">
                <a:solidFill>
                  <a:srgbClr val="047EAA"/>
                </a:solidFill>
                <a:effectLst/>
                <a:latin typeface="Lato" panose="020F0502020204030203" pitchFamily="34" charset="0"/>
                <a:hlinkClick r:id="rId3"/>
              </a:rPr>
              <a:t>support@elixir.no</a:t>
            </a:r>
            <a:endParaRPr lang="en-US" sz="2800" dirty="0"/>
          </a:p>
        </p:txBody>
      </p:sp>
      <p:sp>
        <p:nvSpPr>
          <p:cNvPr id="10" name="Content Placeholder 2">
            <a:extLst>
              <a:ext uri="{FF2B5EF4-FFF2-40B4-BE49-F238E27FC236}">
                <a16:creationId xmlns:a16="http://schemas.microsoft.com/office/drawing/2014/main" id="{2F1933AA-1D4C-1D98-0EBF-E0484B634901}"/>
              </a:ext>
            </a:extLst>
          </p:cNvPr>
          <p:cNvSpPr>
            <a:spLocks noGrp="1"/>
          </p:cNvSpPr>
          <p:nvPr>
            <p:ph idx="1"/>
          </p:nvPr>
        </p:nvSpPr>
        <p:spPr>
          <a:xfrm>
            <a:off x="187914" y="2846259"/>
            <a:ext cx="11983810" cy="4351338"/>
          </a:xfrm>
        </p:spPr>
        <p:txBody>
          <a:bodyPr/>
          <a:lstStyle/>
          <a:p>
            <a:pPr marL="0" indent="0" algn="l" fontAlgn="base">
              <a:buNone/>
            </a:pPr>
            <a:r>
              <a:rPr lang="en-US" b="1" i="0" dirty="0">
                <a:solidFill>
                  <a:srgbClr val="000000"/>
                </a:solidFill>
                <a:effectLst/>
                <a:latin typeface="Lato" panose="020F0502020204030203" pitchFamily="34" charset="0"/>
              </a:rPr>
              <a:t>Support model</a:t>
            </a:r>
          </a:p>
          <a:p>
            <a:pPr marL="0" indent="0" algn="l" fontAlgn="base">
              <a:buNone/>
            </a:pPr>
            <a:endParaRPr lang="en-US" b="1" i="0" dirty="0">
              <a:solidFill>
                <a:srgbClr val="000000"/>
              </a:solidFill>
              <a:effectLst/>
              <a:latin typeface="Lato" panose="020F0502020204030203" pitchFamily="34" charset="0"/>
            </a:endParaRPr>
          </a:p>
          <a:p>
            <a:pPr algn="l" fontAlgn="base"/>
            <a:r>
              <a:rPr lang="en-US" b="0" i="0" dirty="0">
                <a:solidFill>
                  <a:srgbClr val="000000"/>
                </a:solidFill>
                <a:effectLst/>
                <a:latin typeface="Lato" panose="020F0502020204030203" pitchFamily="34" charset="0"/>
              </a:rPr>
              <a:t>Projects that can be solved within a (two) working day are </a:t>
            </a:r>
            <a:r>
              <a:rPr lang="en-US" b="1" i="0" dirty="0">
                <a:solidFill>
                  <a:srgbClr val="F36B17"/>
                </a:solidFill>
                <a:effectLst/>
                <a:latin typeface="Lato" panose="020F0502020204030203" pitchFamily="34" charset="0"/>
              </a:rPr>
              <a:t>free of charge</a:t>
            </a:r>
            <a:r>
              <a:rPr lang="en-US" dirty="0">
                <a:solidFill>
                  <a:srgbClr val="F36B17"/>
                </a:solidFill>
                <a:latin typeface="Lato" panose="020F0502020204030203" pitchFamily="34" charset="0"/>
              </a:rPr>
              <a:t>!!</a:t>
            </a:r>
            <a:endParaRPr lang="en-US" b="0" i="0" dirty="0">
              <a:solidFill>
                <a:srgbClr val="F36B17"/>
              </a:solidFill>
              <a:effectLst/>
              <a:latin typeface="Lato" panose="020F0502020204030203" pitchFamily="34" charset="0"/>
            </a:endParaRPr>
          </a:p>
          <a:p>
            <a:endParaRPr lang="en-US" dirty="0"/>
          </a:p>
        </p:txBody>
      </p:sp>
    </p:spTree>
    <p:extLst>
      <p:ext uri="{BB962C8B-B14F-4D97-AF65-F5344CB8AC3E}">
        <p14:creationId xmlns:p14="http://schemas.microsoft.com/office/powerpoint/2010/main" val="3066467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C0A73-66AD-1DEE-2964-9624ADDC8860}"/>
              </a:ext>
            </a:extLst>
          </p:cNvPr>
          <p:cNvSpPr>
            <a:spLocks noGrp="1"/>
          </p:cNvSpPr>
          <p:nvPr>
            <p:ph type="title"/>
          </p:nvPr>
        </p:nvSpPr>
        <p:spPr>
          <a:xfrm>
            <a:off x="838200" y="281668"/>
            <a:ext cx="10515600" cy="1325563"/>
          </a:xfrm>
        </p:spPr>
        <p:txBody>
          <a:bodyPr/>
          <a:lstStyle/>
          <a:p>
            <a:pPr algn="ctr"/>
            <a:r>
              <a:rPr lang="en-US" dirty="0"/>
              <a:t>Examples of topics ELIXIR-NMBU can help </a:t>
            </a:r>
          </a:p>
        </p:txBody>
      </p:sp>
      <p:sp>
        <p:nvSpPr>
          <p:cNvPr id="3" name="Content Placeholder 2">
            <a:extLst>
              <a:ext uri="{FF2B5EF4-FFF2-40B4-BE49-F238E27FC236}">
                <a16:creationId xmlns:a16="http://schemas.microsoft.com/office/drawing/2014/main" id="{378FF4E5-6E17-13DD-7F34-35AE852E2724}"/>
              </a:ext>
            </a:extLst>
          </p:cNvPr>
          <p:cNvSpPr>
            <a:spLocks noGrp="1"/>
          </p:cNvSpPr>
          <p:nvPr>
            <p:ph idx="1"/>
          </p:nvPr>
        </p:nvSpPr>
        <p:spPr>
          <a:xfrm>
            <a:off x="866775" y="2451780"/>
            <a:ext cx="10515600" cy="4351338"/>
          </a:xfrm>
        </p:spPr>
        <p:txBody>
          <a:bodyPr/>
          <a:lstStyle/>
          <a:p>
            <a:r>
              <a:rPr lang="en-US"/>
              <a:t>Assistance analyzing ‘omics data (genomics, transcriptomics, proteomics and metabolomics)</a:t>
            </a:r>
          </a:p>
          <a:p>
            <a:endParaRPr lang="en-US"/>
          </a:p>
          <a:p>
            <a:endParaRPr lang="en-US"/>
          </a:p>
          <a:p>
            <a:r>
              <a:rPr lang="en-US"/>
              <a:t>Assistance with scripting and coding (R, Python, Bash, Perl, etc.)</a:t>
            </a:r>
          </a:p>
          <a:p>
            <a:endParaRPr lang="en-US"/>
          </a:p>
          <a:p>
            <a:endParaRPr lang="en-US"/>
          </a:p>
          <a:p>
            <a:r>
              <a:rPr lang="en-US"/>
              <a:t>Assistance submitting ‘omics data to public repositories (ENA, GenBank, PRIDE)</a:t>
            </a:r>
          </a:p>
          <a:p>
            <a:endParaRPr lang="en-US"/>
          </a:p>
          <a:p>
            <a:endParaRPr lang="en-US"/>
          </a:p>
          <a:p>
            <a:endParaRPr lang="en-US"/>
          </a:p>
        </p:txBody>
      </p:sp>
      <p:sp>
        <p:nvSpPr>
          <p:cNvPr id="9" name="TextBox 8">
            <a:extLst>
              <a:ext uri="{FF2B5EF4-FFF2-40B4-BE49-F238E27FC236}">
                <a16:creationId xmlns:a16="http://schemas.microsoft.com/office/drawing/2014/main" id="{A41E493D-63C8-5922-9512-0056833B9C61}"/>
              </a:ext>
            </a:extLst>
          </p:cNvPr>
          <p:cNvSpPr txBox="1"/>
          <p:nvPr/>
        </p:nvSpPr>
        <p:spPr>
          <a:xfrm>
            <a:off x="2928147" y="1380322"/>
            <a:ext cx="7637689" cy="584775"/>
          </a:xfrm>
          <a:prstGeom prst="rect">
            <a:avLst/>
          </a:prstGeom>
          <a:noFill/>
        </p:spPr>
        <p:txBody>
          <a:bodyPr wrap="square" rtlCol="0">
            <a:spAutoFit/>
          </a:bodyPr>
          <a:lstStyle/>
          <a:p>
            <a:r>
              <a:rPr lang="en-US" sz="3200" dirty="0">
                <a:solidFill>
                  <a:schemeClr val="accent2">
                    <a:lumMod val="75000"/>
                  </a:schemeClr>
                </a:solidFill>
              </a:rPr>
              <a:t>NB! ELIXIR-Norway is not University-IT</a:t>
            </a:r>
          </a:p>
        </p:txBody>
      </p:sp>
    </p:spTree>
    <p:extLst>
      <p:ext uri="{BB962C8B-B14F-4D97-AF65-F5344CB8AC3E}">
        <p14:creationId xmlns:p14="http://schemas.microsoft.com/office/powerpoint/2010/main" val="496814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C0A73-66AD-1DEE-2964-9624ADDC8860}"/>
              </a:ext>
            </a:extLst>
          </p:cNvPr>
          <p:cNvSpPr>
            <a:spLocks noGrp="1"/>
          </p:cNvSpPr>
          <p:nvPr>
            <p:ph type="title"/>
          </p:nvPr>
        </p:nvSpPr>
        <p:spPr>
          <a:xfrm>
            <a:off x="838200" y="22225"/>
            <a:ext cx="10515600" cy="1325563"/>
          </a:xfrm>
        </p:spPr>
        <p:txBody>
          <a:bodyPr/>
          <a:lstStyle/>
          <a:p>
            <a:pPr algn="ctr"/>
            <a:r>
              <a:rPr lang="en-US" dirty="0"/>
              <a:t>Topics ELIXIR-NMBU can help with.</a:t>
            </a:r>
          </a:p>
        </p:txBody>
      </p:sp>
      <p:sp>
        <p:nvSpPr>
          <p:cNvPr id="3" name="Content Placeholder 2">
            <a:extLst>
              <a:ext uri="{FF2B5EF4-FFF2-40B4-BE49-F238E27FC236}">
                <a16:creationId xmlns:a16="http://schemas.microsoft.com/office/drawing/2014/main" id="{378FF4E5-6E17-13DD-7F34-35AE852E2724}"/>
              </a:ext>
            </a:extLst>
          </p:cNvPr>
          <p:cNvSpPr>
            <a:spLocks noGrp="1"/>
          </p:cNvSpPr>
          <p:nvPr>
            <p:ph idx="1"/>
          </p:nvPr>
        </p:nvSpPr>
        <p:spPr>
          <a:xfrm>
            <a:off x="400050" y="2141537"/>
            <a:ext cx="11679011" cy="4351338"/>
          </a:xfrm>
        </p:spPr>
        <p:txBody>
          <a:bodyPr>
            <a:normAutofit lnSpcReduction="10000"/>
          </a:bodyPr>
          <a:lstStyle/>
          <a:p>
            <a:r>
              <a:rPr lang="en-US"/>
              <a:t>Assistance using Linux/Unix servers and high-performance computing (HPC) environments (Orion or Sigma2)</a:t>
            </a:r>
          </a:p>
          <a:p>
            <a:pPr marL="0" indent="0">
              <a:buNone/>
            </a:pPr>
            <a:endParaRPr lang="en-US"/>
          </a:p>
          <a:p>
            <a:pPr marL="0" indent="0">
              <a:buNone/>
            </a:pPr>
            <a:endParaRPr lang="en-US"/>
          </a:p>
          <a:p>
            <a:r>
              <a:rPr lang="en-US"/>
              <a:t>Allocation of storage space (up to 10 Tb) at the Norwegian e-Infrastructure for Life Sciences (</a:t>
            </a:r>
            <a:r>
              <a:rPr lang="en-US" err="1"/>
              <a:t>NeLS</a:t>
            </a:r>
            <a:r>
              <a:rPr lang="en-US"/>
              <a:t>)</a:t>
            </a:r>
          </a:p>
          <a:p>
            <a:endParaRPr lang="en-US"/>
          </a:p>
          <a:p>
            <a:endParaRPr lang="en-US"/>
          </a:p>
          <a:p>
            <a:r>
              <a:rPr lang="en-US"/>
              <a:t>Assistance applying for resources at National e-infrastructure services (Sigma2) for HPC usage and storage</a:t>
            </a:r>
          </a:p>
          <a:p>
            <a:pPr marL="0" indent="0">
              <a:buNone/>
            </a:pPr>
            <a:endParaRPr lang="en-US"/>
          </a:p>
          <a:p>
            <a:endParaRPr lang="en-US"/>
          </a:p>
        </p:txBody>
      </p:sp>
    </p:spTree>
    <p:extLst>
      <p:ext uri="{BB962C8B-B14F-4D97-AF65-F5344CB8AC3E}">
        <p14:creationId xmlns:p14="http://schemas.microsoft.com/office/powerpoint/2010/main" val="1658681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C0A73-66AD-1DEE-2964-9624ADDC8860}"/>
              </a:ext>
            </a:extLst>
          </p:cNvPr>
          <p:cNvSpPr>
            <a:spLocks noGrp="1"/>
          </p:cNvSpPr>
          <p:nvPr>
            <p:ph type="title"/>
          </p:nvPr>
        </p:nvSpPr>
        <p:spPr>
          <a:xfrm>
            <a:off x="838200" y="22225"/>
            <a:ext cx="10515600" cy="1325563"/>
          </a:xfrm>
        </p:spPr>
        <p:txBody>
          <a:bodyPr/>
          <a:lstStyle/>
          <a:p>
            <a:pPr algn="ctr"/>
            <a:r>
              <a:rPr lang="en-US" dirty="0"/>
              <a:t>Topics ELIXIR-NMBU can help with.</a:t>
            </a:r>
          </a:p>
        </p:txBody>
      </p:sp>
      <p:sp>
        <p:nvSpPr>
          <p:cNvPr id="3" name="Content Placeholder 2">
            <a:extLst>
              <a:ext uri="{FF2B5EF4-FFF2-40B4-BE49-F238E27FC236}">
                <a16:creationId xmlns:a16="http://schemas.microsoft.com/office/drawing/2014/main" id="{378FF4E5-6E17-13DD-7F34-35AE852E2724}"/>
              </a:ext>
            </a:extLst>
          </p:cNvPr>
          <p:cNvSpPr>
            <a:spLocks noGrp="1"/>
          </p:cNvSpPr>
          <p:nvPr>
            <p:ph idx="1"/>
          </p:nvPr>
        </p:nvSpPr>
        <p:spPr>
          <a:xfrm>
            <a:off x="512989" y="1433325"/>
            <a:ext cx="11679011" cy="4351338"/>
          </a:xfrm>
        </p:spPr>
        <p:txBody>
          <a:bodyPr>
            <a:normAutofit/>
          </a:bodyPr>
          <a:lstStyle/>
          <a:p>
            <a:endParaRPr lang="en-US" dirty="0"/>
          </a:p>
          <a:p>
            <a:r>
              <a:rPr lang="en-US" dirty="0"/>
              <a:t>Assistance using the platform Galaxy for bioinformatics</a:t>
            </a:r>
          </a:p>
          <a:p>
            <a:endParaRPr lang="en-US" dirty="0"/>
          </a:p>
          <a:p>
            <a:endParaRPr lang="en-US" dirty="0"/>
          </a:p>
          <a:p>
            <a:r>
              <a:rPr lang="en-US" dirty="0"/>
              <a:t>Assistance creating and developing data-management plan (DMP)</a:t>
            </a:r>
          </a:p>
          <a:p>
            <a:endParaRPr lang="en-US" dirty="0"/>
          </a:p>
          <a:p>
            <a:endParaRPr lang="en-US" dirty="0"/>
          </a:p>
          <a:p>
            <a:r>
              <a:rPr lang="en-US" dirty="0"/>
              <a:t>Providing courses on bioinformatics and omics data analysis</a:t>
            </a:r>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964270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C0A73-66AD-1DEE-2964-9624ADDC8860}"/>
              </a:ext>
            </a:extLst>
          </p:cNvPr>
          <p:cNvSpPr>
            <a:spLocks noGrp="1"/>
          </p:cNvSpPr>
          <p:nvPr>
            <p:ph type="title"/>
          </p:nvPr>
        </p:nvSpPr>
        <p:spPr>
          <a:xfrm>
            <a:off x="838200" y="22225"/>
            <a:ext cx="10515600" cy="1325563"/>
          </a:xfrm>
        </p:spPr>
        <p:txBody>
          <a:bodyPr/>
          <a:lstStyle/>
          <a:p>
            <a:pPr algn="ctr"/>
            <a:r>
              <a:rPr lang="en-US" dirty="0"/>
              <a:t>ELIXIR-NMBU </a:t>
            </a:r>
            <a:r>
              <a:rPr lang="en-US" b="1" dirty="0">
                <a:solidFill>
                  <a:srgbClr val="FFC000"/>
                </a:solidFill>
              </a:rPr>
              <a:t>cannot</a:t>
            </a:r>
            <a:r>
              <a:rPr lang="en-US" b="1" dirty="0"/>
              <a:t> </a:t>
            </a:r>
            <a:r>
              <a:rPr lang="en-US" dirty="0"/>
              <a:t>help with</a:t>
            </a:r>
          </a:p>
        </p:txBody>
      </p:sp>
      <p:sp>
        <p:nvSpPr>
          <p:cNvPr id="3" name="Content Placeholder 2">
            <a:extLst>
              <a:ext uri="{FF2B5EF4-FFF2-40B4-BE49-F238E27FC236}">
                <a16:creationId xmlns:a16="http://schemas.microsoft.com/office/drawing/2014/main" id="{378FF4E5-6E17-13DD-7F34-35AE852E2724}"/>
              </a:ext>
            </a:extLst>
          </p:cNvPr>
          <p:cNvSpPr>
            <a:spLocks noGrp="1"/>
          </p:cNvSpPr>
          <p:nvPr>
            <p:ph idx="1"/>
          </p:nvPr>
        </p:nvSpPr>
        <p:spPr>
          <a:xfrm>
            <a:off x="838200" y="1802720"/>
            <a:ext cx="11679011" cy="4351338"/>
          </a:xfrm>
        </p:spPr>
        <p:txBody>
          <a:bodyPr>
            <a:normAutofit/>
          </a:bodyPr>
          <a:lstStyle/>
          <a:p>
            <a:r>
              <a:rPr lang="en-US" dirty="0"/>
              <a:t>Installing software in the Sigma2 servers</a:t>
            </a:r>
          </a:p>
          <a:p>
            <a:endParaRPr lang="en-US" dirty="0"/>
          </a:p>
          <a:p>
            <a:r>
              <a:rPr lang="en-US" dirty="0"/>
              <a:t>Provide HPC computational power</a:t>
            </a:r>
          </a:p>
          <a:p>
            <a:endParaRPr lang="en-US" dirty="0"/>
          </a:p>
          <a:p>
            <a:r>
              <a:rPr lang="en-US" dirty="0"/>
              <a:t>Copy or move data between Orion and Sigma2 servers</a:t>
            </a:r>
          </a:p>
          <a:p>
            <a:endParaRPr lang="en-US" dirty="0"/>
          </a:p>
          <a:p>
            <a:endParaRPr lang="en-US" dirty="0"/>
          </a:p>
          <a:p>
            <a:r>
              <a:rPr lang="en-US" dirty="0"/>
              <a:t>Helping with the printer when is not working </a:t>
            </a:r>
          </a:p>
          <a:p>
            <a:endParaRPr lang="en-US" dirty="0"/>
          </a:p>
          <a:p>
            <a:endParaRPr lang="en-US" dirty="0"/>
          </a:p>
          <a:p>
            <a:endParaRPr lang="en-US" dirty="0"/>
          </a:p>
          <a:p>
            <a:pPr marL="0" indent="0">
              <a:buNone/>
            </a:pPr>
            <a:endParaRPr lang="en-US" dirty="0"/>
          </a:p>
          <a:p>
            <a:endParaRPr lang="en-US" dirty="0"/>
          </a:p>
        </p:txBody>
      </p:sp>
      <p:sp>
        <p:nvSpPr>
          <p:cNvPr id="9" name="TextBox 8">
            <a:extLst>
              <a:ext uri="{FF2B5EF4-FFF2-40B4-BE49-F238E27FC236}">
                <a16:creationId xmlns:a16="http://schemas.microsoft.com/office/drawing/2014/main" id="{A41E493D-63C8-5922-9512-0056833B9C61}"/>
              </a:ext>
            </a:extLst>
          </p:cNvPr>
          <p:cNvSpPr txBox="1"/>
          <p:nvPr/>
        </p:nvSpPr>
        <p:spPr>
          <a:xfrm>
            <a:off x="3103679" y="867500"/>
            <a:ext cx="7637689" cy="584775"/>
          </a:xfrm>
          <a:prstGeom prst="rect">
            <a:avLst/>
          </a:prstGeom>
          <a:noFill/>
        </p:spPr>
        <p:txBody>
          <a:bodyPr wrap="square" rtlCol="0">
            <a:spAutoFit/>
          </a:bodyPr>
          <a:lstStyle/>
          <a:p>
            <a:r>
              <a:rPr lang="en-US" sz="3200" dirty="0">
                <a:solidFill>
                  <a:schemeClr val="accent2">
                    <a:lumMod val="75000"/>
                  </a:schemeClr>
                </a:solidFill>
              </a:rPr>
              <a:t>     NB! ELIXIR-Norway is not IT</a:t>
            </a:r>
          </a:p>
        </p:txBody>
      </p:sp>
      <p:pic>
        <p:nvPicPr>
          <p:cNvPr id="5" name="Graphic 4" descr="Angel face outline outline">
            <a:extLst>
              <a:ext uri="{FF2B5EF4-FFF2-40B4-BE49-F238E27FC236}">
                <a16:creationId xmlns:a16="http://schemas.microsoft.com/office/drawing/2014/main" id="{95A00B38-1F43-B736-C92C-4AA890A6F62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51346" y="5202919"/>
            <a:ext cx="914400" cy="914400"/>
          </a:xfrm>
          <a:prstGeom prst="rect">
            <a:avLst/>
          </a:prstGeom>
        </p:spPr>
      </p:pic>
    </p:spTree>
    <p:extLst>
      <p:ext uri="{BB962C8B-B14F-4D97-AF65-F5344CB8AC3E}">
        <p14:creationId xmlns:p14="http://schemas.microsoft.com/office/powerpoint/2010/main" val="3190048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BEAC2-FF24-8AE2-FBE0-EBEC1DEF94E8}"/>
              </a:ext>
            </a:extLst>
          </p:cNvPr>
          <p:cNvSpPr>
            <a:spLocks noGrp="1"/>
          </p:cNvSpPr>
          <p:nvPr>
            <p:ph type="title"/>
          </p:nvPr>
        </p:nvSpPr>
        <p:spPr/>
        <p:txBody>
          <a:bodyPr>
            <a:normAutofit/>
          </a:bodyPr>
          <a:lstStyle/>
          <a:p>
            <a:pPr algn="ctr"/>
            <a:r>
              <a:rPr lang="en-US" sz="4000"/>
              <a:t>What if do I need assistance for more than 2 days?</a:t>
            </a:r>
          </a:p>
        </p:txBody>
      </p:sp>
      <p:sp>
        <p:nvSpPr>
          <p:cNvPr id="4" name="TextBox 3">
            <a:extLst>
              <a:ext uri="{FF2B5EF4-FFF2-40B4-BE49-F238E27FC236}">
                <a16:creationId xmlns:a16="http://schemas.microsoft.com/office/drawing/2014/main" id="{2CDE8F19-C0A4-9783-4466-EFDDE1E66F7D}"/>
              </a:ext>
            </a:extLst>
          </p:cNvPr>
          <p:cNvSpPr txBox="1"/>
          <p:nvPr/>
        </p:nvSpPr>
        <p:spPr>
          <a:xfrm>
            <a:off x="729685" y="1873616"/>
            <a:ext cx="10945244" cy="1200329"/>
          </a:xfrm>
          <a:prstGeom prst="rect">
            <a:avLst/>
          </a:prstGeom>
          <a:noFill/>
        </p:spPr>
        <p:txBody>
          <a:bodyPr wrap="square">
            <a:spAutoFit/>
          </a:bodyPr>
          <a:lstStyle/>
          <a:p>
            <a:pPr marL="342900" indent="-342900" algn="just">
              <a:buFont typeface="Arial" panose="020B0604020202020204" pitchFamily="34" charset="0"/>
              <a:buChar char="•"/>
            </a:pPr>
            <a:r>
              <a:rPr lang="en-US" sz="2400" b="1" i="0">
                <a:solidFill>
                  <a:srgbClr val="F36B17"/>
                </a:solidFill>
                <a:effectLst/>
                <a:latin typeface="Lato" panose="020F0502020204030203" pitchFamily="34" charset="0"/>
              </a:rPr>
              <a:t>Projects that require an effort beyond technical assistance/consultancy may be set up as a research collaboration</a:t>
            </a:r>
            <a:r>
              <a:rPr lang="en-US" sz="2400" b="1">
                <a:solidFill>
                  <a:srgbClr val="F36B17"/>
                </a:solidFill>
                <a:latin typeface="Lato" panose="020F0502020204030203" pitchFamily="34" charset="0"/>
              </a:rPr>
              <a:t> (</a:t>
            </a:r>
            <a:r>
              <a:rPr lang="en-US" sz="2400" b="1" i="0">
                <a:solidFill>
                  <a:srgbClr val="F36B17"/>
                </a:solidFill>
                <a:effectLst/>
                <a:latin typeface="Lato" panose="020F0502020204030203" pitchFamily="34" charset="0"/>
              </a:rPr>
              <a:t>e.g. by providing funding for a percentage of the position of a helpdesk member).</a:t>
            </a:r>
            <a:endParaRPr lang="en-US" sz="2400" b="1">
              <a:solidFill>
                <a:srgbClr val="F36B17"/>
              </a:solidFill>
            </a:endParaRPr>
          </a:p>
        </p:txBody>
      </p:sp>
      <p:pic>
        <p:nvPicPr>
          <p:cNvPr id="6148" name="Picture 4" descr="How To Promote Your Collaboration Software: 6 Effective Tactics ...">
            <a:extLst>
              <a:ext uri="{FF2B5EF4-FFF2-40B4-BE49-F238E27FC236}">
                <a16:creationId xmlns:a16="http://schemas.microsoft.com/office/drawing/2014/main" id="{4B93590F-C8D2-2A95-D503-CBA75D8CAE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8589" y="3679602"/>
            <a:ext cx="5264604" cy="28132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0091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A76E05-C54A-D64A-C606-86E99ED30598}"/>
              </a:ext>
            </a:extLst>
          </p:cNvPr>
          <p:cNvSpPr>
            <a:spLocks noGrp="1"/>
          </p:cNvSpPr>
          <p:nvPr>
            <p:ph idx="1"/>
          </p:nvPr>
        </p:nvSpPr>
        <p:spPr>
          <a:xfrm>
            <a:off x="485613" y="1298683"/>
            <a:ext cx="10515600" cy="4351338"/>
          </a:xfrm>
        </p:spPr>
        <p:txBody>
          <a:bodyPr>
            <a:normAutofit/>
          </a:bodyPr>
          <a:lstStyle/>
          <a:p>
            <a:pPr marL="0" indent="0" algn="ctr">
              <a:buNone/>
            </a:pPr>
            <a:r>
              <a:rPr lang="en-US"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If your research group is generating life science data using molecular analyses and ‘omics technologies, we exist to support your current and future efforts in data management, data storage, and data analyses.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n-US" sz="4000" dirty="0"/>
          </a:p>
        </p:txBody>
      </p:sp>
      <p:sp>
        <p:nvSpPr>
          <p:cNvPr id="4" name="Google Shape;111;p9">
            <a:extLst>
              <a:ext uri="{FF2B5EF4-FFF2-40B4-BE49-F238E27FC236}">
                <a16:creationId xmlns:a16="http://schemas.microsoft.com/office/drawing/2014/main" id="{F04B1848-1AAA-53BF-A0AB-B6086D22A2A1}"/>
              </a:ext>
            </a:extLst>
          </p:cNvPr>
          <p:cNvSpPr txBox="1">
            <a:spLocks noGrp="1"/>
          </p:cNvSpPr>
          <p:nvPr>
            <p:ph type="title"/>
          </p:nvPr>
        </p:nvSpPr>
        <p:spPr>
          <a:xfrm>
            <a:off x="719403" y="332656"/>
            <a:ext cx="10871200" cy="648072"/>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400"/>
              <a:buNone/>
            </a:pPr>
            <a:r>
              <a:rPr lang="en-GB" sz="3800" i="1" dirty="0">
                <a:solidFill>
                  <a:srgbClr val="F57E20"/>
                </a:solidFill>
              </a:rPr>
              <a:t>ELIXIR-How to get help?</a:t>
            </a:r>
            <a:endParaRPr lang="en-GB" dirty="0"/>
          </a:p>
        </p:txBody>
      </p:sp>
      <p:sp>
        <p:nvSpPr>
          <p:cNvPr id="6" name="TextBox 5">
            <a:extLst>
              <a:ext uri="{FF2B5EF4-FFF2-40B4-BE49-F238E27FC236}">
                <a16:creationId xmlns:a16="http://schemas.microsoft.com/office/drawing/2014/main" id="{873983D1-36C8-ECA9-912E-55A7F8C849EC}"/>
              </a:ext>
            </a:extLst>
          </p:cNvPr>
          <p:cNvSpPr txBox="1"/>
          <p:nvPr/>
        </p:nvSpPr>
        <p:spPr>
          <a:xfrm>
            <a:off x="1587607" y="3474352"/>
            <a:ext cx="9287539" cy="646331"/>
          </a:xfrm>
          <a:prstGeom prst="rect">
            <a:avLst/>
          </a:prstGeom>
          <a:noFill/>
        </p:spPr>
        <p:txBody>
          <a:bodyPr wrap="square">
            <a:spAutoFit/>
          </a:bodyPr>
          <a:lstStyle/>
          <a:p>
            <a:r>
              <a:rPr lang="en-US" sz="3600" b="1" i="0" dirty="0">
                <a:solidFill>
                  <a:srgbClr val="000000"/>
                </a:solidFill>
                <a:effectLst/>
                <a:latin typeface="Lato" panose="020F0502020204030203" pitchFamily="34" charset="0"/>
              </a:rPr>
              <a:t>Contact us by email at </a:t>
            </a:r>
            <a:r>
              <a:rPr lang="en-US" sz="3600" b="1" i="0" u="none" strike="noStrike" dirty="0">
                <a:solidFill>
                  <a:srgbClr val="047EAA"/>
                </a:solidFill>
                <a:effectLst/>
                <a:latin typeface="Lato" panose="020F0502020204030203" pitchFamily="34" charset="0"/>
                <a:hlinkClick r:id="rId2"/>
              </a:rPr>
              <a:t>support@elixir.no</a:t>
            </a:r>
            <a:endParaRPr lang="en-US" sz="3600" dirty="0"/>
          </a:p>
        </p:txBody>
      </p:sp>
      <p:pic>
        <p:nvPicPr>
          <p:cNvPr id="8" name="Picture 7">
            <a:extLst>
              <a:ext uri="{FF2B5EF4-FFF2-40B4-BE49-F238E27FC236}">
                <a16:creationId xmlns:a16="http://schemas.microsoft.com/office/drawing/2014/main" id="{1BA5D043-4416-C0C2-2C08-F64B44FE11E8}"/>
              </a:ext>
            </a:extLst>
          </p:cNvPr>
          <p:cNvPicPr>
            <a:picLocks noChangeAspect="1"/>
          </p:cNvPicPr>
          <p:nvPr/>
        </p:nvPicPr>
        <p:blipFill>
          <a:blip r:embed="rId3"/>
          <a:stretch>
            <a:fillRect/>
          </a:stretch>
        </p:blipFill>
        <p:spPr>
          <a:xfrm>
            <a:off x="46495" y="5650021"/>
            <a:ext cx="3373727" cy="1100354"/>
          </a:xfrm>
          <a:prstGeom prst="rect">
            <a:avLst/>
          </a:prstGeom>
        </p:spPr>
      </p:pic>
      <p:pic>
        <p:nvPicPr>
          <p:cNvPr id="10" name="Picture 9">
            <a:extLst>
              <a:ext uri="{FF2B5EF4-FFF2-40B4-BE49-F238E27FC236}">
                <a16:creationId xmlns:a16="http://schemas.microsoft.com/office/drawing/2014/main" id="{EC33BA9A-043A-6407-A154-CBD9CB115C25}"/>
              </a:ext>
            </a:extLst>
          </p:cNvPr>
          <p:cNvPicPr>
            <a:picLocks noChangeAspect="1"/>
          </p:cNvPicPr>
          <p:nvPr/>
        </p:nvPicPr>
        <p:blipFill>
          <a:blip r:embed="rId4"/>
          <a:stretch>
            <a:fillRect/>
          </a:stretch>
        </p:blipFill>
        <p:spPr>
          <a:xfrm>
            <a:off x="10003523" y="4629399"/>
            <a:ext cx="2188477" cy="2188477"/>
          </a:xfrm>
          <a:prstGeom prst="rect">
            <a:avLst/>
          </a:prstGeom>
        </p:spPr>
      </p:pic>
      <p:sp>
        <p:nvSpPr>
          <p:cNvPr id="11" name="TextBox 10">
            <a:extLst>
              <a:ext uri="{FF2B5EF4-FFF2-40B4-BE49-F238E27FC236}">
                <a16:creationId xmlns:a16="http://schemas.microsoft.com/office/drawing/2014/main" id="{09B0C887-99E7-27F8-A908-B8EB8A8769D2}"/>
              </a:ext>
            </a:extLst>
          </p:cNvPr>
          <p:cNvSpPr txBox="1"/>
          <p:nvPr/>
        </p:nvSpPr>
        <p:spPr>
          <a:xfrm>
            <a:off x="10585342" y="4444733"/>
            <a:ext cx="1243739" cy="369332"/>
          </a:xfrm>
          <a:prstGeom prst="rect">
            <a:avLst/>
          </a:prstGeom>
          <a:noFill/>
        </p:spPr>
        <p:txBody>
          <a:bodyPr wrap="square" rtlCol="0">
            <a:spAutoFit/>
          </a:bodyPr>
          <a:lstStyle/>
          <a:p>
            <a:r>
              <a:rPr lang="en-US">
                <a:latin typeface="Comic Sans MS" panose="030F0702030302020204" pitchFamily="66" charset="0"/>
              </a:rPr>
              <a:t>Scan me</a:t>
            </a:r>
          </a:p>
        </p:txBody>
      </p:sp>
    </p:spTree>
    <p:extLst>
      <p:ext uri="{BB962C8B-B14F-4D97-AF65-F5344CB8AC3E}">
        <p14:creationId xmlns:p14="http://schemas.microsoft.com/office/powerpoint/2010/main" val="41167854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4CF8B-12E7-2AB4-44E8-9AEF926396BF}"/>
              </a:ext>
            </a:extLst>
          </p:cNvPr>
          <p:cNvSpPr>
            <a:spLocks noGrp="1"/>
          </p:cNvSpPr>
          <p:nvPr>
            <p:ph type="title"/>
          </p:nvPr>
        </p:nvSpPr>
        <p:spPr>
          <a:xfrm>
            <a:off x="288931" y="-111517"/>
            <a:ext cx="10515600" cy="1325563"/>
          </a:xfrm>
        </p:spPr>
        <p:txBody>
          <a:bodyPr/>
          <a:lstStyle/>
          <a:p>
            <a:r>
              <a:rPr lang="en-US" dirty="0">
                <a:solidFill>
                  <a:srgbClr val="F36B17"/>
                </a:solidFill>
              </a:rPr>
              <a:t>Where else can ELIXIR Norway help?</a:t>
            </a:r>
          </a:p>
        </p:txBody>
      </p:sp>
      <p:sp>
        <p:nvSpPr>
          <p:cNvPr id="11" name="TextBox 10">
            <a:extLst>
              <a:ext uri="{FF2B5EF4-FFF2-40B4-BE49-F238E27FC236}">
                <a16:creationId xmlns:a16="http://schemas.microsoft.com/office/drawing/2014/main" id="{B8DFB782-96FB-05EA-BBE8-8528B052A8A2}"/>
              </a:ext>
            </a:extLst>
          </p:cNvPr>
          <p:cNvSpPr txBox="1"/>
          <p:nvPr/>
        </p:nvSpPr>
        <p:spPr>
          <a:xfrm>
            <a:off x="3875695" y="3064768"/>
            <a:ext cx="765979" cy="369332"/>
          </a:xfrm>
          <a:prstGeom prst="rect">
            <a:avLst/>
          </a:prstGeom>
          <a:noFill/>
        </p:spPr>
        <p:txBody>
          <a:bodyPr wrap="none" rtlCol="0">
            <a:spAutoFit/>
          </a:bodyPr>
          <a:lstStyle/>
          <a:p>
            <a:r>
              <a:rPr lang="en-NO" dirty="0"/>
              <a:t>DATA</a:t>
            </a:r>
          </a:p>
        </p:txBody>
      </p:sp>
      <p:pic>
        <p:nvPicPr>
          <p:cNvPr id="12" name="Picture 11">
            <a:extLst>
              <a:ext uri="{FF2B5EF4-FFF2-40B4-BE49-F238E27FC236}">
                <a16:creationId xmlns:a16="http://schemas.microsoft.com/office/drawing/2014/main" id="{C6E26CA0-A9FD-A1C4-AD11-A243F4C32A93}"/>
              </a:ext>
            </a:extLst>
          </p:cNvPr>
          <p:cNvPicPr>
            <a:picLocks noChangeAspect="1"/>
          </p:cNvPicPr>
          <p:nvPr/>
        </p:nvPicPr>
        <p:blipFill>
          <a:blip r:embed="rId2">
            <a:lum/>
            <a:alphaModFix/>
          </a:blip>
          <a:srcRect/>
          <a:stretch>
            <a:fillRect/>
          </a:stretch>
        </p:blipFill>
        <p:spPr>
          <a:xfrm>
            <a:off x="6645046" y="2220048"/>
            <a:ext cx="688134" cy="788907"/>
          </a:xfrm>
          <a:prstGeom prst="rect">
            <a:avLst/>
          </a:prstGeom>
          <a:noFill/>
          <a:ln>
            <a:noFill/>
          </a:ln>
        </p:spPr>
      </p:pic>
      <p:pic>
        <p:nvPicPr>
          <p:cNvPr id="13" name="Picture 12">
            <a:extLst>
              <a:ext uri="{FF2B5EF4-FFF2-40B4-BE49-F238E27FC236}">
                <a16:creationId xmlns:a16="http://schemas.microsoft.com/office/drawing/2014/main" id="{115C94C7-3456-2C71-D43E-1765264C0330}"/>
              </a:ext>
            </a:extLst>
          </p:cNvPr>
          <p:cNvPicPr>
            <a:picLocks noChangeAspect="1"/>
          </p:cNvPicPr>
          <p:nvPr/>
        </p:nvPicPr>
        <p:blipFill>
          <a:blip r:embed="rId3">
            <a:lum/>
            <a:alphaModFix/>
          </a:blip>
          <a:srcRect/>
          <a:stretch>
            <a:fillRect/>
          </a:stretch>
        </p:blipFill>
        <p:spPr>
          <a:xfrm>
            <a:off x="3807963" y="4102904"/>
            <a:ext cx="788907" cy="788907"/>
          </a:xfrm>
          <a:prstGeom prst="rect">
            <a:avLst/>
          </a:prstGeom>
          <a:noFill/>
          <a:ln>
            <a:noFill/>
          </a:ln>
        </p:spPr>
      </p:pic>
      <p:pic>
        <p:nvPicPr>
          <p:cNvPr id="14" name="Picture 8" descr="Free Dna Icon of Colored Outline style - Available in SVG, PNG, EPS, AI &amp;amp;  Icon fonts">
            <a:extLst>
              <a:ext uri="{FF2B5EF4-FFF2-40B4-BE49-F238E27FC236}">
                <a16:creationId xmlns:a16="http://schemas.microsoft.com/office/drawing/2014/main" id="{8F2124F0-15E9-D28A-981B-D5C9817BD7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4334" y="1923489"/>
            <a:ext cx="1390062" cy="1390062"/>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B750ED83-AA68-52C6-824F-40201AB813FA}"/>
              </a:ext>
            </a:extLst>
          </p:cNvPr>
          <p:cNvSpPr txBox="1"/>
          <p:nvPr/>
        </p:nvSpPr>
        <p:spPr>
          <a:xfrm>
            <a:off x="3676719" y="5008080"/>
            <a:ext cx="1390061" cy="369332"/>
          </a:xfrm>
          <a:prstGeom prst="rect">
            <a:avLst/>
          </a:prstGeom>
          <a:noFill/>
        </p:spPr>
        <p:txBody>
          <a:bodyPr wrap="none" rtlCol="0">
            <a:spAutoFit/>
          </a:bodyPr>
          <a:lstStyle/>
          <a:p>
            <a:r>
              <a:rPr lang="en-NO" dirty="0"/>
              <a:t>METADATA</a:t>
            </a:r>
          </a:p>
        </p:txBody>
      </p:sp>
      <p:sp>
        <p:nvSpPr>
          <p:cNvPr id="16" name="TextBox 15">
            <a:extLst>
              <a:ext uri="{FF2B5EF4-FFF2-40B4-BE49-F238E27FC236}">
                <a16:creationId xmlns:a16="http://schemas.microsoft.com/office/drawing/2014/main" id="{F84CE5EE-4AF0-7C13-EC89-4475B450864A}"/>
              </a:ext>
            </a:extLst>
          </p:cNvPr>
          <p:cNvSpPr txBox="1"/>
          <p:nvPr/>
        </p:nvSpPr>
        <p:spPr>
          <a:xfrm>
            <a:off x="6255917" y="3068039"/>
            <a:ext cx="1941685" cy="369332"/>
          </a:xfrm>
          <a:prstGeom prst="rect">
            <a:avLst/>
          </a:prstGeom>
          <a:noFill/>
        </p:spPr>
        <p:txBody>
          <a:bodyPr wrap="none" rtlCol="0">
            <a:spAutoFit/>
          </a:bodyPr>
          <a:lstStyle/>
          <a:p>
            <a:r>
              <a:rPr lang="en-NO" dirty="0"/>
              <a:t>DATA STORAGE</a:t>
            </a:r>
          </a:p>
        </p:txBody>
      </p:sp>
      <p:pic>
        <p:nvPicPr>
          <p:cNvPr id="17" name="Picture 16">
            <a:extLst>
              <a:ext uri="{FF2B5EF4-FFF2-40B4-BE49-F238E27FC236}">
                <a16:creationId xmlns:a16="http://schemas.microsoft.com/office/drawing/2014/main" id="{14C91883-D231-CBC9-C62F-62F85479C98D}"/>
              </a:ext>
            </a:extLst>
          </p:cNvPr>
          <p:cNvPicPr>
            <a:picLocks noChangeAspect="1"/>
          </p:cNvPicPr>
          <p:nvPr/>
        </p:nvPicPr>
        <p:blipFill>
          <a:blip r:embed="rId5">
            <a:lum/>
            <a:alphaModFix/>
          </a:blip>
          <a:srcRect/>
          <a:stretch>
            <a:fillRect/>
          </a:stretch>
        </p:blipFill>
        <p:spPr>
          <a:xfrm>
            <a:off x="1595058" y="3313697"/>
            <a:ext cx="629529" cy="749938"/>
          </a:xfrm>
          <a:prstGeom prst="rect">
            <a:avLst/>
          </a:prstGeom>
          <a:noFill/>
          <a:ln>
            <a:noFill/>
          </a:ln>
        </p:spPr>
      </p:pic>
      <p:pic>
        <p:nvPicPr>
          <p:cNvPr id="18" name="Picture 10" descr="Big Data Icon Png - Quantum Computing">
            <a:extLst>
              <a:ext uri="{FF2B5EF4-FFF2-40B4-BE49-F238E27FC236}">
                <a16:creationId xmlns:a16="http://schemas.microsoft.com/office/drawing/2014/main" id="{7A8D7D17-1605-5FCC-B5F1-0821740A096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9635681" y="3313697"/>
            <a:ext cx="688132" cy="688132"/>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2" descr="New standards coming for ISAOs -- FCW">
            <a:extLst>
              <a:ext uri="{FF2B5EF4-FFF2-40B4-BE49-F238E27FC236}">
                <a16:creationId xmlns:a16="http://schemas.microsoft.com/office/drawing/2014/main" id="{61CE849B-E923-DC27-7924-BE6FC6C7D96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50653" y="3996727"/>
            <a:ext cx="1011767" cy="1011767"/>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B0ADBC59-ECDA-8742-0289-38488FAD62B6}"/>
              </a:ext>
            </a:extLst>
          </p:cNvPr>
          <p:cNvSpPr txBox="1"/>
          <p:nvPr/>
        </p:nvSpPr>
        <p:spPr>
          <a:xfrm>
            <a:off x="1257403" y="4302003"/>
            <a:ext cx="1685077" cy="369332"/>
          </a:xfrm>
          <a:prstGeom prst="rect">
            <a:avLst/>
          </a:prstGeom>
          <a:noFill/>
        </p:spPr>
        <p:txBody>
          <a:bodyPr wrap="none" rtlCol="0">
            <a:spAutoFit/>
          </a:bodyPr>
          <a:lstStyle/>
          <a:p>
            <a:r>
              <a:rPr lang="en-NO" dirty="0"/>
              <a:t>EXPERIMENT</a:t>
            </a:r>
          </a:p>
        </p:txBody>
      </p:sp>
      <p:sp>
        <p:nvSpPr>
          <p:cNvPr id="21" name="TextBox 20">
            <a:extLst>
              <a:ext uri="{FF2B5EF4-FFF2-40B4-BE49-F238E27FC236}">
                <a16:creationId xmlns:a16="http://schemas.microsoft.com/office/drawing/2014/main" id="{FD87B923-A0E7-6077-134A-21E8B05A93B3}"/>
              </a:ext>
            </a:extLst>
          </p:cNvPr>
          <p:cNvSpPr txBox="1"/>
          <p:nvPr/>
        </p:nvSpPr>
        <p:spPr>
          <a:xfrm>
            <a:off x="6214969" y="5008080"/>
            <a:ext cx="1915974" cy="369332"/>
          </a:xfrm>
          <a:prstGeom prst="rect">
            <a:avLst/>
          </a:prstGeom>
          <a:noFill/>
        </p:spPr>
        <p:txBody>
          <a:bodyPr wrap="none" rtlCol="0">
            <a:spAutoFit/>
          </a:bodyPr>
          <a:lstStyle/>
          <a:p>
            <a:r>
              <a:rPr lang="en-NO" dirty="0"/>
              <a:t>DATA ANALYSIS</a:t>
            </a:r>
          </a:p>
        </p:txBody>
      </p:sp>
      <p:sp>
        <p:nvSpPr>
          <p:cNvPr id="22" name="TextBox 21">
            <a:extLst>
              <a:ext uri="{FF2B5EF4-FFF2-40B4-BE49-F238E27FC236}">
                <a16:creationId xmlns:a16="http://schemas.microsoft.com/office/drawing/2014/main" id="{DB4D6797-8A89-5E7F-6B78-5F3F63166600}"/>
              </a:ext>
            </a:extLst>
          </p:cNvPr>
          <p:cNvSpPr txBox="1"/>
          <p:nvPr/>
        </p:nvSpPr>
        <p:spPr>
          <a:xfrm>
            <a:off x="9062543" y="4302003"/>
            <a:ext cx="2240806" cy="369332"/>
          </a:xfrm>
          <a:prstGeom prst="rect">
            <a:avLst/>
          </a:prstGeom>
          <a:noFill/>
        </p:spPr>
        <p:txBody>
          <a:bodyPr wrap="none" rtlCol="0">
            <a:spAutoFit/>
          </a:bodyPr>
          <a:lstStyle/>
          <a:p>
            <a:r>
              <a:rPr lang="en-NO" dirty="0"/>
              <a:t>DATA DEPOSITION</a:t>
            </a:r>
          </a:p>
        </p:txBody>
      </p:sp>
      <p:sp>
        <p:nvSpPr>
          <p:cNvPr id="23" name="Straight Connector 22">
            <a:extLst>
              <a:ext uri="{FF2B5EF4-FFF2-40B4-BE49-F238E27FC236}">
                <a16:creationId xmlns:a16="http://schemas.microsoft.com/office/drawing/2014/main" id="{5C509EA8-4E69-166D-2D1C-15F43A215F11}"/>
              </a:ext>
            </a:extLst>
          </p:cNvPr>
          <p:cNvSpPr/>
          <p:nvPr/>
        </p:nvSpPr>
        <p:spPr>
          <a:xfrm>
            <a:off x="2387094" y="3688666"/>
            <a:ext cx="871633" cy="0"/>
          </a:xfrm>
          <a:prstGeom prst="line">
            <a:avLst/>
          </a:prstGeom>
          <a:noFill/>
          <a:ln w="36000">
            <a:solidFill>
              <a:srgbClr val="000000"/>
            </a:solidFill>
            <a:prstDash val="solid"/>
            <a:tailEnd type="arrow"/>
          </a:ln>
        </p:spPr>
        <p:txBody>
          <a:bodyPr vert="horz" wrap="none" lIns="108000" tIns="63000" rIns="108000" bIns="63000" anchor="ctr" anchorCtr="0" compatLnSpc="0"/>
          <a:lstStyle/>
          <a:p>
            <a:pPr marL="0" marR="0" lvl="0" indent="0" rtl="0" hangingPunct="0">
              <a:lnSpc>
                <a:spcPct val="100000"/>
              </a:lnSpc>
              <a:spcBef>
                <a:spcPts val="0"/>
              </a:spcBef>
              <a:spcAft>
                <a:spcPts val="0"/>
              </a:spcAft>
              <a:buNone/>
              <a:tabLst/>
            </a:pPr>
            <a:endParaRPr lang="en-GB" sz="1800" b="0" i="0" u="none" strike="noStrike" kern="1200" cap="none">
              <a:ln>
                <a:noFill/>
              </a:ln>
              <a:latin typeface="Liberation Sans" pitchFamily="18"/>
              <a:ea typeface="Droid Sans Fallback" pitchFamily="2"/>
              <a:cs typeface="FreeSans" pitchFamily="2"/>
            </a:endParaRPr>
          </a:p>
        </p:txBody>
      </p:sp>
      <p:sp>
        <p:nvSpPr>
          <p:cNvPr id="24" name="Straight Connector 23">
            <a:extLst>
              <a:ext uri="{FF2B5EF4-FFF2-40B4-BE49-F238E27FC236}">
                <a16:creationId xmlns:a16="http://schemas.microsoft.com/office/drawing/2014/main" id="{CDE77380-C4CA-A9FA-1012-2431E162201F}"/>
              </a:ext>
            </a:extLst>
          </p:cNvPr>
          <p:cNvSpPr/>
          <p:nvPr/>
        </p:nvSpPr>
        <p:spPr>
          <a:xfrm>
            <a:off x="4846647" y="3688666"/>
            <a:ext cx="871633" cy="0"/>
          </a:xfrm>
          <a:prstGeom prst="line">
            <a:avLst/>
          </a:prstGeom>
          <a:noFill/>
          <a:ln w="36000">
            <a:solidFill>
              <a:srgbClr val="000000"/>
            </a:solidFill>
            <a:prstDash val="solid"/>
            <a:tailEnd type="arrow"/>
          </a:ln>
        </p:spPr>
        <p:txBody>
          <a:bodyPr vert="horz" wrap="none" lIns="108000" tIns="63000" rIns="108000" bIns="63000" anchor="ctr" anchorCtr="0" compatLnSpc="0"/>
          <a:lstStyle/>
          <a:p>
            <a:pPr marL="0" marR="0" lvl="0" indent="0" rtl="0" hangingPunct="0">
              <a:lnSpc>
                <a:spcPct val="100000"/>
              </a:lnSpc>
              <a:spcBef>
                <a:spcPts val="0"/>
              </a:spcBef>
              <a:spcAft>
                <a:spcPts val="0"/>
              </a:spcAft>
              <a:buNone/>
              <a:tabLst/>
            </a:pPr>
            <a:endParaRPr lang="en-GB" sz="1800" b="0" i="0" u="none" strike="noStrike" kern="1200" cap="none">
              <a:ln>
                <a:noFill/>
              </a:ln>
              <a:latin typeface="Liberation Sans" pitchFamily="18"/>
              <a:ea typeface="Droid Sans Fallback" pitchFamily="2"/>
              <a:cs typeface="FreeSans" pitchFamily="2"/>
            </a:endParaRPr>
          </a:p>
        </p:txBody>
      </p:sp>
      <p:sp>
        <p:nvSpPr>
          <p:cNvPr id="25" name="Straight Connector 24">
            <a:extLst>
              <a:ext uri="{FF2B5EF4-FFF2-40B4-BE49-F238E27FC236}">
                <a16:creationId xmlns:a16="http://schemas.microsoft.com/office/drawing/2014/main" id="{8F13C08E-7100-4B35-92D3-9E6F181FDC9C}"/>
              </a:ext>
            </a:extLst>
          </p:cNvPr>
          <p:cNvSpPr/>
          <p:nvPr/>
        </p:nvSpPr>
        <p:spPr>
          <a:xfrm>
            <a:off x="8338862" y="3688666"/>
            <a:ext cx="871633" cy="0"/>
          </a:xfrm>
          <a:prstGeom prst="line">
            <a:avLst/>
          </a:prstGeom>
          <a:noFill/>
          <a:ln w="36000">
            <a:solidFill>
              <a:srgbClr val="000000"/>
            </a:solidFill>
            <a:prstDash val="solid"/>
            <a:tailEnd type="arrow"/>
          </a:ln>
        </p:spPr>
        <p:txBody>
          <a:bodyPr vert="horz" wrap="none" lIns="108000" tIns="63000" rIns="108000" bIns="63000" anchor="ctr" anchorCtr="0" compatLnSpc="0"/>
          <a:lstStyle/>
          <a:p>
            <a:pPr marL="0" marR="0" lvl="0" indent="0" rtl="0" hangingPunct="0">
              <a:lnSpc>
                <a:spcPct val="100000"/>
              </a:lnSpc>
              <a:spcBef>
                <a:spcPts val="0"/>
              </a:spcBef>
              <a:spcAft>
                <a:spcPts val="0"/>
              </a:spcAft>
              <a:buNone/>
              <a:tabLst/>
            </a:pPr>
            <a:endParaRPr lang="en-GB" sz="1800" b="0" i="0" u="none" strike="noStrike" kern="1200" cap="none">
              <a:ln>
                <a:noFill/>
              </a:ln>
              <a:latin typeface="Liberation Sans" pitchFamily="18"/>
              <a:ea typeface="Droid Sans Fallback" pitchFamily="2"/>
              <a:cs typeface="FreeSans" pitchFamily="2"/>
            </a:endParaRPr>
          </a:p>
        </p:txBody>
      </p:sp>
      <p:sp>
        <p:nvSpPr>
          <p:cNvPr id="26" name="Straight Connector 25">
            <a:extLst>
              <a:ext uri="{FF2B5EF4-FFF2-40B4-BE49-F238E27FC236}">
                <a16:creationId xmlns:a16="http://schemas.microsoft.com/office/drawing/2014/main" id="{741FC48E-766C-2418-BB0A-49997CC42A59}"/>
              </a:ext>
            </a:extLst>
          </p:cNvPr>
          <p:cNvSpPr/>
          <p:nvPr/>
        </p:nvSpPr>
        <p:spPr>
          <a:xfrm>
            <a:off x="7172956" y="3376966"/>
            <a:ext cx="0" cy="542035"/>
          </a:xfrm>
          <a:prstGeom prst="line">
            <a:avLst/>
          </a:prstGeom>
          <a:noFill/>
          <a:ln w="36000">
            <a:solidFill>
              <a:srgbClr val="000000"/>
            </a:solidFill>
            <a:prstDash val="solid"/>
            <a:tailEnd type="arrow"/>
          </a:ln>
        </p:spPr>
        <p:txBody>
          <a:bodyPr vert="horz" wrap="none" lIns="108000" tIns="63000" rIns="108000" bIns="63000" anchor="ctr" anchorCtr="0" compatLnSpc="0"/>
          <a:lstStyle/>
          <a:p>
            <a:pPr marL="0" marR="0" lvl="0" indent="0" rtl="0" hangingPunct="0">
              <a:lnSpc>
                <a:spcPct val="100000"/>
              </a:lnSpc>
              <a:spcBef>
                <a:spcPts val="0"/>
              </a:spcBef>
              <a:spcAft>
                <a:spcPts val="0"/>
              </a:spcAft>
              <a:buNone/>
              <a:tabLst/>
            </a:pPr>
            <a:endParaRPr lang="en-GB" sz="1800" b="0" i="0" u="none" strike="noStrike" kern="1200" cap="none">
              <a:ln>
                <a:noFill/>
              </a:ln>
              <a:latin typeface="Liberation Sans" pitchFamily="18"/>
              <a:ea typeface="Droid Sans Fallback" pitchFamily="2"/>
              <a:cs typeface="FreeSans" pitchFamily="2"/>
            </a:endParaRPr>
          </a:p>
        </p:txBody>
      </p:sp>
      <p:sp>
        <p:nvSpPr>
          <p:cNvPr id="27" name="Straight Connector 26">
            <a:extLst>
              <a:ext uri="{FF2B5EF4-FFF2-40B4-BE49-F238E27FC236}">
                <a16:creationId xmlns:a16="http://schemas.microsoft.com/office/drawing/2014/main" id="{66ABC51A-EC99-35F9-F53D-044D100526DD}"/>
              </a:ext>
            </a:extLst>
          </p:cNvPr>
          <p:cNvSpPr/>
          <p:nvPr/>
        </p:nvSpPr>
        <p:spPr>
          <a:xfrm flipV="1">
            <a:off x="6812219" y="3377327"/>
            <a:ext cx="0" cy="530986"/>
          </a:xfrm>
          <a:prstGeom prst="line">
            <a:avLst/>
          </a:prstGeom>
          <a:noFill/>
          <a:ln w="36000">
            <a:solidFill>
              <a:srgbClr val="000000"/>
            </a:solidFill>
            <a:prstDash val="solid"/>
            <a:tailEnd type="arrow"/>
          </a:ln>
        </p:spPr>
        <p:txBody>
          <a:bodyPr vert="horz" wrap="none" lIns="108000" tIns="63000" rIns="108000" bIns="63000" anchor="ctr" anchorCtr="0" compatLnSpc="0"/>
          <a:lstStyle/>
          <a:p>
            <a:pPr marL="0" marR="0" lvl="0" indent="0" rtl="0" hangingPunct="0">
              <a:lnSpc>
                <a:spcPct val="100000"/>
              </a:lnSpc>
              <a:spcBef>
                <a:spcPts val="0"/>
              </a:spcBef>
              <a:spcAft>
                <a:spcPts val="0"/>
              </a:spcAft>
              <a:buNone/>
              <a:tabLst/>
            </a:pPr>
            <a:endParaRPr lang="en-GB" sz="1800" b="0" i="0" u="none" strike="noStrike" kern="1200" cap="none">
              <a:ln>
                <a:noFill/>
              </a:ln>
              <a:latin typeface="Liberation Sans" pitchFamily="18"/>
              <a:ea typeface="Droid Sans Fallback" pitchFamily="2"/>
              <a:cs typeface="FreeSans" pitchFamily="2"/>
            </a:endParaRPr>
          </a:p>
        </p:txBody>
      </p:sp>
      <p:sp>
        <p:nvSpPr>
          <p:cNvPr id="28" name="Straight Connector 27">
            <a:extLst>
              <a:ext uri="{FF2B5EF4-FFF2-40B4-BE49-F238E27FC236}">
                <a16:creationId xmlns:a16="http://schemas.microsoft.com/office/drawing/2014/main" id="{0076D9B6-7F70-9620-BFA5-569581AECF47}"/>
              </a:ext>
            </a:extLst>
          </p:cNvPr>
          <p:cNvSpPr/>
          <p:nvPr/>
        </p:nvSpPr>
        <p:spPr>
          <a:xfrm>
            <a:off x="4371749" y="3417648"/>
            <a:ext cx="0" cy="542035"/>
          </a:xfrm>
          <a:prstGeom prst="line">
            <a:avLst/>
          </a:prstGeom>
          <a:noFill/>
          <a:ln w="36000">
            <a:solidFill>
              <a:srgbClr val="000000"/>
            </a:solidFill>
            <a:prstDash val="solid"/>
            <a:tailEnd type="arrow"/>
          </a:ln>
        </p:spPr>
        <p:txBody>
          <a:bodyPr vert="horz" wrap="none" lIns="108000" tIns="63000" rIns="108000" bIns="63000" anchor="ctr" anchorCtr="0" compatLnSpc="0"/>
          <a:lstStyle/>
          <a:p>
            <a:pPr marL="0" marR="0" lvl="0" indent="0" rtl="0" hangingPunct="0">
              <a:lnSpc>
                <a:spcPct val="100000"/>
              </a:lnSpc>
              <a:spcBef>
                <a:spcPts val="0"/>
              </a:spcBef>
              <a:spcAft>
                <a:spcPts val="0"/>
              </a:spcAft>
              <a:buNone/>
              <a:tabLst/>
            </a:pPr>
            <a:endParaRPr lang="en-GB" sz="1800" b="0" i="0" u="none" strike="noStrike" kern="1200" cap="none">
              <a:ln>
                <a:noFill/>
              </a:ln>
              <a:latin typeface="Liberation Sans" pitchFamily="18"/>
              <a:ea typeface="Droid Sans Fallback" pitchFamily="2"/>
              <a:cs typeface="FreeSans" pitchFamily="2"/>
            </a:endParaRPr>
          </a:p>
        </p:txBody>
      </p:sp>
      <p:sp>
        <p:nvSpPr>
          <p:cNvPr id="29" name="Straight Connector 28">
            <a:extLst>
              <a:ext uri="{FF2B5EF4-FFF2-40B4-BE49-F238E27FC236}">
                <a16:creationId xmlns:a16="http://schemas.microsoft.com/office/drawing/2014/main" id="{FC1CE706-58DA-BD3A-883B-201528246508}"/>
              </a:ext>
            </a:extLst>
          </p:cNvPr>
          <p:cNvSpPr/>
          <p:nvPr/>
        </p:nvSpPr>
        <p:spPr>
          <a:xfrm flipV="1">
            <a:off x="4011012" y="3418009"/>
            <a:ext cx="0" cy="530986"/>
          </a:xfrm>
          <a:prstGeom prst="line">
            <a:avLst/>
          </a:prstGeom>
          <a:noFill/>
          <a:ln w="36000">
            <a:solidFill>
              <a:srgbClr val="000000"/>
            </a:solidFill>
            <a:prstDash val="solid"/>
            <a:tailEnd type="arrow"/>
          </a:ln>
        </p:spPr>
        <p:txBody>
          <a:bodyPr vert="horz" wrap="none" lIns="108000" tIns="63000" rIns="108000" bIns="63000" anchor="ctr" anchorCtr="0" compatLnSpc="0"/>
          <a:lstStyle/>
          <a:p>
            <a:pPr marL="0" marR="0" lvl="0" indent="0" rtl="0" hangingPunct="0">
              <a:lnSpc>
                <a:spcPct val="100000"/>
              </a:lnSpc>
              <a:spcBef>
                <a:spcPts val="0"/>
              </a:spcBef>
              <a:spcAft>
                <a:spcPts val="0"/>
              </a:spcAft>
              <a:buNone/>
              <a:tabLst/>
            </a:pPr>
            <a:endParaRPr lang="en-GB" sz="1800" b="0" i="0" u="none" strike="noStrike" kern="1200" cap="none">
              <a:ln>
                <a:noFill/>
              </a:ln>
              <a:latin typeface="Liberation Sans" pitchFamily="18"/>
              <a:ea typeface="Droid Sans Fallback" pitchFamily="2"/>
              <a:cs typeface="FreeSans" pitchFamily="2"/>
            </a:endParaRPr>
          </a:p>
        </p:txBody>
      </p:sp>
      <p:sp>
        <p:nvSpPr>
          <p:cNvPr id="30" name="Straight Connector 29">
            <a:extLst>
              <a:ext uri="{FF2B5EF4-FFF2-40B4-BE49-F238E27FC236}">
                <a16:creationId xmlns:a16="http://schemas.microsoft.com/office/drawing/2014/main" id="{B511BD4C-E2AD-5AEB-0875-350708421B8B}"/>
              </a:ext>
            </a:extLst>
          </p:cNvPr>
          <p:cNvSpPr/>
          <p:nvPr/>
        </p:nvSpPr>
        <p:spPr>
          <a:xfrm>
            <a:off x="1474005" y="5692538"/>
            <a:ext cx="7736490" cy="0"/>
          </a:xfrm>
          <a:prstGeom prst="line">
            <a:avLst/>
          </a:prstGeom>
          <a:noFill/>
          <a:ln w="36000">
            <a:solidFill>
              <a:srgbClr val="000000"/>
            </a:solidFill>
            <a:prstDash val="solid"/>
            <a:tailEnd type="arrow"/>
          </a:ln>
        </p:spPr>
        <p:txBody>
          <a:bodyPr vert="horz" wrap="none" lIns="108000" tIns="63000" rIns="108000" bIns="63000" anchor="ctr" anchorCtr="0" compatLnSpc="0"/>
          <a:lstStyle/>
          <a:p>
            <a:pPr marL="0" marR="0" lvl="0" indent="0" rtl="0" hangingPunct="0">
              <a:lnSpc>
                <a:spcPct val="100000"/>
              </a:lnSpc>
              <a:spcBef>
                <a:spcPts val="0"/>
              </a:spcBef>
              <a:spcAft>
                <a:spcPts val="0"/>
              </a:spcAft>
              <a:buNone/>
              <a:tabLst/>
            </a:pPr>
            <a:endParaRPr lang="en-GB" sz="1800" b="0" i="0" u="none" strike="noStrike" kern="1200" cap="none">
              <a:ln>
                <a:noFill/>
              </a:ln>
              <a:latin typeface="Liberation Sans" pitchFamily="18"/>
              <a:ea typeface="Droid Sans Fallback" pitchFamily="2"/>
              <a:cs typeface="FreeSans" pitchFamily="2"/>
            </a:endParaRPr>
          </a:p>
        </p:txBody>
      </p:sp>
      <p:sp>
        <p:nvSpPr>
          <p:cNvPr id="31" name="TextBox 30">
            <a:extLst>
              <a:ext uri="{FF2B5EF4-FFF2-40B4-BE49-F238E27FC236}">
                <a16:creationId xmlns:a16="http://schemas.microsoft.com/office/drawing/2014/main" id="{B54D7CF1-A6C4-3B6D-0137-41C4F003E3F4}"/>
              </a:ext>
            </a:extLst>
          </p:cNvPr>
          <p:cNvSpPr txBox="1"/>
          <p:nvPr/>
        </p:nvSpPr>
        <p:spPr>
          <a:xfrm>
            <a:off x="2957350" y="6074703"/>
            <a:ext cx="2520242" cy="307777"/>
          </a:xfrm>
          <a:prstGeom prst="rect">
            <a:avLst/>
          </a:prstGeom>
          <a:noFill/>
        </p:spPr>
        <p:txBody>
          <a:bodyPr wrap="none" rtlCol="0">
            <a:spAutoFit/>
          </a:bodyPr>
          <a:lstStyle/>
          <a:p>
            <a:r>
              <a:rPr lang="en-NO" dirty="0"/>
              <a:t>DATA MANAGEMENT PLAN</a:t>
            </a:r>
          </a:p>
        </p:txBody>
      </p:sp>
      <p:pic>
        <p:nvPicPr>
          <p:cNvPr id="32" name="Picture 31" descr="Shape&#10;&#10;Description automatically generated with low confidence">
            <a:extLst>
              <a:ext uri="{FF2B5EF4-FFF2-40B4-BE49-F238E27FC236}">
                <a16:creationId xmlns:a16="http://schemas.microsoft.com/office/drawing/2014/main" id="{0BBD6FFD-E3D1-5836-9233-E9CC8A0F6FBA}"/>
              </a:ext>
            </a:extLst>
          </p:cNvPr>
          <p:cNvPicPr>
            <a:picLocks noChangeAspect="1"/>
          </p:cNvPicPr>
          <p:nvPr/>
        </p:nvPicPr>
        <p:blipFill>
          <a:blip r:embed="rId8"/>
          <a:stretch>
            <a:fillRect/>
          </a:stretch>
        </p:blipFill>
        <p:spPr>
          <a:xfrm>
            <a:off x="5600656" y="5812406"/>
            <a:ext cx="832373" cy="832373"/>
          </a:xfrm>
          <a:prstGeom prst="rect">
            <a:avLst/>
          </a:prstGeom>
        </p:spPr>
      </p:pic>
      <p:pic>
        <p:nvPicPr>
          <p:cNvPr id="33" name="Google Shape;270;p66">
            <a:extLst>
              <a:ext uri="{FF2B5EF4-FFF2-40B4-BE49-F238E27FC236}">
                <a16:creationId xmlns:a16="http://schemas.microsoft.com/office/drawing/2014/main" id="{397BFE00-69C9-BB8D-2423-14AA527446D4}"/>
              </a:ext>
            </a:extLst>
          </p:cNvPr>
          <p:cNvPicPr preferRelativeResize="0"/>
          <p:nvPr/>
        </p:nvPicPr>
        <p:blipFill rotWithShape="1">
          <a:blip r:embed="rId9">
            <a:alphaModFix/>
          </a:blip>
          <a:srcRect/>
          <a:stretch/>
        </p:blipFill>
        <p:spPr>
          <a:xfrm>
            <a:off x="479293" y="1085533"/>
            <a:ext cx="736220" cy="759020"/>
          </a:xfrm>
          <a:prstGeom prst="rect">
            <a:avLst/>
          </a:prstGeom>
          <a:noFill/>
          <a:ln>
            <a:noFill/>
          </a:ln>
        </p:spPr>
      </p:pic>
      <p:sp>
        <p:nvSpPr>
          <p:cNvPr id="34" name="TextBox 33">
            <a:extLst>
              <a:ext uri="{FF2B5EF4-FFF2-40B4-BE49-F238E27FC236}">
                <a16:creationId xmlns:a16="http://schemas.microsoft.com/office/drawing/2014/main" id="{1EE4D8BF-E4F3-9C70-262C-929D9494A68A}"/>
              </a:ext>
            </a:extLst>
          </p:cNvPr>
          <p:cNvSpPr txBox="1"/>
          <p:nvPr/>
        </p:nvSpPr>
        <p:spPr>
          <a:xfrm>
            <a:off x="1346471" y="1178816"/>
            <a:ext cx="1693605" cy="646331"/>
          </a:xfrm>
          <a:prstGeom prst="rect">
            <a:avLst/>
          </a:prstGeom>
          <a:noFill/>
        </p:spPr>
        <p:txBody>
          <a:bodyPr wrap="none" rtlCol="0">
            <a:spAutoFit/>
          </a:bodyPr>
          <a:lstStyle/>
          <a:p>
            <a:pPr algn="ctr"/>
            <a:r>
              <a:rPr lang="en-NO" dirty="0"/>
              <a:t>IDEA</a:t>
            </a:r>
          </a:p>
          <a:p>
            <a:pPr algn="ctr"/>
            <a:r>
              <a:rPr lang="en-NO" dirty="0"/>
              <a:t>APPLICATION</a:t>
            </a:r>
          </a:p>
        </p:txBody>
      </p:sp>
      <p:pic>
        <p:nvPicPr>
          <p:cNvPr id="35" name="Google Shape;446;p77">
            <a:extLst>
              <a:ext uri="{FF2B5EF4-FFF2-40B4-BE49-F238E27FC236}">
                <a16:creationId xmlns:a16="http://schemas.microsoft.com/office/drawing/2014/main" id="{C581FDDA-2086-D922-AC37-0ECE3786D861}"/>
              </a:ext>
            </a:extLst>
          </p:cNvPr>
          <p:cNvPicPr preferRelativeResize="0"/>
          <p:nvPr/>
        </p:nvPicPr>
        <p:blipFill rotWithShape="1">
          <a:blip r:embed="rId3">
            <a:alphaModFix/>
          </a:blip>
          <a:srcRect/>
          <a:stretch/>
        </p:blipFill>
        <p:spPr>
          <a:xfrm>
            <a:off x="10945276" y="1109497"/>
            <a:ext cx="757514" cy="834582"/>
          </a:xfrm>
          <a:prstGeom prst="rect">
            <a:avLst/>
          </a:prstGeom>
          <a:noFill/>
          <a:ln>
            <a:noFill/>
          </a:ln>
        </p:spPr>
      </p:pic>
      <p:sp>
        <p:nvSpPr>
          <p:cNvPr id="36" name="TextBox 35">
            <a:extLst>
              <a:ext uri="{FF2B5EF4-FFF2-40B4-BE49-F238E27FC236}">
                <a16:creationId xmlns:a16="http://schemas.microsoft.com/office/drawing/2014/main" id="{66B86962-CFB4-0FE6-459D-13F3555C7B23}"/>
              </a:ext>
            </a:extLst>
          </p:cNvPr>
          <p:cNvSpPr txBox="1"/>
          <p:nvPr/>
        </p:nvSpPr>
        <p:spPr>
          <a:xfrm>
            <a:off x="8753110" y="1317315"/>
            <a:ext cx="2014206" cy="369332"/>
          </a:xfrm>
          <a:prstGeom prst="rect">
            <a:avLst/>
          </a:prstGeom>
          <a:noFill/>
        </p:spPr>
        <p:txBody>
          <a:bodyPr wrap="none" rtlCol="0">
            <a:spAutoFit/>
          </a:bodyPr>
          <a:lstStyle/>
          <a:p>
            <a:pPr algn="ctr"/>
            <a:r>
              <a:rPr lang="en-NO" dirty="0"/>
              <a:t>PUBLICATION(S)</a:t>
            </a:r>
          </a:p>
        </p:txBody>
      </p:sp>
      <p:sp>
        <p:nvSpPr>
          <p:cNvPr id="37" name="Straight Connector 36">
            <a:extLst>
              <a:ext uri="{FF2B5EF4-FFF2-40B4-BE49-F238E27FC236}">
                <a16:creationId xmlns:a16="http://schemas.microsoft.com/office/drawing/2014/main" id="{7FEBA966-96DE-578E-8A12-AF8012150C67}"/>
              </a:ext>
            </a:extLst>
          </p:cNvPr>
          <p:cNvSpPr/>
          <p:nvPr/>
        </p:nvSpPr>
        <p:spPr>
          <a:xfrm>
            <a:off x="3807963" y="1500692"/>
            <a:ext cx="3901879" cy="0"/>
          </a:xfrm>
          <a:prstGeom prst="line">
            <a:avLst/>
          </a:prstGeom>
          <a:noFill/>
          <a:ln w="36000">
            <a:solidFill>
              <a:srgbClr val="000000"/>
            </a:solidFill>
            <a:prstDash val="solid"/>
            <a:tailEnd type="arrow"/>
          </a:ln>
        </p:spPr>
        <p:txBody>
          <a:bodyPr vert="horz" wrap="none" lIns="108000" tIns="63000" rIns="108000" bIns="63000" anchor="ctr" anchorCtr="0" compatLnSpc="0"/>
          <a:lstStyle/>
          <a:p>
            <a:pPr marL="0" marR="0" lvl="0" indent="0" rtl="0" hangingPunct="0">
              <a:lnSpc>
                <a:spcPct val="100000"/>
              </a:lnSpc>
              <a:spcBef>
                <a:spcPts val="0"/>
              </a:spcBef>
              <a:spcAft>
                <a:spcPts val="0"/>
              </a:spcAft>
              <a:buNone/>
              <a:tabLst/>
            </a:pPr>
            <a:endParaRPr lang="en-GB" sz="1800" b="0" i="0" u="none" strike="noStrike" kern="1200" cap="none">
              <a:ln>
                <a:noFill/>
              </a:ln>
              <a:latin typeface="Liberation Sans" pitchFamily="18"/>
              <a:ea typeface="Droid Sans Fallback" pitchFamily="2"/>
              <a:cs typeface="FreeSans" pitchFamily="2"/>
            </a:endParaRPr>
          </a:p>
        </p:txBody>
      </p:sp>
      <p:sp>
        <p:nvSpPr>
          <p:cNvPr id="38" name="Google Shape;85;p1">
            <a:extLst>
              <a:ext uri="{FF2B5EF4-FFF2-40B4-BE49-F238E27FC236}">
                <a16:creationId xmlns:a16="http://schemas.microsoft.com/office/drawing/2014/main" id="{295859C7-045C-0AE7-05BE-621FEC4DF326}"/>
              </a:ext>
            </a:extLst>
          </p:cNvPr>
          <p:cNvSpPr/>
          <p:nvPr/>
        </p:nvSpPr>
        <p:spPr>
          <a:xfrm>
            <a:off x="241113" y="980728"/>
            <a:ext cx="11709774" cy="1031148"/>
          </a:xfrm>
          <a:prstGeom prst="rect">
            <a:avLst/>
          </a:prstGeom>
          <a:no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9" name="Google Shape;85;p1">
            <a:extLst>
              <a:ext uri="{FF2B5EF4-FFF2-40B4-BE49-F238E27FC236}">
                <a16:creationId xmlns:a16="http://schemas.microsoft.com/office/drawing/2014/main" id="{259D0DE5-A9B2-1AA8-78E7-4F6404DC5389}"/>
              </a:ext>
            </a:extLst>
          </p:cNvPr>
          <p:cNvSpPr/>
          <p:nvPr/>
        </p:nvSpPr>
        <p:spPr>
          <a:xfrm>
            <a:off x="241113" y="2144619"/>
            <a:ext cx="11709774" cy="3165756"/>
          </a:xfrm>
          <a:prstGeom prst="rect">
            <a:avLst/>
          </a:prstGeom>
          <a:no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0" name="Google Shape;85;p1">
            <a:extLst>
              <a:ext uri="{FF2B5EF4-FFF2-40B4-BE49-F238E27FC236}">
                <a16:creationId xmlns:a16="http://schemas.microsoft.com/office/drawing/2014/main" id="{25745C4C-F643-464E-A474-E5B23ABF2C9E}"/>
              </a:ext>
            </a:extLst>
          </p:cNvPr>
          <p:cNvSpPr/>
          <p:nvPr/>
        </p:nvSpPr>
        <p:spPr>
          <a:xfrm>
            <a:off x="241113" y="5524261"/>
            <a:ext cx="9725847" cy="1182634"/>
          </a:xfrm>
          <a:prstGeom prst="rect">
            <a:avLst/>
          </a:prstGeom>
          <a:no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41" name="Picture 40" descr="A picture containing text, clipart&#10;&#10;Description automatically generated">
            <a:extLst>
              <a:ext uri="{FF2B5EF4-FFF2-40B4-BE49-F238E27FC236}">
                <a16:creationId xmlns:a16="http://schemas.microsoft.com/office/drawing/2014/main" id="{7E9BD11D-CDC7-B0A5-90EC-65096C35489F}"/>
              </a:ext>
            </a:extLst>
          </p:cNvPr>
          <p:cNvPicPr>
            <a:picLocks noChangeAspect="1"/>
          </p:cNvPicPr>
          <p:nvPr/>
        </p:nvPicPr>
        <p:blipFill>
          <a:blip r:embed="rId10"/>
          <a:stretch>
            <a:fillRect/>
          </a:stretch>
        </p:blipFill>
        <p:spPr>
          <a:xfrm>
            <a:off x="6740290" y="5985057"/>
            <a:ext cx="1644259" cy="487067"/>
          </a:xfrm>
          <a:prstGeom prst="rect">
            <a:avLst/>
          </a:prstGeom>
        </p:spPr>
      </p:pic>
      <p:pic>
        <p:nvPicPr>
          <p:cNvPr id="42" name="Picture 41">
            <a:extLst>
              <a:ext uri="{FF2B5EF4-FFF2-40B4-BE49-F238E27FC236}">
                <a16:creationId xmlns:a16="http://schemas.microsoft.com/office/drawing/2014/main" id="{14FD56C7-F675-E465-422B-BFC5A2E90AB7}"/>
              </a:ext>
            </a:extLst>
          </p:cNvPr>
          <p:cNvPicPr>
            <a:picLocks noChangeAspect="1"/>
          </p:cNvPicPr>
          <p:nvPr/>
        </p:nvPicPr>
        <p:blipFill>
          <a:blip r:embed="rId11">
            <a:lum/>
            <a:alphaModFix/>
          </a:blip>
          <a:srcRect/>
          <a:stretch>
            <a:fillRect/>
          </a:stretch>
        </p:blipFill>
        <p:spPr>
          <a:xfrm>
            <a:off x="7709842" y="2251403"/>
            <a:ext cx="3094689" cy="688111"/>
          </a:xfrm>
          <a:prstGeom prst="rect">
            <a:avLst/>
          </a:prstGeom>
          <a:noFill/>
          <a:ln>
            <a:noFill/>
          </a:ln>
        </p:spPr>
      </p:pic>
    </p:spTree>
    <p:extLst>
      <p:ext uri="{BB962C8B-B14F-4D97-AF65-F5344CB8AC3E}">
        <p14:creationId xmlns:p14="http://schemas.microsoft.com/office/powerpoint/2010/main" val="482806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8"/>
          <p:cNvSpPr txBox="1">
            <a:spLocks noGrp="1"/>
          </p:cNvSpPr>
          <p:nvPr>
            <p:ph type="subTitle" idx="1"/>
          </p:nvPr>
        </p:nvSpPr>
        <p:spPr>
          <a:xfrm>
            <a:off x="1736761" y="3429000"/>
            <a:ext cx="9709678" cy="1758820"/>
          </a:xfrm>
          <a:prstGeom prst="rect">
            <a:avLst/>
          </a:prstGeom>
          <a:noFill/>
          <a:ln>
            <a:noFill/>
          </a:ln>
        </p:spPr>
        <p:txBody>
          <a:bodyPr spcFirstLastPara="1" wrap="square" lIns="91425" tIns="45700" rIns="91425" bIns="45700" anchor="t" anchorCtr="0">
            <a:noAutofit/>
          </a:bodyPr>
          <a:lstStyle/>
          <a:p>
            <a:pPr marL="0" lvl="0" indent="0" algn="ctr" rtl="0">
              <a:lnSpc>
                <a:spcPct val="70000"/>
              </a:lnSpc>
              <a:spcBef>
                <a:spcPts val="0"/>
              </a:spcBef>
              <a:spcAft>
                <a:spcPts val="0"/>
              </a:spcAft>
              <a:buClr>
                <a:srgbClr val="F57E20"/>
              </a:buClr>
              <a:buSzPts val="5120"/>
              <a:buFont typeface="Corbel"/>
              <a:buNone/>
            </a:pPr>
            <a:r>
              <a:rPr lang="en-US" sz="4400" dirty="0">
                <a:solidFill>
                  <a:srgbClr val="F57E20"/>
                </a:solidFill>
              </a:rPr>
              <a:t>Do you need to storage/share large amount of data? </a:t>
            </a:r>
          </a:p>
          <a:p>
            <a:pPr marL="0" lvl="0" indent="0" algn="ctr" rtl="0">
              <a:lnSpc>
                <a:spcPct val="70000"/>
              </a:lnSpc>
              <a:spcBef>
                <a:spcPts val="0"/>
              </a:spcBef>
              <a:spcAft>
                <a:spcPts val="0"/>
              </a:spcAft>
              <a:buClr>
                <a:srgbClr val="F57E20"/>
              </a:buClr>
              <a:buSzPts val="5120"/>
              <a:buFont typeface="Corbel"/>
              <a:buNone/>
            </a:pPr>
            <a:endParaRPr lang="en-US" sz="3600" dirty="0">
              <a:solidFill>
                <a:srgbClr val="F57E20"/>
              </a:solidFill>
            </a:endParaRPr>
          </a:p>
          <a:p>
            <a:pPr marL="0" lvl="0" indent="0" algn="ctr" rtl="0">
              <a:lnSpc>
                <a:spcPct val="70000"/>
              </a:lnSpc>
              <a:spcBef>
                <a:spcPts val="0"/>
              </a:spcBef>
              <a:spcAft>
                <a:spcPts val="0"/>
              </a:spcAft>
              <a:buClr>
                <a:srgbClr val="F57E20"/>
              </a:buClr>
              <a:buSzPts val="5120"/>
              <a:buFont typeface="Corbel"/>
              <a:buNone/>
            </a:pPr>
            <a:r>
              <a:rPr lang="en-US" sz="3600" dirty="0">
                <a:solidFill>
                  <a:srgbClr val="F57E20"/>
                </a:solidFill>
              </a:rPr>
              <a:t>Get up to10Tb space in </a:t>
            </a:r>
            <a:r>
              <a:rPr lang="en-US" sz="3600" dirty="0" err="1">
                <a:solidFill>
                  <a:srgbClr val="F57E20"/>
                </a:solidFill>
              </a:rPr>
              <a:t>NeLS</a:t>
            </a:r>
            <a:endParaRPr lang="en-US" sz="1400" dirty="0">
              <a:solidFill>
                <a:srgbClr val="003F41"/>
              </a:solidFill>
            </a:endParaRPr>
          </a:p>
          <a:p>
            <a:pPr marL="0" lvl="0" indent="0" algn="ctr" rtl="0">
              <a:lnSpc>
                <a:spcPct val="70000"/>
              </a:lnSpc>
              <a:spcBef>
                <a:spcPts val="0"/>
              </a:spcBef>
              <a:spcAft>
                <a:spcPts val="0"/>
              </a:spcAft>
              <a:buClr>
                <a:srgbClr val="F57E20"/>
              </a:buClr>
              <a:buSzPts val="5120"/>
              <a:buFont typeface="Corbel"/>
              <a:buNone/>
            </a:pPr>
            <a:endParaRPr lang="en-US" sz="1400" b="1" dirty="0">
              <a:solidFill>
                <a:srgbClr val="003F41"/>
              </a:solidFill>
            </a:endParaRPr>
          </a:p>
          <a:p>
            <a:pPr marL="0" lvl="0" indent="0" algn="ctr" rtl="0">
              <a:lnSpc>
                <a:spcPct val="70000"/>
              </a:lnSpc>
              <a:spcBef>
                <a:spcPts val="0"/>
              </a:spcBef>
              <a:spcAft>
                <a:spcPts val="0"/>
              </a:spcAft>
              <a:buClr>
                <a:srgbClr val="F57E20"/>
              </a:buClr>
              <a:buSzPts val="5120"/>
              <a:buFont typeface="Corbel"/>
              <a:buNone/>
            </a:pPr>
            <a:endParaRPr lang="en-US" sz="1400" b="1" dirty="0">
              <a:solidFill>
                <a:srgbClr val="003F41"/>
              </a:solidFill>
            </a:endParaRPr>
          </a:p>
          <a:p>
            <a:pPr marL="0" lvl="0" indent="0" algn="ctr" rtl="0">
              <a:lnSpc>
                <a:spcPct val="70000"/>
              </a:lnSpc>
              <a:spcBef>
                <a:spcPts val="0"/>
              </a:spcBef>
              <a:spcAft>
                <a:spcPts val="0"/>
              </a:spcAft>
              <a:buClr>
                <a:srgbClr val="F57E20"/>
              </a:buClr>
              <a:buSzPts val="5120"/>
              <a:buFont typeface="Corbel"/>
              <a:buNone/>
            </a:pPr>
            <a:endParaRPr lang="en-US" sz="1400" b="1" dirty="0">
              <a:solidFill>
                <a:srgbClr val="003F41"/>
              </a:solidFill>
            </a:endParaRPr>
          </a:p>
          <a:p>
            <a:pPr marL="0" lvl="0" indent="0" algn="ctr" rtl="0">
              <a:lnSpc>
                <a:spcPct val="70000"/>
              </a:lnSpc>
              <a:spcBef>
                <a:spcPts val="0"/>
              </a:spcBef>
              <a:spcAft>
                <a:spcPts val="0"/>
              </a:spcAft>
              <a:buClr>
                <a:srgbClr val="F57E20"/>
              </a:buClr>
              <a:buSzPts val="5120"/>
              <a:buFont typeface="Corbel"/>
              <a:buNone/>
            </a:pPr>
            <a:endParaRPr lang="en-US" sz="1800" b="1" dirty="0">
              <a:solidFill>
                <a:srgbClr val="003F41"/>
              </a:solidFill>
            </a:endParaRPr>
          </a:p>
          <a:p>
            <a:pPr marL="0" lvl="0" indent="0" algn="ctr" rtl="0">
              <a:lnSpc>
                <a:spcPct val="70000"/>
              </a:lnSpc>
              <a:spcBef>
                <a:spcPts val="0"/>
              </a:spcBef>
              <a:spcAft>
                <a:spcPts val="0"/>
              </a:spcAft>
              <a:buClr>
                <a:srgbClr val="F57E20"/>
              </a:buClr>
              <a:buSzPts val="5120"/>
              <a:buFont typeface="Corbel"/>
              <a:buNone/>
            </a:pPr>
            <a:r>
              <a:rPr lang="en-US" sz="1800" b="1" dirty="0">
                <a:solidFill>
                  <a:srgbClr val="003F41"/>
                </a:solidFill>
              </a:rPr>
              <a:t>Arturo Vera Ponce de Leon</a:t>
            </a:r>
            <a:endParaRPr sz="1600" dirty="0"/>
          </a:p>
          <a:p>
            <a:pPr marL="0" lvl="0" indent="0" algn="ctr" rtl="0">
              <a:lnSpc>
                <a:spcPct val="70000"/>
              </a:lnSpc>
              <a:spcBef>
                <a:spcPts val="448"/>
              </a:spcBef>
              <a:spcAft>
                <a:spcPts val="0"/>
              </a:spcAft>
              <a:buClr>
                <a:srgbClr val="003F41"/>
              </a:buClr>
              <a:buSzPts val="2240"/>
              <a:buFont typeface="Corbel"/>
              <a:buNone/>
            </a:pPr>
            <a:r>
              <a:rPr lang="en-GB" sz="1800" b="1" i="1" dirty="0">
                <a:solidFill>
                  <a:srgbClr val="003F41"/>
                </a:solidFill>
                <a:latin typeface="Corbel"/>
                <a:ea typeface="Corbel"/>
                <a:cs typeface="Corbel"/>
                <a:sym typeface="Corbel"/>
              </a:rPr>
              <a:t>ELIXIR Norway</a:t>
            </a:r>
            <a:endParaRPr lang="en-GB" sz="1800" b="1" dirty="0">
              <a:solidFill>
                <a:srgbClr val="003F41"/>
              </a:solidFill>
              <a:latin typeface="Corbel"/>
              <a:ea typeface="Corbel"/>
              <a:cs typeface="Corbel"/>
              <a:sym typeface="Corbel"/>
            </a:endParaRPr>
          </a:p>
          <a:p>
            <a:pPr marL="0" lvl="0" indent="0" algn="ctr" rtl="0">
              <a:lnSpc>
                <a:spcPct val="70000"/>
              </a:lnSpc>
              <a:spcBef>
                <a:spcPts val="448"/>
              </a:spcBef>
              <a:spcAft>
                <a:spcPts val="0"/>
              </a:spcAft>
              <a:buClr>
                <a:srgbClr val="003F41"/>
              </a:buClr>
              <a:buSzPts val="2240"/>
              <a:buFont typeface="Corbel"/>
              <a:buNone/>
            </a:pPr>
            <a:r>
              <a:rPr lang="en-GB" sz="1800" b="1" dirty="0">
                <a:solidFill>
                  <a:srgbClr val="003F41"/>
                </a:solidFill>
                <a:latin typeface="Corbel"/>
                <a:ea typeface="Corbel"/>
                <a:cs typeface="Corbel"/>
                <a:sym typeface="Corbel"/>
              </a:rPr>
              <a:t>Centre for Integrative Genetics (CIGENE)</a:t>
            </a:r>
          </a:p>
          <a:p>
            <a:pPr marL="0" lvl="0" indent="0" algn="ctr" rtl="0">
              <a:lnSpc>
                <a:spcPct val="70000"/>
              </a:lnSpc>
              <a:spcBef>
                <a:spcPts val="448"/>
              </a:spcBef>
              <a:spcAft>
                <a:spcPts val="0"/>
              </a:spcAft>
              <a:buClr>
                <a:srgbClr val="003F41"/>
              </a:buClr>
              <a:buSzPts val="2240"/>
              <a:buFont typeface="Corbel"/>
              <a:buNone/>
            </a:pPr>
            <a:r>
              <a:rPr lang="en-GB" sz="1800" b="1" dirty="0">
                <a:solidFill>
                  <a:srgbClr val="003F41"/>
                </a:solidFill>
                <a:latin typeface="Corbel"/>
                <a:ea typeface="Corbel"/>
                <a:cs typeface="Corbel"/>
                <a:sym typeface="Corbel"/>
              </a:rPr>
              <a:t>Norwegian University of Life Sciences</a:t>
            </a:r>
          </a:p>
          <a:p>
            <a:pPr marL="0" lvl="0" indent="0" algn="l" rtl="0">
              <a:lnSpc>
                <a:spcPct val="70000"/>
              </a:lnSpc>
              <a:spcBef>
                <a:spcPts val="1600"/>
              </a:spcBef>
              <a:spcAft>
                <a:spcPts val="0"/>
              </a:spcAft>
              <a:buClr>
                <a:schemeClr val="dk1"/>
              </a:buClr>
              <a:buSzPts val="2040"/>
              <a:buFont typeface="Corbel"/>
              <a:buNone/>
            </a:pPr>
            <a:endParaRPr lang="en-GB" sz="1400" dirty="0">
              <a:solidFill>
                <a:srgbClr val="003F41"/>
              </a:solidFill>
              <a:latin typeface="Corbel"/>
              <a:ea typeface="Corbel"/>
              <a:cs typeface="Corbel"/>
              <a:sym typeface="Corbel"/>
            </a:endParaRPr>
          </a:p>
          <a:p>
            <a:pPr marL="0" lvl="0" indent="0" algn="ctr" rtl="0">
              <a:lnSpc>
                <a:spcPct val="70000"/>
              </a:lnSpc>
              <a:spcBef>
                <a:spcPts val="1000"/>
              </a:spcBef>
              <a:spcAft>
                <a:spcPts val="0"/>
              </a:spcAft>
              <a:buClr>
                <a:schemeClr val="dk1"/>
              </a:buClr>
              <a:buSzPts val="2040"/>
              <a:buFont typeface="Corbel"/>
              <a:buNone/>
            </a:pPr>
            <a:endParaRPr sz="1400" dirty="0">
              <a:latin typeface="Corbel"/>
              <a:ea typeface="Corbel"/>
              <a:cs typeface="Corbel"/>
              <a:sym typeface="Corbe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1F58279-4571-0A3B-7EA3-904344656A33}"/>
              </a:ext>
            </a:extLst>
          </p:cNvPr>
          <p:cNvSpPr txBox="1"/>
          <p:nvPr/>
        </p:nvSpPr>
        <p:spPr>
          <a:xfrm>
            <a:off x="169899" y="5107880"/>
            <a:ext cx="8199660" cy="1569660"/>
          </a:xfrm>
          <a:prstGeom prst="rect">
            <a:avLst/>
          </a:prstGeom>
          <a:noFill/>
        </p:spPr>
        <p:txBody>
          <a:bodyPr wrap="square">
            <a:spAutoFit/>
          </a:bodyPr>
          <a:lstStyle/>
          <a:p>
            <a:pPr algn="just" fontAlgn="base"/>
            <a:r>
              <a:rPr lang="en-US" sz="2400" b="0" i="0" dirty="0">
                <a:solidFill>
                  <a:srgbClr val="212529"/>
                </a:solidFill>
                <a:effectLst/>
                <a:highlight>
                  <a:srgbClr val="FFFFFF"/>
                </a:highlight>
                <a:latin typeface="-apple-system"/>
              </a:rPr>
              <a:t>The</a:t>
            </a:r>
            <a:r>
              <a:rPr lang="en-US" sz="2400" b="0" i="0" u="none" strike="noStrike" dirty="0">
                <a:solidFill>
                  <a:srgbClr val="047EAA"/>
                </a:solidFill>
                <a:effectLst/>
                <a:highlight>
                  <a:srgbClr val="FFFFFF"/>
                </a:highlight>
                <a:latin typeface="-apple-system"/>
                <a:hlinkClick r:id="rId2"/>
              </a:rPr>
              <a:t> Norwegian e-infrastructure for life sciences (</a:t>
            </a:r>
            <a:r>
              <a:rPr lang="en-US" sz="2400" b="0" i="0" u="none" strike="noStrike" dirty="0" err="1">
                <a:solidFill>
                  <a:srgbClr val="047EAA"/>
                </a:solidFill>
                <a:effectLst/>
                <a:highlight>
                  <a:srgbClr val="FFFFFF"/>
                </a:highlight>
                <a:latin typeface="-apple-system"/>
                <a:hlinkClick r:id="rId2"/>
              </a:rPr>
              <a:t>NeLS</a:t>
            </a:r>
            <a:r>
              <a:rPr lang="en-US" sz="2400" b="0" i="0" u="none" strike="noStrike" dirty="0">
                <a:solidFill>
                  <a:srgbClr val="047EAA"/>
                </a:solidFill>
                <a:effectLst/>
                <a:highlight>
                  <a:srgbClr val="FFFFFF"/>
                </a:highlight>
                <a:latin typeface="-apple-system"/>
                <a:hlinkClick r:id="rId2"/>
              </a:rPr>
              <a:t>)</a:t>
            </a:r>
            <a:r>
              <a:rPr lang="en-US" sz="2400" b="0" i="0" dirty="0">
                <a:solidFill>
                  <a:srgbClr val="212529"/>
                </a:solidFill>
                <a:effectLst/>
                <a:highlight>
                  <a:srgbClr val="FFFFFF"/>
                </a:highlight>
                <a:latin typeface="-apple-system"/>
              </a:rPr>
              <a:t>, </a:t>
            </a:r>
          </a:p>
          <a:p>
            <a:pPr algn="just" fontAlgn="base"/>
            <a:r>
              <a:rPr lang="en-US" sz="2400" b="0" i="0" dirty="0">
                <a:solidFill>
                  <a:srgbClr val="212529"/>
                </a:solidFill>
                <a:effectLst/>
                <a:highlight>
                  <a:srgbClr val="FFFFFF"/>
                </a:highlight>
                <a:latin typeface="-apple-system"/>
              </a:rPr>
              <a:t>is a unique national portal for sharing, analysis and </a:t>
            </a:r>
            <a:r>
              <a:rPr lang="en-US" sz="2400" b="1" i="0" dirty="0">
                <a:solidFill>
                  <a:srgbClr val="F36B17"/>
                </a:solidFill>
                <a:effectLst/>
                <a:highlight>
                  <a:srgbClr val="FFFFFF"/>
                </a:highlight>
                <a:latin typeface="-apple-system"/>
              </a:rPr>
              <a:t>midterm</a:t>
            </a:r>
            <a:r>
              <a:rPr lang="en-US" sz="2400" b="0" i="0" dirty="0">
                <a:solidFill>
                  <a:srgbClr val="212529"/>
                </a:solidFill>
                <a:effectLst/>
                <a:highlight>
                  <a:srgbClr val="FFFFFF"/>
                </a:highlight>
                <a:latin typeface="-apple-system"/>
              </a:rPr>
              <a:t> </a:t>
            </a:r>
            <a:r>
              <a:rPr lang="en-US" sz="2400" b="0" i="0" u="none" strike="noStrike" dirty="0">
                <a:solidFill>
                  <a:srgbClr val="047EAA"/>
                </a:solidFill>
                <a:effectLst/>
                <a:highlight>
                  <a:srgbClr val="FFFFFF"/>
                </a:highlight>
                <a:latin typeface="-apple-system"/>
                <a:hlinkClick r:id="rId3"/>
              </a:rPr>
              <a:t>storage</a:t>
            </a:r>
            <a:r>
              <a:rPr lang="en-US" sz="2400" b="0" i="0" dirty="0">
                <a:solidFill>
                  <a:srgbClr val="212529"/>
                </a:solidFill>
                <a:effectLst/>
                <a:highlight>
                  <a:srgbClr val="FFFFFF"/>
                </a:highlight>
                <a:latin typeface="-apple-system"/>
              </a:rPr>
              <a:t> (</a:t>
            </a:r>
            <a:r>
              <a:rPr lang="en-US" sz="2400" dirty="0">
                <a:solidFill>
                  <a:srgbClr val="F36B17"/>
                </a:solidFill>
                <a:highlight>
                  <a:srgbClr val="FFFFFF"/>
                </a:highlight>
                <a:latin typeface="-apple-system"/>
              </a:rPr>
              <a:t>up to 10Tb</a:t>
            </a:r>
            <a:r>
              <a:rPr lang="en-US" sz="2400" b="0" i="0" dirty="0">
                <a:solidFill>
                  <a:srgbClr val="212529"/>
                </a:solidFill>
                <a:effectLst/>
                <a:highlight>
                  <a:srgbClr val="FFFFFF"/>
                </a:highlight>
                <a:latin typeface="-apple-system"/>
              </a:rPr>
              <a:t>) of </a:t>
            </a:r>
            <a:r>
              <a:rPr lang="en-US" sz="2400" b="1" i="0" dirty="0">
                <a:solidFill>
                  <a:srgbClr val="212529"/>
                </a:solidFill>
                <a:effectLst/>
                <a:highlight>
                  <a:srgbClr val="FFFFFF"/>
                </a:highlight>
                <a:latin typeface="-apple-system"/>
              </a:rPr>
              <a:t>non-sensitive</a:t>
            </a:r>
            <a:r>
              <a:rPr lang="en-US" sz="2400" b="0" i="0" dirty="0">
                <a:solidFill>
                  <a:srgbClr val="212529"/>
                </a:solidFill>
                <a:effectLst/>
                <a:highlight>
                  <a:srgbClr val="FFFFFF"/>
                </a:highlight>
                <a:latin typeface="-apple-system"/>
              </a:rPr>
              <a:t> </a:t>
            </a:r>
            <a:r>
              <a:rPr lang="en-US" sz="2400" b="0" i="0" dirty="0">
                <a:solidFill>
                  <a:srgbClr val="00B050"/>
                </a:solidFill>
                <a:effectLst/>
                <a:highlight>
                  <a:srgbClr val="FFFFFF"/>
                </a:highlight>
                <a:latin typeface="-apple-system"/>
              </a:rPr>
              <a:t>molecular life science data</a:t>
            </a:r>
            <a:r>
              <a:rPr lang="en-US" sz="2400" b="0" i="0" dirty="0">
                <a:solidFill>
                  <a:srgbClr val="212529"/>
                </a:solidFill>
                <a:effectLst/>
                <a:highlight>
                  <a:srgbClr val="FFFFFF"/>
                </a:highlight>
                <a:latin typeface="-apple-system"/>
              </a:rPr>
              <a:t>. 			</a:t>
            </a:r>
            <a:endParaRPr lang="en-US" sz="2400" b="0" i="0" dirty="0">
              <a:solidFill>
                <a:srgbClr val="F36B17"/>
              </a:solidFill>
              <a:effectLst/>
              <a:highlight>
                <a:srgbClr val="FFFFFF"/>
              </a:highlight>
              <a:latin typeface="-apple-system"/>
            </a:endParaRPr>
          </a:p>
        </p:txBody>
      </p:sp>
      <p:cxnSp>
        <p:nvCxnSpPr>
          <p:cNvPr id="11" name="Connector: Elbow 10">
            <a:extLst>
              <a:ext uri="{FF2B5EF4-FFF2-40B4-BE49-F238E27FC236}">
                <a16:creationId xmlns:a16="http://schemas.microsoft.com/office/drawing/2014/main" id="{A12998A3-9C1F-F90F-FF79-79F59D9F3FAC}"/>
              </a:ext>
            </a:extLst>
          </p:cNvPr>
          <p:cNvCxnSpPr>
            <a:cxnSpLocks/>
            <a:stCxn id="3" idx="2"/>
            <a:endCxn id="7" idx="0"/>
          </p:cNvCxnSpPr>
          <p:nvPr/>
        </p:nvCxnSpPr>
        <p:spPr>
          <a:xfrm rot="5400000">
            <a:off x="5435340" y="2308394"/>
            <a:ext cx="1633876" cy="3965097"/>
          </a:xfrm>
          <a:prstGeom prst="bentConnector3">
            <a:avLst>
              <a:gd name="adj1" fmla="val 50000"/>
            </a:avLst>
          </a:prstGeom>
          <a:ln w="76200">
            <a:tailEnd type="triangle"/>
          </a:ln>
        </p:spPr>
        <p:style>
          <a:lnRef idx="2">
            <a:schemeClr val="accent2"/>
          </a:lnRef>
          <a:fillRef idx="0">
            <a:schemeClr val="accent2"/>
          </a:fillRef>
          <a:effectRef idx="1">
            <a:schemeClr val="accent2"/>
          </a:effectRef>
          <a:fontRef idx="minor">
            <a:schemeClr val="tx1"/>
          </a:fontRef>
        </p:style>
      </p:cxnSp>
      <p:pic>
        <p:nvPicPr>
          <p:cNvPr id="1028" name="Picture 4" descr="From File Cabinets to the Cloud: The Evolution of Data Storage Tech -  OurCrowd">
            <a:extLst>
              <a:ext uri="{FF2B5EF4-FFF2-40B4-BE49-F238E27FC236}">
                <a16:creationId xmlns:a16="http://schemas.microsoft.com/office/drawing/2014/main" id="{5E40A5DC-612C-90A4-60C4-EF9F0A0C01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5581" y="1599779"/>
            <a:ext cx="3574477" cy="218918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8D65C5C0-A40F-4623-1105-DA8B4E08FA9A}"/>
              </a:ext>
            </a:extLst>
          </p:cNvPr>
          <p:cNvPicPr>
            <a:picLocks noChangeAspect="1"/>
          </p:cNvPicPr>
          <p:nvPr/>
        </p:nvPicPr>
        <p:blipFill>
          <a:blip r:embed="rId5"/>
          <a:stretch>
            <a:fillRect/>
          </a:stretch>
        </p:blipFill>
        <p:spPr>
          <a:xfrm>
            <a:off x="4846911" y="257376"/>
            <a:ext cx="6775829" cy="3216628"/>
          </a:xfrm>
          <a:prstGeom prst="rect">
            <a:avLst/>
          </a:prstGeom>
        </p:spPr>
      </p:pic>
      <p:pic>
        <p:nvPicPr>
          <p:cNvPr id="6" name="Picture 5">
            <a:extLst>
              <a:ext uri="{FF2B5EF4-FFF2-40B4-BE49-F238E27FC236}">
                <a16:creationId xmlns:a16="http://schemas.microsoft.com/office/drawing/2014/main" id="{590AC02D-5F7E-BA0C-0BC2-8E8510C8EC9C}"/>
              </a:ext>
            </a:extLst>
          </p:cNvPr>
          <p:cNvPicPr>
            <a:picLocks noChangeAspect="1"/>
          </p:cNvPicPr>
          <p:nvPr/>
        </p:nvPicPr>
        <p:blipFill>
          <a:blip r:embed="rId6"/>
          <a:stretch>
            <a:fillRect/>
          </a:stretch>
        </p:blipFill>
        <p:spPr>
          <a:xfrm>
            <a:off x="0" y="0"/>
            <a:ext cx="3485513" cy="1416424"/>
          </a:xfrm>
          <a:prstGeom prst="rect">
            <a:avLst/>
          </a:prstGeom>
        </p:spPr>
      </p:pic>
    </p:spTree>
    <p:extLst>
      <p:ext uri="{BB962C8B-B14F-4D97-AF65-F5344CB8AC3E}">
        <p14:creationId xmlns:p14="http://schemas.microsoft.com/office/powerpoint/2010/main" val="3283684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8061B-F88B-EB6B-FB9B-40333AE16168}"/>
              </a:ext>
            </a:extLst>
          </p:cNvPr>
          <p:cNvSpPr>
            <a:spLocks noGrp="1"/>
          </p:cNvSpPr>
          <p:nvPr>
            <p:ph type="title"/>
          </p:nvPr>
        </p:nvSpPr>
        <p:spPr>
          <a:xfrm>
            <a:off x="838200" y="-129397"/>
            <a:ext cx="10515600" cy="1325563"/>
          </a:xfrm>
        </p:spPr>
        <p:txBody>
          <a:bodyPr/>
          <a:lstStyle/>
          <a:p>
            <a:pPr algn="ctr"/>
            <a:r>
              <a:rPr lang="en-US" dirty="0"/>
              <a:t>Login to </a:t>
            </a:r>
            <a:r>
              <a:rPr lang="en-US" dirty="0" err="1"/>
              <a:t>NeLS</a:t>
            </a:r>
            <a:r>
              <a:rPr lang="en-US" dirty="0"/>
              <a:t> using the </a:t>
            </a:r>
            <a:r>
              <a:rPr lang="en-US" dirty="0" err="1"/>
              <a:t>WebPortal</a:t>
            </a:r>
            <a:endParaRPr lang="en-US" dirty="0"/>
          </a:p>
        </p:txBody>
      </p:sp>
      <p:pic>
        <p:nvPicPr>
          <p:cNvPr id="10" name="Picture 9">
            <a:extLst>
              <a:ext uri="{FF2B5EF4-FFF2-40B4-BE49-F238E27FC236}">
                <a16:creationId xmlns:a16="http://schemas.microsoft.com/office/drawing/2014/main" id="{B47B4699-AF7F-3B18-39AA-5B1D7E3FCD33}"/>
              </a:ext>
            </a:extLst>
          </p:cNvPr>
          <p:cNvPicPr>
            <a:picLocks noChangeAspect="1"/>
          </p:cNvPicPr>
          <p:nvPr/>
        </p:nvPicPr>
        <p:blipFill>
          <a:blip r:embed="rId2"/>
          <a:stretch>
            <a:fillRect/>
          </a:stretch>
        </p:blipFill>
        <p:spPr>
          <a:xfrm>
            <a:off x="282871" y="1444270"/>
            <a:ext cx="9804558" cy="5040805"/>
          </a:xfrm>
          <a:prstGeom prst="rect">
            <a:avLst/>
          </a:prstGeom>
        </p:spPr>
      </p:pic>
      <p:pic>
        <p:nvPicPr>
          <p:cNvPr id="11" name="Picture 10">
            <a:extLst>
              <a:ext uri="{FF2B5EF4-FFF2-40B4-BE49-F238E27FC236}">
                <a16:creationId xmlns:a16="http://schemas.microsoft.com/office/drawing/2014/main" id="{BC79E50F-1818-CC92-8B78-663D064373CE}"/>
              </a:ext>
            </a:extLst>
          </p:cNvPr>
          <p:cNvPicPr>
            <a:picLocks noChangeAspect="1"/>
          </p:cNvPicPr>
          <p:nvPr/>
        </p:nvPicPr>
        <p:blipFill>
          <a:blip r:embed="rId3"/>
          <a:stretch>
            <a:fillRect/>
          </a:stretch>
        </p:blipFill>
        <p:spPr>
          <a:xfrm>
            <a:off x="98718" y="0"/>
            <a:ext cx="1163284" cy="783201"/>
          </a:xfrm>
          <a:prstGeom prst="rect">
            <a:avLst/>
          </a:prstGeom>
        </p:spPr>
      </p:pic>
      <p:sp>
        <p:nvSpPr>
          <p:cNvPr id="16" name="TextBox 15">
            <a:extLst>
              <a:ext uri="{FF2B5EF4-FFF2-40B4-BE49-F238E27FC236}">
                <a16:creationId xmlns:a16="http://schemas.microsoft.com/office/drawing/2014/main" id="{2DD6314C-7D7B-DD24-7776-D3452DD2FABE}"/>
              </a:ext>
            </a:extLst>
          </p:cNvPr>
          <p:cNvSpPr txBox="1"/>
          <p:nvPr/>
        </p:nvSpPr>
        <p:spPr>
          <a:xfrm>
            <a:off x="10591568" y="4214258"/>
            <a:ext cx="6096680" cy="369332"/>
          </a:xfrm>
          <a:prstGeom prst="rect">
            <a:avLst/>
          </a:prstGeom>
          <a:noFill/>
        </p:spPr>
        <p:txBody>
          <a:bodyPr wrap="square">
            <a:spAutoFit/>
          </a:bodyPr>
          <a:lstStyle/>
          <a:p>
            <a:r>
              <a:rPr lang="en-US" dirty="0"/>
              <a:t>Scan me!</a:t>
            </a:r>
          </a:p>
        </p:txBody>
      </p:sp>
      <p:sp>
        <p:nvSpPr>
          <p:cNvPr id="4" name="TextBox 3">
            <a:extLst>
              <a:ext uri="{FF2B5EF4-FFF2-40B4-BE49-F238E27FC236}">
                <a16:creationId xmlns:a16="http://schemas.microsoft.com/office/drawing/2014/main" id="{71C7BA23-733A-9477-F1BA-27E7F349B4B6}"/>
              </a:ext>
            </a:extLst>
          </p:cNvPr>
          <p:cNvSpPr txBox="1"/>
          <p:nvPr/>
        </p:nvSpPr>
        <p:spPr>
          <a:xfrm>
            <a:off x="3542242" y="890272"/>
            <a:ext cx="8456082" cy="369332"/>
          </a:xfrm>
          <a:prstGeom prst="rect">
            <a:avLst/>
          </a:prstGeom>
          <a:noFill/>
        </p:spPr>
        <p:txBody>
          <a:bodyPr wrap="square">
            <a:spAutoFit/>
          </a:bodyPr>
          <a:lstStyle/>
          <a:p>
            <a:r>
              <a:rPr lang="en-US" dirty="0">
                <a:hlinkClick r:id="rId4"/>
              </a:rPr>
              <a:t>https://nels.ELIXIR.no/nels-web/#/</a:t>
            </a:r>
            <a:r>
              <a:rPr lang="en-US" dirty="0"/>
              <a:t> </a:t>
            </a:r>
          </a:p>
        </p:txBody>
      </p:sp>
      <p:pic>
        <p:nvPicPr>
          <p:cNvPr id="5" name="Picture 4">
            <a:extLst>
              <a:ext uri="{FF2B5EF4-FFF2-40B4-BE49-F238E27FC236}">
                <a16:creationId xmlns:a16="http://schemas.microsoft.com/office/drawing/2014/main" id="{FAC21AD9-3992-29A5-AD63-244C00723612}"/>
              </a:ext>
            </a:extLst>
          </p:cNvPr>
          <p:cNvPicPr>
            <a:picLocks noChangeAspect="1"/>
          </p:cNvPicPr>
          <p:nvPr/>
        </p:nvPicPr>
        <p:blipFill>
          <a:blip r:embed="rId5"/>
          <a:stretch>
            <a:fillRect/>
          </a:stretch>
        </p:blipFill>
        <p:spPr>
          <a:xfrm>
            <a:off x="10493180" y="4647028"/>
            <a:ext cx="1590968" cy="1590968"/>
          </a:xfrm>
          <a:prstGeom prst="rect">
            <a:avLst/>
          </a:prstGeom>
        </p:spPr>
      </p:pic>
    </p:spTree>
    <p:extLst>
      <p:ext uri="{BB962C8B-B14F-4D97-AF65-F5344CB8AC3E}">
        <p14:creationId xmlns:p14="http://schemas.microsoft.com/office/powerpoint/2010/main" val="24674756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DC24CD6-5C0C-3D5E-0D05-E93485AA3232}"/>
              </a:ext>
            </a:extLst>
          </p:cNvPr>
          <p:cNvPicPr>
            <a:picLocks noChangeAspect="1"/>
          </p:cNvPicPr>
          <p:nvPr/>
        </p:nvPicPr>
        <p:blipFill>
          <a:blip r:embed="rId2"/>
          <a:stretch>
            <a:fillRect/>
          </a:stretch>
        </p:blipFill>
        <p:spPr>
          <a:xfrm>
            <a:off x="0" y="0"/>
            <a:ext cx="12192000" cy="3050136"/>
          </a:xfrm>
          <a:prstGeom prst="rect">
            <a:avLst/>
          </a:prstGeom>
        </p:spPr>
      </p:pic>
      <p:pic>
        <p:nvPicPr>
          <p:cNvPr id="7" name="Picture 6">
            <a:extLst>
              <a:ext uri="{FF2B5EF4-FFF2-40B4-BE49-F238E27FC236}">
                <a16:creationId xmlns:a16="http://schemas.microsoft.com/office/drawing/2014/main" id="{365335FD-BADF-FB82-E488-73AD3595F228}"/>
              </a:ext>
            </a:extLst>
          </p:cNvPr>
          <p:cNvPicPr>
            <a:picLocks noChangeAspect="1"/>
          </p:cNvPicPr>
          <p:nvPr/>
        </p:nvPicPr>
        <p:blipFill>
          <a:blip r:embed="rId3"/>
          <a:stretch>
            <a:fillRect/>
          </a:stretch>
        </p:blipFill>
        <p:spPr>
          <a:xfrm>
            <a:off x="215900" y="3225800"/>
            <a:ext cx="4648200" cy="3009900"/>
          </a:xfrm>
          <a:prstGeom prst="rect">
            <a:avLst/>
          </a:prstGeom>
        </p:spPr>
      </p:pic>
      <p:sp>
        <p:nvSpPr>
          <p:cNvPr id="9" name="TextBox 8">
            <a:extLst>
              <a:ext uri="{FF2B5EF4-FFF2-40B4-BE49-F238E27FC236}">
                <a16:creationId xmlns:a16="http://schemas.microsoft.com/office/drawing/2014/main" id="{DD324623-1EDD-390B-9F53-98C147C40109}"/>
              </a:ext>
            </a:extLst>
          </p:cNvPr>
          <p:cNvSpPr txBox="1"/>
          <p:nvPr/>
        </p:nvSpPr>
        <p:spPr>
          <a:xfrm>
            <a:off x="5343071" y="3429000"/>
            <a:ext cx="6096000" cy="1569660"/>
          </a:xfrm>
          <a:prstGeom prst="rect">
            <a:avLst/>
          </a:prstGeom>
          <a:noFill/>
        </p:spPr>
        <p:txBody>
          <a:bodyPr wrap="square">
            <a:spAutoFit/>
          </a:bodyPr>
          <a:lstStyle/>
          <a:p>
            <a:pPr algn="ctr"/>
            <a:r>
              <a:rPr lang="en-US" sz="3200" b="0" i="0">
                <a:solidFill>
                  <a:srgbClr val="404040"/>
                </a:solidFill>
                <a:effectLst/>
                <a:highlight>
                  <a:srgbClr val="FCFCFC"/>
                </a:highlight>
                <a:latin typeface="Lato" panose="020F0502020204030203" pitchFamily="34" charset="0"/>
              </a:rPr>
              <a:t>All users with FEIDE login credentials can access the </a:t>
            </a:r>
            <a:r>
              <a:rPr lang="en-US" sz="3200" b="0" i="0" dirty="0" err="1">
                <a:solidFill>
                  <a:srgbClr val="404040"/>
                </a:solidFill>
                <a:effectLst/>
                <a:highlight>
                  <a:srgbClr val="FCFCFC"/>
                </a:highlight>
                <a:latin typeface="Lato" panose="020F0502020204030203" pitchFamily="34" charset="0"/>
              </a:rPr>
              <a:t>NeLS</a:t>
            </a:r>
            <a:r>
              <a:rPr lang="en-US" sz="3200" b="0" i="0" dirty="0">
                <a:solidFill>
                  <a:srgbClr val="404040"/>
                </a:solidFill>
                <a:effectLst/>
                <a:highlight>
                  <a:srgbClr val="FCFCFC"/>
                </a:highlight>
                <a:latin typeface="Lato" panose="020F0502020204030203" pitchFamily="34" charset="0"/>
              </a:rPr>
              <a:t> Portal</a:t>
            </a:r>
            <a:endParaRPr lang="en-US" sz="3200" dirty="0"/>
          </a:p>
        </p:txBody>
      </p:sp>
    </p:spTree>
    <p:extLst>
      <p:ext uri="{BB962C8B-B14F-4D97-AF65-F5344CB8AC3E}">
        <p14:creationId xmlns:p14="http://schemas.microsoft.com/office/powerpoint/2010/main" val="19591973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F9B1E-80FF-1653-0CDB-ADA89F44B1ED}"/>
              </a:ext>
            </a:extLst>
          </p:cNvPr>
          <p:cNvSpPr>
            <a:spLocks noGrp="1"/>
          </p:cNvSpPr>
          <p:nvPr>
            <p:ph type="title"/>
          </p:nvPr>
        </p:nvSpPr>
        <p:spPr>
          <a:xfrm>
            <a:off x="1288143" y="598487"/>
            <a:ext cx="10515600" cy="1325563"/>
          </a:xfrm>
        </p:spPr>
        <p:txBody>
          <a:bodyPr>
            <a:normAutofit fontScale="90000"/>
          </a:bodyPr>
          <a:lstStyle/>
          <a:p>
            <a:pPr algn="ctr"/>
            <a:r>
              <a:rPr lang="en-US" b="1" i="0" dirty="0">
                <a:solidFill>
                  <a:srgbClr val="404040"/>
                </a:solidFill>
                <a:effectLst/>
                <a:highlight>
                  <a:srgbClr val="FCFCFC"/>
                </a:highlight>
                <a:latin typeface="Roboto Slab" panose="020F0502020204030204" pitchFamily="2" charset="0"/>
              </a:rPr>
              <a:t>I don't have FEIDE login credentials</a:t>
            </a:r>
            <a:br>
              <a:rPr lang="en-US" b="1" i="0" dirty="0">
                <a:solidFill>
                  <a:srgbClr val="404040"/>
                </a:solidFill>
                <a:effectLst/>
                <a:highlight>
                  <a:srgbClr val="FCFCFC"/>
                </a:highlight>
                <a:latin typeface="Roboto Slab" panose="020F0502020204030204" pitchFamily="2" charset="0"/>
              </a:rPr>
            </a:br>
            <a:r>
              <a:rPr lang="en-US" b="1" i="0" dirty="0">
                <a:solidFill>
                  <a:srgbClr val="404040"/>
                </a:solidFill>
                <a:effectLst/>
                <a:highlight>
                  <a:srgbClr val="FCFCFC"/>
                </a:highlight>
                <a:latin typeface="Roboto Slab" panose="020F0502020204030204" pitchFamily="2" charset="0"/>
              </a:rPr>
              <a:t>(Non-Norwegian collaborators)</a:t>
            </a:r>
            <a:br>
              <a:rPr lang="en-US" b="1" i="0" dirty="0">
                <a:solidFill>
                  <a:srgbClr val="404040"/>
                </a:solidFill>
                <a:effectLst/>
                <a:highlight>
                  <a:srgbClr val="FCFCFC"/>
                </a:highlight>
                <a:latin typeface="Roboto Slab" panose="020F0502020204030204" pitchFamily="2" charset="0"/>
              </a:rPr>
            </a:br>
            <a:endParaRPr lang="en-US" dirty="0"/>
          </a:p>
        </p:txBody>
      </p:sp>
      <p:sp>
        <p:nvSpPr>
          <p:cNvPr id="3" name="Content Placeholder 2">
            <a:extLst>
              <a:ext uri="{FF2B5EF4-FFF2-40B4-BE49-F238E27FC236}">
                <a16:creationId xmlns:a16="http://schemas.microsoft.com/office/drawing/2014/main" id="{346CCBAF-EF57-723B-98AB-403210BC70B6}"/>
              </a:ext>
            </a:extLst>
          </p:cNvPr>
          <p:cNvSpPr>
            <a:spLocks noGrp="1"/>
          </p:cNvSpPr>
          <p:nvPr>
            <p:ph idx="1"/>
          </p:nvPr>
        </p:nvSpPr>
        <p:spPr>
          <a:xfrm>
            <a:off x="838200" y="1832315"/>
            <a:ext cx="10515600" cy="4351338"/>
          </a:xfrm>
        </p:spPr>
        <p:txBody>
          <a:bodyPr/>
          <a:lstStyle/>
          <a:p>
            <a:pPr algn="ctr"/>
            <a:r>
              <a:rPr lang="en-US" dirty="0">
                <a:solidFill>
                  <a:srgbClr val="404040"/>
                </a:solidFill>
                <a:highlight>
                  <a:srgbClr val="FCFCFC"/>
                </a:highlight>
                <a:latin typeface="Lato" panose="020F0502020204030203" pitchFamily="34" charset="0"/>
              </a:rPr>
              <a:t>It</a:t>
            </a:r>
            <a:r>
              <a:rPr lang="en-US" b="0" i="0" dirty="0">
                <a:solidFill>
                  <a:srgbClr val="404040"/>
                </a:solidFill>
                <a:effectLst/>
                <a:highlight>
                  <a:srgbClr val="FCFCFC"/>
                </a:highlight>
                <a:latin typeface="Lato" panose="020F0502020204030203" pitchFamily="34" charset="0"/>
              </a:rPr>
              <a:t> is also possible to login to </a:t>
            </a:r>
            <a:r>
              <a:rPr lang="en-US" b="0" i="0" dirty="0" err="1">
                <a:solidFill>
                  <a:srgbClr val="404040"/>
                </a:solidFill>
                <a:effectLst/>
                <a:highlight>
                  <a:srgbClr val="FCFCFC"/>
                </a:highlight>
                <a:latin typeface="Lato" panose="020F0502020204030203" pitchFamily="34" charset="0"/>
              </a:rPr>
              <a:t>NeLS</a:t>
            </a:r>
            <a:r>
              <a:rPr lang="en-US" b="0" i="0" dirty="0">
                <a:solidFill>
                  <a:srgbClr val="404040"/>
                </a:solidFill>
                <a:effectLst/>
                <a:highlight>
                  <a:srgbClr val="FCFCFC"/>
                </a:highlight>
                <a:latin typeface="Lato" panose="020F0502020204030203" pitchFamily="34" charset="0"/>
              </a:rPr>
              <a:t> via a </a:t>
            </a:r>
            <a:r>
              <a:rPr lang="en-US" b="0" i="0" dirty="0" err="1">
                <a:solidFill>
                  <a:srgbClr val="404040"/>
                </a:solidFill>
                <a:effectLst/>
                <a:highlight>
                  <a:srgbClr val="FCFCFC"/>
                </a:highlight>
                <a:latin typeface="Lato" panose="020F0502020204030203" pitchFamily="34" charset="0"/>
              </a:rPr>
              <a:t>NeLS</a:t>
            </a:r>
            <a:r>
              <a:rPr lang="en-US" b="0" i="0" dirty="0">
                <a:solidFill>
                  <a:srgbClr val="404040"/>
                </a:solidFill>
                <a:effectLst/>
                <a:highlight>
                  <a:srgbClr val="FCFCFC"/>
                </a:highlight>
                <a:latin typeface="Lato" panose="020F0502020204030203" pitchFamily="34" charset="0"/>
              </a:rPr>
              <a:t> </a:t>
            </a:r>
            <a:r>
              <a:rPr lang="en-US" b="0" i="0" dirty="0" err="1">
                <a:solidFill>
                  <a:srgbClr val="404040"/>
                </a:solidFill>
                <a:effectLst/>
                <a:highlight>
                  <a:srgbClr val="FCFCFC"/>
                </a:highlight>
                <a:latin typeface="Lato" panose="020F0502020204030203" pitchFamily="34" charset="0"/>
              </a:rPr>
              <a:t>idp</a:t>
            </a:r>
            <a:r>
              <a:rPr lang="en-US" b="0" i="0" dirty="0">
                <a:solidFill>
                  <a:srgbClr val="404040"/>
                </a:solidFill>
                <a:effectLst/>
                <a:highlight>
                  <a:srgbClr val="FCFCFC"/>
                </a:highlight>
                <a:latin typeface="Lato" panose="020F0502020204030203" pitchFamily="34" charset="0"/>
              </a:rPr>
              <a:t>. You can apply for a </a:t>
            </a:r>
            <a:r>
              <a:rPr lang="en-US" b="0" i="0" dirty="0" err="1">
                <a:solidFill>
                  <a:srgbClr val="404040"/>
                </a:solidFill>
                <a:effectLst/>
                <a:highlight>
                  <a:srgbClr val="FCFCFC"/>
                </a:highlight>
                <a:latin typeface="Lato" panose="020F0502020204030203" pitchFamily="34" charset="0"/>
              </a:rPr>
              <a:t>NeLS</a:t>
            </a:r>
            <a:r>
              <a:rPr lang="en-US" b="0" i="0" dirty="0">
                <a:solidFill>
                  <a:srgbClr val="404040"/>
                </a:solidFill>
                <a:effectLst/>
                <a:highlight>
                  <a:srgbClr val="FCFCFC"/>
                </a:highlight>
                <a:latin typeface="Lato" panose="020F0502020204030203" pitchFamily="34" charset="0"/>
              </a:rPr>
              <a:t> </a:t>
            </a:r>
            <a:r>
              <a:rPr lang="en-US" b="0" i="0" dirty="0" err="1">
                <a:solidFill>
                  <a:srgbClr val="404040"/>
                </a:solidFill>
                <a:effectLst/>
                <a:highlight>
                  <a:srgbClr val="FCFCFC"/>
                </a:highlight>
                <a:latin typeface="Lato" panose="020F0502020204030203" pitchFamily="34" charset="0"/>
              </a:rPr>
              <a:t>idp</a:t>
            </a:r>
            <a:r>
              <a:rPr lang="en-US" b="0" i="0" dirty="0">
                <a:solidFill>
                  <a:srgbClr val="404040"/>
                </a:solidFill>
                <a:effectLst/>
                <a:highlight>
                  <a:srgbClr val="FCFCFC"/>
                </a:highlight>
                <a:latin typeface="Lato" panose="020F0502020204030203" pitchFamily="34" charset="0"/>
              </a:rPr>
              <a:t> </a:t>
            </a:r>
          </a:p>
          <a:p>
            <a:pPr algn="ctr"/>
            <a:endParaRPr lang="en-US" dirty="0"/>
          </a:p>
        </p:txBody>
      </p:sp>
      <p:pic>
        <p:nvPicPr>
          <p:cNvPr id="5" name="Picture 4">
            <a:extLst>
              <a:ext uri="{FF2B5EF4-FFF2-40B4-BE49-F238E27FC236}">
                <a16:creationId xmlns:a16="http://schemas.microsoft.com/office/drawing/2014/main" id="{5F6C0C03-BF6C-2C46-F640-EE60C8BB92A9}"/>
              </a:ext>
            </a:extLst>
          </p:cNvPr>
          <p:cNvPicPr>
            <a:picLocks noChangeAspect="1"/>
          </p:cNvPicPr>
          <p:nvPr/>
        </p:nvPicPr>
        <p:blipFill>
          <a:blip r:embed="rId2"/>
          <a:stretch>
            <a:fillRect/>
          </a:stretch>
        </p:blipFill>
        <p:spPr>
          <a:xfrm>
            <a:off x="838200" y="3017279"/>
            <a:ext cx="5218567" cy="3452725"/>
          </a:xfrm>
          <a:prstGeom prst="rect">
            <a:avLst/>
          </a:prstGeom>
        </p:spPr>
      </p:pic>
      <p:pic>
        <p:nvPicPr>
          <p:cNvPr id="7" name="Picture 6">
            <a:extLst>
              <a:ext uri="{FF2B5EF4-FFF2-40B4-BE49-F238E27FC236}">
                <a16:creationId xmlns:a16="http://schemas.microsoft.com/office/drawing/2014/main" id="{80190EF6-D111-7101-A412-9C539F307C85}"/>
              </a:ext>
            </a:extLst>
          </p:cNvPr>
          <p:cNvPicPr>
            <a:picLocks noChangeAspect="1"/>
          </p:cNvPicPr>
          <p:nvPr/>
        </p:nvPicPr>
        <p:blipFill>
          <a:blip r:embed="rId3"/>
          <a:stretch>
            <a:fillRect/>
          </a:stretch>
        </p:blipFill>
        <p:spPr>
          <a:xfrm>
            <a:off x="6096000" y="3227771"/>
            <a:ext cx="5835665" cy="3031742"/>
          </a:xfrm>
          <a:prstGeom prst="rect">
            <a:avLst/>
          </a:prstGeom>
        </p:spPr>
      </p:pic>
    </p:spTree>
    <p:extLst>
      <p:ext uri="{BB962C8B-B14F-4D97-AF65-F5344CB8AC3E}">
        <p14:creationId xmlns:p14="http://schemas.microsoft.com/office/powerpoint/2010/main" val="10248832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77E9-80A3-718E-EAAE-41414ED22321}"/>
              </a:ext>
            </a:extLst>
          </p:cNvPr>
          <p:cNvSpPr>
            <a:spLocks noGrp="1"/>
          </p:cNvSpPr>
          <p:nvPr>
            <p:ph type="title"/>
          </p:nvPr>
        </p:nvSpPr>
        <p:spPr/>
        <p:txBody>
          <a:bodyPr/>
          <a:lstStyle/>
          <a:p>
            <a:pPr algn="ctr"/>
            <a:r>
              <a:rPr lang="en-US" dirty="0"/>
              <a:t>The </a:t>
            </a:r>
            <a:r>
              <a:rPr lang="en-US" dirty="0" err="1"/>
              <a:t>NeLS</a:t>
            </a:r>
            <a:r>
              <a:rPr lang="en-US" dirty="0"/>
              <a:t> filesystem</a:t>
            </a:r>
          </a:p>
        </p:txBody>
      </p:sp>
      <p:pic>
        <p:nvPicPr>
          <p:cNvPr id="5" name="Picture 4">
            <a:extLst>
              <a:ext uri="{FF2B5EF4-FFF2-40B4-BE49-F238E27FC236}">
                <a16:creationId xmlns:a16="http://schemas.microsoft.com/office/drawing/2014/main" id="{168CEE95-76CE-2792-937F-B98308F94F32}"/>
              </a:ext>
            </a:extLst>
          </p:cNvPr>
          <p:cNvPicPr>
            <a:picLocks noChangeAspect="1"/>
          </p:cNvPicPr>
          <p:nvPr/>
        </p:nvPicPr>
        <p:blipFill>
          <a:blip r:embed="rId2"/>
          <a:stretch>
            <a:fillRect/>
          </a:stretch>
        </p:blipFill>
        <p:spPr>
          <a:xfrm>
            <a:off x="400957" y="1963284"/>
            <a:ext cx="3665340" cy="3827916"/>
          </a:xfrm>
          <a:prstGeom prst="rect">
            <a:avLst/>
          </a:prstGeom>
        </p:spPr>
      </p:pic>
      <p:cxnSp>
        <p:nvCxnSpPr>
          <p:cNvPr id="7" name="Straight Arrow Connector 6">
            <a:extLst>
              <a:ext uri="{FF2B5EF4-FFF2-40B4-BE49-F238E27FC236}">
                <a16:creationId xmlns:a16="http://schemas.microsoft.com/office/drawing/2014/main" id="{D74F90F9-05F6-4B01-6C8D-82F5EF558025}"/>
              </a:ext>
            </a:extLst>
          </p:cNvPr>
          <p:cNvCxnSpPr>
            <a:cxnSpLocks/>
          </p:cNvCxnSpPr>
          <p:nvPr/>
        </p:nvCxnSpPr>
        <p:spPr>
          <a:xfrm flipV="1">
            <a:off x="2569029" y="2507175"/>
            <a:ext cx="3802743" cy="1919682"/>
          </a:xfrm>
          <a:prstGeom prst="straightConnector1">
            <a:avLst/>
          </a:prstGeom>
          <a:ln w="76200">
            <a:tailEnd type="triangle"/>
          </a:ln>
        </p:spPr>
        <p:style>
          <a:lnRef idx="2">
            <a:schemeClr val="accent2"/>
          </a:lnRef>
          <a:fillRef idx="0">
            <a:schemeClr val="accent2"/>
          </a:fillRef>
          <a:effectRef idx="1">
            <a:schemeClr val="accent2"/>
          </a:effectRef>
          <a:fontRef idx="minor">
            <a:schemeClr val="tx1"/>
          </a:fontRef>
        </p:style>
      </p:cxnSp>
      <p:cxnSp>
        <p:nvCxnSpPr>
          <p:cNvPr id="8" name="Straight Arrow Connector 7">
            <a:extLst>
              <a:ext uri="{FF2B5EF4-FFF2-40B4-BE49-F238E27FC236}">
                <a16:creationId xmlns:a16="http://schemas.microsoft.com/office/drawing/2014/main" id="{1F3B4082-EF75-AA2D-8A5C-FA50180A2E4D}"/>
              </a:ext>
            </a:extLst>
          </p:cNvPr>
          <p:cNvCxnSpPr>
            <a:cxnSpLocks/>
          </p:cNvCxnSpPr>
          <p:nvPr/>
        </p:nvCxnSpPr>
        <p:spPr>
          <a:xfrm flipV="1">
            <a:off x="2699657" y="4122057"/>
            <a:ext cx="4209143" cy="820057"/>
          </a:xfrm>
          <a:prstGeom prst="straightConnector1">
            <a:avLst/>
          </a:prstGeom>
          <a:ln w="76200">
            <a:tailEnd type="triangle"/>
          </a:ln>
        </p:spPr>
        <p:style>
          <a:lnRef idx="2">
            <a:schemeClr val="accent2"/>
          </a:lnRef>
          <a:fillRef idx="0">
            <a:schemeClr val="accent2"/>
          </a:fillRef>
          <a:effectRef idx="1">
            <a:schemeClr val="accent2"/>
          </a:effectRef>
          <a:fontRef idx="minor">
            <a:schemeClr val="tx1"/>
          </a:fontRef>
        </p:style>
      </p:cxnSp>
      <p:cxnSp>
        <p:nvCxnSpPr>
          <p:cNvPr id="9" name="Straight Arrow Connector 8">
            <a:extLst>
              <a:ext uri="{FF2B5EF4-FFF2-40B4-BE49-F238E27FC236}">
                <a16:creationId xmlns:a16="http://schemas.microsoft.com/office/drawing/2014/main" id="{9FA2FF0D-F72D-7B71-2BF9-E473AF2C0A32}"/>
              </a:ext>
            </a:extLst>
          </p:cNvPr>
          <p:cNvCxnSpPr>
            <a:cxnSpLocks/>
          </p:cNvCxnSpPr>
          <p:nvPr/>
        </p:nvCxnSpPr>
        <p:spPr>
          <a:xfrm>
            <a:off x="2467428" y="5486400"/>
            <a:ext cx="4557486" cy="595086"/>
          </a:xfrm>
          <a:prstGeom prst="straightConnector1">
            <a:avLst/>
          </a:prstGeom>
          <a:ln w="76200">
            <a:tailEnd type="triangle"/>
          </a:ln>
        </p:spPr>
        <p:style>
          <a:lnRef idx="2">
            <a:schemeClr val="accent2"/>
          </a:lnRef>
          <a:fillRef idx="0">
            <a:schemeClr val="accent2"/>
          </a:fillRef>
          <a:effectRef idx="1">
            <a:schemeClr val="accent2"/>
          </a:effectRef>
          <a:fontRef idx="minor">
            <a:schemeClr val="tx1"/>
          </a:fontRef>
        </p:style>
      </p:cxnSp>
      <p:sp>
        <p:nvSpPr>
          <p:cNvPr id="10" name="TextBox 9">
            <a:extLst>
              <a:ext uri="{FF2B5EF4-FFF2-40B4-BE49-F238E27FC236}">
                <a16:creationId xmlns:a16="http://schemas.microsoft.com/office/drawing/2014/main" id="{0577D7AF-D0A0-5253-AC00-2D4CC136DEC7}"/>
              </a:ext>
            </a:extLst>
          </p:cNvPr>
          <p:cNvSpPr txBox="1"/>
          <p:nvPr/>
        </p:nvSpPr>
        <p:spPr>
          <a:xfrm>
            <a:off x="6096000" y="2091677"/>
            <a:ext cx="4557486" cy="830997"/>
          </a:xfrm>
          <a:prstGeom prst="rect">
            <a:avLst/>
          </a:prstGeom>
          <a:noFill/>
        </p:spPr>
        <p:txBody>
          <a:bodyPr wrap="square" rtlCol="0">
            <a:spAutoFit/>
          </a:bodyPr>
          <a:lstStyle/>
          <a:p>
            <a:pPr algn="ctr"/>
            <a:r>
              <a:rPr lang="en-US" sz="2400" dirty="0">
                <a:latin typeface="Abadi" panose="020B0604020104020204" pitchFamily="34" charset="0"/>
              </a:rPr>
              <a:t>Personal area (from 1-10 Tb) space </a:t>
            </a:r>
            <a:r>
              <a:rPr lang="en-US" sz="2400" b="1" dirty="0">
                <a:latin typeface="Abadi" panose="020B0604020104020204" pitchFamily="34" charset="0"/>
              </a:rPr>
              <a:t>Not allowed to share</a:t>
            </a:r>
          </a:p>
        </p:txBody>
      </p:sp>
      <p:sp>
        <p:nvSpPr>
          <p:cNvPr id="15" name="TextBox 14">
            <a:extLst>
              <a:ext uri="{FF2B5EF4-FFF2-40B4-BE49-F238E27FC236}">
                <a16:creationId xmlns:a16="http://schemas.microsoft.com/office/drawing/2014/main" id="{E287E489-179D-E602-D389-A8BE10FB370F}"/>
              </a:ext>
            </a:extLst>
          </p:cNvPr>
          <p:cNvSpPr txBox="1"/>
          <p:nvPr/>
        </p:nvSpPr>
        <p:spPr>
          <a:xfrm>
            <a:off x="6640286" y="3566718"/>
            <a:ext cx="4557486" cy="1200329"/>
          </a:xfrm>
          <a:prstGeom prst="rect">
            <a:avLst/>
          </a:prstGeom>
          <a:noFill/>
        </p:spPr>
        <p:txBody>
          <a:bodyPr wrap="square" rtlCol="0">
            <a:spAutoFit/>
          </a:bodyPr>
          <a:lstStyle/>
          <a:p>
            <a:pPr algn="ctr"/>
            <a:r>
              <a:rPr lang="en-US" sz="2400" dirty="0">
                <a:latin typeface="Abadi" panose="020B0604020104020204" pitchFamily="34" charset="0"/>
              </a:rPr>
              <a:t>Share area (1-10Tb) with multiple sub-folder </a:t>
            </a:r>
          </a:p>
          <a:p>
            <a:pPr algn="ctr"/>
            <a:r>
              <a:rPr lang="en-US" sz="2400" b="1" dirty="0">
                <a:latin typeface="Abadi" panose="020B0604020104020204" pitchFamily="34" charset="0"/>
              </a:rPr>
              <a:t>Sharing capability</a:t>
            </a:r>
          </a:p>
        </p:txBody>
      </p:sp>
      <p:sp>
        <p:nvSpPr>
          <p:cNvPr id="18" name="TextBox 17">
            <a:extLst>
              <a:ext uri="{FF2B5EF4-FFF2-40B4-BE49-F238E27FC236}">
                <a16:creationId xmlns:a16="http://schemas.microsoft.com/office/drawing/2014/main" id="{91C15BF9-1A10-CA9C-91EB-9A52D47D9598}"/>
              </a:ext>
            </a:extLst>
          </p:cNvPr>
          <p:cNvSpPr txBox="1"/>
          <p:nvPr/>
        </p:nvSpPr>
        <p:spPr>
          <a:xfrm>
            <a:off x="7233557" y="5647364"/>
            <a:ext cx="4557486" cy="830997"/>
          </a:xfrm>
          <a:prstGeom prst="rect">
            <a:avLst/>
          </a:prstGeom>
          <a:noFill/>
        </p:spPr>
        <p:txBody>
          <a:bodyPr wrap="square" rtlCol="0">
            <a:spAutoFit/>
          </a:bodyPr>
          <a:lstStyle/>
          <a:p>
            <a:pPr algn="ctr"/>
            <a:r>
              <a:rPr lang="en-US" sz="2400" dirty="0" err="1">
                <a:latin typeface="Abadi" panose="020B0604020104020204" pitchFamily="34" charset="0"/>
              </a:rPr>
              <a:t>StoreBioInfo</a:t>
            </a:r>
            <a:r>
              <a:rPr lang="en-US" sz="2400" dirty="0">
                <a:latin typeface="Abadi" panose="020B0604020104020204" pitchFamily="34" charset="0"/>
              </a:rPr>
              <a:t> (SBI) is for long term storage of project data.</a:t>
            </a:r>
            <a:endParaRPr lang="en-US" sz="2400" b="1" dirty="0">
              <a:latin typeface="Abadi" panose="020B0604020104020204" pitchFamily="34" charset="0"/>
            </a:endParaRPr>
          </a:p>
        </p:txBody>
      </p:sp>
      <p:pic>
        <p:nvPicPr>
          <p:cNvPr id="20" name="Picture 19">
            <a:extLst>
              <a:ext uri="{FF2B5EF4-FFF2-40B4-BE49-F238E27FC236}">
                <a16:creationId xmlns:a16="http://schemas.microsoft.com/office/drawing/2014/main" id="{F57AA1E0-1D9D-DDC0-8868-A43A5A69A996}"/>
              </a:ext>
            </a:extLst>
          </p:cNvPr>
          <p:cNvPicPr>
            <a:picLocks noChangeAspect="1"/>
          </p:cNvPicPr>
          <p:nvPr/>
        </p:nvPicPr>
        <p:blipFill>
          <a:blip r:embed="rId3"/>
          <a:stretch>
            <a:fillRect/>
          </a:stretch>
        </p:blipFill>
        <p:spPr>
          <a:xfrm>
            <a:off x="98718" y="0"/>
            <a:ext cx="1163284" cy="783201"/>
          </a:xfrm>
          <a:prstGeom prst="rect">
            <a:avLst/>
          </a:prstGeom>
        </p:spPr>
      </p:pic>
    </p:spTree>
    <p:extLst>
      <p:ext uri="{BB962C8B-B14F-4D97-AF65-F5344CB8AC3E}">
        <p14:creationId xmlns:p14="http://schemas.microsoft.com/office/powerpoint/2010/main" val="18864196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583F6-5231-EFB8-F43C-4B154CCAB422}"/>
              </a:ext>
            </a:extLst>
          </p:cNvPr>
          <p:cNvSpPr>
            <a:spLocks noGrp="1"/>
          </p:cNvSpPr>
          <p:nvPr>
            <p:ph type="title"/>
          </p:nvPr>
        </p:nvSpPr>
        <p:spPr/>
        <p:txBody>
          <a:bodyPr/>
          <a:lstStyle/>
          <a:p>
            <a:pPr algn="ctr"/>
            <a:r>
              <a:rPr lang="en-US" dirty="0"/>
              <a:t>How does </a:t>
            </a:r>
            <a:r>
              <a:rPr lang="en-US" dirty="0" err="1"/>
              <a:t>NeLS</a:t>
            </a:r>
            <a:r>
              <a:rPr lang="en-US" dirty="0"/>
              <a:t> work?</a:t>
            </a:r>
          </a:p>
        </p:txBody>
      </p:sp>
      <p:pic>
        <p:nvPicPr>
          <p:cNvPr id="4098" name="Picture 2">
            <a:extLst>
              <a:ext uri="{FF2B5EF4-FFF2-40B4-BE49-F238E27FC236}">
                <a16:creationId xmlns:a16="http://schemas.microsoft.com/office/drawing/2014/main" id="{FCEDF2DF-1E28-EAAA-5C6E-3E1C8F398F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286" y="1690688"/>
            <a:ext cx="10682514" cy="502133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a:extLst>
              <a:ext uri="{FF2B5EF4-FFF2-40B4-BE49-F238E27FC236}">
                <a16:creationId xmlns:a16="http://schemas.microsoft.com/office/drawing/2014/main" id="{BCDBD625-D573-8784-B67B-920A9110B2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
            <a:ext cx="2177146" cy="7257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68588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2D49832-C00C-961B-16FD-367FF18887D3}"/>
              </a:ext>
            </a:extLst>
          </p:cNvPr>
          <p:cNvPicPr>
            <a:picLocks noChangeAspect="1"/>
          </p:cNvPicPr>
          <p:nvPr/>
        </p:nvPicPr>
        <p:blipFill>
          <a:blip r:embed="rId2"/>
          <a:stretch>
            <a:fillRect/>
          </a:stretch>
        </p:blipFill>
        <p:spPr>
          <a:xfrm>
            <a:off x="98717" y="0"/>
            <a:ext cx="1422827" cy="957943"/>
          </a:xfrm>
          <a:prstGeom prst="rect">
            <a:avLst/>
          </a:prstGeom>
        </p:spPr>
      </p:pic>
      <p:sp>
        <p:nvSpPr>
          <p:cNvPr id="2" name="Title 1">
            <a:extLst>
              <a:ext uri="{FF2B5EF4-FFF2-40B4-BE49-F238E27FC236}">
                <a16:creationId xmlns:a16="http://schemas.microsoft.com/office/drawing/2014/main" id="{08F7918E-7B1F-B9D5-D206-E321681B183E}"/>
              </a:ext>
            </a:extLst>
          </p:cNvPr>
          <p:cNvSpPr>
            <a:spLocks noGrp="1"/>
          </p:cNvSpPr>
          <p:nvPr>
            <p:ph type="title"/>
          </p:nvPr>
        </p:nvSpPr>
        <p:spPr>
          <a:xfrm>
            <a:off x="810130" y="957943"/>
            <a:ext cx="10515600" cy="1325563"/>
          </a:xfrm>
        </p:spPr>
        <p:txBody>
          <a:bodyPr/>
          <a:lstStyle/>
          <a:p>
            <a:pPr algn="ctr"/>
            <a:r>
              <a:rPr lang="en-US" dirty="0"/>
              <a:t>Apply for a project in </a:t>
            </a:r>
            <a:r>
              <a:rPr lang="en-US" dirty="0" err="1"/>
              <a:t>NeLS</a:t>
            </a:r>
            <a:r>
              <a:rPr lang="en-US" dirty="0"/>
              <a:t> for sharing data </a:t>
            </a:r>
            <a:br>
              <a:rPr lang="en-US" dirty="0"/>
            </a:br>
            <a:r>
              <a:rPr lang="en-US" dirty="0"/>
              <a:t>within and outside Norway</a:t>
            </a:r>
          </a:p>
        </p:txBody>
      </p:sp>
      <p:sp>
        <p:nvSpPr>
          <p:cNvPr id="6" name="TextBox 5">
            <a:extLst>
              <a:ext uri="{FF2B5EF4-FFF2-40B4-BE49-F238E27FC236}">
                <a16:creationId xmlns:a16="http://schemas.microsoft.com/office/drawing/2014/main" id="{FE47C884-0455-8054-3997-B9475EC72FBC}"/>
              </a:ext>
            </a:extLst>
          </p:cNvPr>
          <p:cNvSpPr txBox="1"/>
          <p:nvPr/>
        </p:nvSpPr>
        <p:spPr>
          <a:xfrm>
            <a:off x="1262002" y="2815674"/>
            <a:ext cx="9287539" cy="2308324"/>
          </a:xfrm>
          <a:prstGeom prst="rect">
            <a:avLst/>
          </a:prstGeom>
          <a:noFill/>
        </p:spPr>
        <p:txBody>
          <a:bodyPr wrap="square">
            <a:spAutoFit/>
          </a:bodyPr>
          <a:lstStyle/>
          <a:p>
            <a:pPr algn="ctr"/>
            <a:r>
              <a:rPr lang="en-US" sz="3600" b="1" dirty="0">
                <a:solidFill>
                  <a:srgbClr val="000000"/>
                </a:solidFill>
                <a:latin typeface="Lato" panose="020F0502020204030203" pitchFamily="34" charset="0"/>
              </a:rPr>
              <a:t>Send an email to</a:t>
            </a:r>
            <a:r>
              <a:rPr lang="en-US" sz="3600" b="1" i="0" dirty="0">
                <a:solidFill>
                  <a:srgbClr val="000000"/>
                </a:solidFill>
                <a:effectLst/>
                <a:latin typeface="Lato" panose="020F0502020204030203" pitchFamily="34" charset="0"/>
              </a:rPr>
              <a:t> </a:t>
            </a:r>
            <a:r>
              <a:rPr lang="en-US" sz="3600" b="1" i="0" u="none" strike="noStrike" dirty="0">
                <a:solidFill>
                  <a:srgbClr val="047EAA"/>
                </a:solidFill>
                <a:effectLst/>
                <a:latin typeface="Lato" panose="020F0502020204030203" pitchFamily="34" charset="0"/>
                <a:hlinkClick r:id="rId3"/>
              </a:rPr>
              <a:t>support@elixir.no</a:t>
            </a:r>
            <a:endParaRPr lang="en-US" sz="3600" b="1" i="0" u="none" strike="noStrike" dirty="0">
              <a:solidFill>
                <a:srgbClr val="047EAA"/>
              </a:solidFill>
              <a:effectLst/>
              <a:latin typeface="Lato" panose="020F0502020204030203" pitchFamily="34" charset="0"/>
            </a:endParaRPr>
          </a:p>
          <a:p>
            <a:pPr algn="ctr"/>
            <a:endParaRPr lang="en-US" sz="3600" b="1" dirty="0">
              <a:solidFill>
                <a:srgbClr val="047EAA"/>
              </a:solidFill>
              <a:latin typeface="Lato" panose="020F0502020204030203" pitchFamily="34" charset="0"/>
            </a:endParaRPr>
          </a:p>
          <a:p>
            <a:pPr algn="ctr"/>
            <a:r>
              <a:rPr lang="en-US" sz="3600" b="1" dirty="0">
                <a:latin typeface="Lato" panose="020F0502020204030203" pitchFamily="34" charset="0"/>
              </a:rPr>
              <a:t>You will get a form to fill, after fill it a new project will be created</a:t>
            </a:r>
            <a:endParaRPr lang="en-US" sz="3600" dirty="0"/>
          </a:p>
        </p:txBody>
      </p:sp>
    </p:spTree>
    <p:extLst>
      <p:ext uri="{BB962C8B-B14F-4D97-AF65-F5344CB8AC3E}">
        <p14:creationId xmlns:p14="http://schemas.microsoft.com/office/powerpoint/2010/main" val="42660559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8D4E5-9EA9-2C43-92FC-A98C31B2245F}"/>
              </a:ext>
            </a:extLst>
          </p:cNvPr>
          <p:cNvSpPr>
            <a:spLocks noGrp="1"/>
          </p:cNvSpPr>
          <p:nvPr>
            <p:ph type="title"/>
          </p:nvPr>
        </p:nvSpPr>
        <p:spPr>
          <a:xfrm>
            <a:off x="707572" y="0"/>
            <a:ext cx="10515600" cy="1325563"/>
          </a:xfrm>
        </p:spPr>
        <p:txBody>
          <a:bodyPr>
            <a:normAutofit/>
          </a:bodyPr>
          <a:lstStyle/>
          <a:p>
            <a:pPr algn="ctr"/>
            <a:r>
              <a:rPr lang="en-US" sz="4000" dirty="0"/>
              <a:t>Adding members to a project</a:t>
            </a:r>
          </a:p>
        </p:txBody>
      </p:sp>
      <p:sp>
        <p:nvSpPr>
          <p:cNvPr id="3" name="Content Placeholder 2">
            <a:extLst>
              <a:ext uri="{FF2B5EF4-FFF2-40B4-BE49-F238E27FC236}">
                <a16:creationId xmlns:a16="http://schemas.microsoft.com/office/drawing/2014/main" id="{DC3D69A0-FDEE-A528-6052-F91ED488C642}"/>
              </a:ext>
            </a:extLst>
          </p:cNvPr>
          <p:cNvSpPr>
            <a:spLocks noGrp="1"/>
          </p:cNvSpPr>
          <p:nvPr>
            <p:ph idx="1"/>
          </p:nvPr>
        </p:nvSpPr>
        <p:spPr>
          <a:xfrm>
            <a:off x="968828" y="1325563"/>
            <a:ext cx="10515600" cy="4351338"/>
          </a:xfrm>
        </p:spPr>
        <p:txBody>
          <a:bodyPr>
            <a:normAutofit/>
          </a:bodyPr>
          <a:lstStyle/>
          <a:p>
            <a:pPr algn="just"/>
            <a:r>
              <a:rPr lang="en-US" sz="2000" dirty="0"/>
              <a:t>If you have created a project in </a:t>
            </a:r>
            <a:r>
              <a:rPr lang="en-US" sz="2000" dirty="0" err="1"/>
              <a:t>NeLS</a:t>
            </a:r>
            <a:r>
              <a:rPr lang="en-US" sz="2000" dirty="0"/>
              <a:t> you can add members to that to share data.</a:t>
            </a:r>
          </a:p>
          <a:p>
            <a:pPr algn="just"/>
            <a:endParaRPr lang="en-US" sz="2000" dirty="0"/>
          </a:p>
          <a:p>
            <a:pPr algn="just"/>
            <a:r>
              <a:rPr lang="en-US" sz="2000" dirty="0"/>
              <a:t>To add people, users must be register in </a:t>
            </a:r>
            <a:r>
              <a:rPr lang="en-US" sz="2000" dirty="0" err="1"/>
              <a:t>NeLs</a:t>
            </a:r>
            <a:r>
              <a:rPr lang="en-US" sz="2000" dirty="0"/>
              <a:t> before adding it to the project </a:t>
            </a:r>
          </a:p>
        </p:txBody>
      </p:sp>
      <p:pic>
        <p:nvPicPr>
          <p:cNvPr id="4" name="Picture 3">
            <a:extLst>
              <a:ext uri="{FF2B5EF4-FFF2-40B4-BE49-F238E27FC236}">
                <a16:creationId xmlns:a16="http://schemas.microsoft.com/office/drawing/2014/main" id="{E0DE45A0-CFBD-EDDF-B715-D5996AEBAD78}"/>
              </a:ext>
            </a:extLst>
          </p:cNvPr>
          <p:cNvPicPr>
            <a:picLocks noChangeAspect="1"/>
          </p:cNvPicPr>
          <p:nvPr/>
        </p:nvPicPr>
        <p:blipFill>
          <a:blip r:embed="rId2"/>
          <a:stretch>
            <a:fillRect/>
          </a:stretch>
        </p:blipFill>
        <p:spPr>
          <a:xfrm>
            <a:off x="0" y="0"/>
            <a:ext cx="1422827" cy="957943"/>
          </a:xfrm>
          <a:prstGeom prst="rect">
            <a:avLst/>
          </a:prstGeom>
        </p:spPr>
      </p:pic>
      <p:pic>
        <p:nvPicPr>
          <p:cNvPr id="6" name="Picture 5">
            <a:extLst>
              <a:ext uri="{FF2B5EF4-FFF2-40B4-BE49-F238E27FC236}">
                <a16:creationId xmlns:a16="http://schemas.microsoft.com/office/drawing/2014/main" id="{057ACB8F-5AB0-9A74-1E28-A9516A24266E}"/>
              </a:ext>
            </a:extLst>
          </p:cNvPr>
          <p:cNvPicPr>
            <a:picLocks noChangeAspect="1"/>
          </p:cNvPicPr>
          <p:nvPr/>
        </p:nvPicPr>
        <p:blipFill rotWithShape="1">
          <a:blip r:embed="rId3"/>
          <a:srcRect r="50267"/>
          <a:stretch/>
        </p:blipFill>
        <p:spPr>
          <a:xfrm>
            <a:off x="2299918" y="2604845"/>
            <a:ext cx="4340965" cy="4252373"/>
          </a:xfrm>
          <a:prstGeom prst="rect">
            <a:avLst/>
          </a:prstGeom>
        </p:spPr>
      </p:pic>
      <p:cxnSp>
        <p:nvCxnSpPr>
          <p:cNvPr id="8" name="Straight Arrow Connector 7">
            <a:extLst>
              <a:ext uri="{FF2B5EF4-FFF2-40B4-BE49-F238E27FC236}">
                <a16:creationId xmlns:a16="http://schemas.microsoft.com/office/drawing/2014/main" id="{4E684234-F5E9-38ED-2A5F-E47B6122B733}"/>
              </a:ext>
            </a:extLst>
          </p:cNvPr>
          <p:cNvCxnSpPr/>
          <p:nvPr/>
        </p:nvCxnSpPr>
        <p:spPr>
          <a:xfrm flipH="1">
            <a:off x="3889829" y="3178629"/>
            <a:ext cx="580572"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pic>
        <p:nvPicPr>
          <p:cNvPr id="10" name="Picture 9">
            <a:extLst>
              <a:ext uri="{FF2B5EF4-FFF2-40B4-BE49-F238E27FC236}">
                <a16:creationId xmlns:a16="http://schemas.microsoft.com/office/drawing/2014/main" id="{40DE7B1A-FDB7-2F88-BA55-65D2AD61ACB1}"/>
              </a:ext>
            </a:extLst>
          </p:cNvPr>
          <p:cNvPicPr>
            <a:picLocks noChangeAspect="1"/>
          </p:cNvPicPr>
          <p:nvPr/>
        </p:nvPicPr>
        <p:blipFill>
          <a:blip r:embed="rId4"/>
          <a:stretch>
            <a:fillRect/>
          </a:stretch>
        </p:blipFill>
        <p:spPr>
          <a:xfrm>
            <a:off x="4273273" y="2930979"/>
            <a:ext cx="1495425" cy="495300"/>
          </a:xfrm>
          <a:prstGeom prst="rect">
            <a:avLst/>
          </a:prstGeom>
        </p:spPr>
      </p:pic>
      <p:pic>
        <p:nvPicPr>
          <p:cNvPr id="12" name="Picture 11">
            <a:extLst>
              <a:ext uri="{FF2B5EF4-FFF2-40B4-BE49-F238E27FC236}">
                <a16:creationId xmlns:a16="http://schemas.microsoft.com/office/drawing/2014/main" id="{B7353CD9-C272-6C1A-D033-9F006EEF5428}"/>
              </a:ext>
            </a:extLst>
          </p:cNvPr>
          <p:cNvPicPr>
            <a:picLocks noChangeAspect="1"/>
          </p:cNvPicPr>
          <p:nvPr/>
        </p:nvPicPr>
        <p:blipFill>
          <a:blip r:embed="rId5"/>
          <a:stretch>
            <a:fillRect/>
          </a:stretch>
        </p:blipFill>
        <p:spPr>
          <a:xfrm>
            <a:off x="6902139" y="2930979"/>
            <a:ext cx="1857375" cy="3914775"/>
          </a:xfrm>
          <a:prstGeom prst="rect">
            <a:avLst/>
          </a:prstGeom>
        </p:spPr>
      </p:pic>
    </p:spTree>
    <p:extLst>
      <p:ext uri="{BB962C8B-B14F-4D97-AF65-F5344CB8AC3E}">
        <p14:creationId xmlns:p14="http://schemas.microsoft.com/office/powerpoint/2010/main" val="20059022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03716-4714-E2D1-64A3-0AB9DD8869E3}"/>
              </a:ext>
            </a:extLst>
          </p:cNvPr>
          <p:cNvSpPr>
            <a:spLocks noGrp="1"/>
          </p:cNvSpPr>
          <p:nvPr>
            <p:ph type="title"/>
          </p:nvPr>
        </p:nvSpPr>
        <p:spPr/>
        <p:txBody>
          <a:bodyPr/>
          <a:lstStyle/>
          <a:p>
            <a:pPr algn="ctr"/>
            <a:r>
              <a:rPr lang="en-US" dirty="0"/>
              <a:t>Transfer data to and from </a:t>
            </a:r>
            <a:r>
              <a:rPr lang="en-US" dirty="0" err="1"/>
              <a:t>NeLS</a:t>
            </a:r>
            <a:br>
              <a:rPr lang="en-US" dirty="0"/>
            </a:br>
            <a:r>
              <a:rPr lang="en-US" dirty="0"/>
              <a:t>(Using the web-portal)</a:t>
            </a:r>
          </a:p>
        </p:txBody>
      </p:sp>
      <p:pic>
        <p:nvPicPr>
          <p:cNvPr id="4" name="Picture 3">
            <a:extLst>
              <a:ext uri="{FF2B5EF4-FFF2-40B4-BE49-F238E27FC236}">
                <a16:creationId xmlns:a16="http://schemas.microsoft.com/office/drawing/2014/main" id="{25F81B52-7BD8-699F-0292-D3D8D6F7964B}"/>
              </a:ext>
            </a:extLst>
          </p:cNvPr>
          <p:cNvPicPr>
            <a:picLocks noChangeAspect="1"/>
          </p:cNvPicPr>
          <p:nvPr/>
        </p:nvPicPr>
        <p:blipFill rotWithShape="1">
          <a:blip r:embed="rId2"/>
          <a:srcRect r="50267"/>
          <a:stretch/>
        </p:blipFill>
        <p:spPr>
          <a:xfrm>
            <a:off x="442090" y="1922674"/>
            <a:ext cx="4340965" cy="4252373"/>
          </a:xfrm>
          <a:prstGeom prst="rect">
            <a:avLst/>
          </a:prstGeom>
        </p:spPr>
      </p:pic>
      <p:cxnSp>
        <p:nvCxnSpPr>
          <p:cNvPr id="6" name="Straight Arrow Connector 5">
            <a:extLst>
              <a:ext uri="{FF2B5EF4-FFF2-40B4-BE49-F238E27FC236}">
                <a16:creationId xmlns:a16="http://schemas.microsoft.com/office/drawing/2014/main" id="{947201A3-3895-9491-2C44-32B4E1ADE3B4}"/>
              </a:ext>
            </a:extLst>
          </p:cNvPr>
          <p:cNvCxnSpPr/>
          <p:nvPr/>
        </p:nvCxnSpPr>
        <p:spPr>
          <a:xfrm flipH="1">
            <a:off x="1480457" y="5776686"/>
            <a:ext cx="928914" cy="0"/>
          </a:xfrm>
          <a:prstGeom prst="straightConnector1">
            <a:avLst/>
          </a:prstGeom>
          <a:ln w="76200">
            <a:tailEnd type="triangle"/>
          </a:ln>
        </p:spPr>
        <p:style>
          <a:lnRef idx="2">
            <a:schemeClr val="accent2"/>
          </a:lnRef>
          <a:fillRef idx="0">
            <a:schemeClr val="accent2"/>
          </a:fillRef>
          <a:effectRef idx="1">
            <a:schemeClr val="accent2"/>
          </a:effectRef>
          <a:fontRef idx="minor">
            <a:schemeClr val="tx1"/>
          </a:fontRef>
        </p:style>
      </p:cxnSp>
      <p:pic>
        <p:nvPicPr>
          <p:cNvPr id="10" name="Picture 9">
            <a:extLst>
              <a:ext uri="{FF2B5EF4-FFF2-40B4-BE49-F238E27FC236}">
                <a16:creationId xmlns:a16="http://schemas.microsoft.com/office/drawing/2014/main" id="{EFB74C4F-896C-F15C-9B74-EDA5DFB3F7C5}"/>
              </a:ext>
            </a:extLst>
          </p:cNvPr>
          <p:cNvPicPr>
            <a:picLocks noChangeAspect="1"/>
          </p:cNvPicPr>
          <p:nvPr/>
        </p:nvPicPr>
        <p:blipFill rotWithShape="1">
          <a:blip r:embed="rId3"/>
          <a:srcRect l="57103" t="1942" r="28500" b="84550"/>
          <a:stretch/>
        </p:blipFill>
        <p:spPr>
          <a:xfrm>
            <a:off x="5021944" y="2016905"/>
            <a:ext cx="3570514" cy="3038606"/>
          </a:xfrm>
          <a:prstGeom prst="rect">
            <a:avLst/>
          </a:prstGeom>
        </p:spPr>
      </p:pic>
      <p:pic>
        <p:nvPicPr>
          <p:cNvPr id="12" name="Picture 11">
            <a:extLst>
              <a:ext uri="{FF2B5EF4-FFF2-40B4-BE49-F238E27FC236}">
                <a16:creationId xmlns:a16="http://schemas.microsoft.com/office/drawing/2014/main" id="{9C222D8A-4F8F-693F-1B03-99A6DB88465C}"/>
              </a:ext>
            </a:extLst>
          </p:cNvPr>
          <p:cNvPicPr>
            <a:picLocks noChangeAspect="1"/>
          </p:cNvPicPr>
          <p:nvPr/>
        </p:nvPicPr>
        <p:blipFill>
          <a:blip r:embed="rId4"/>
          <a:stretch>
            <a:fillRect/>
          </a:stretch>
        </p:blipFill>
        <p:spPr>
          <a:xfrm>
            <a:off x="5021944" y="5055511"/>
            <a:ext cx="5979885" cy="1667658"/>
          </a:xfrm>
          <a:prstGeom prst="rect">
            <a:avLst/>
          </a:prstGeom>
        </p:spPr>
      </p:pic>
      <p:cxnSp>
        <p:nvCxnSpPr>
          <p:cNvPr id="13" name="Straight Arrow Connector 12">
            <a:extLst>
              <a:ext uri="{FF2B5EF4-FFF2-40B4-BE49-F238E27FC236}">
                <a16:creationId xmlns:a16="http://schemas.microsoft.com/office/drawing/2014/main" id="{5E9C8EA3-104E-5817-7FC5-74D4C4CB549A}"/>
              </a:ext>
            </a:extLst>
          </p:cNvPr>
          <p:cNvCxnSpPr>
            <a:cxnSpLocks/>
          </p:cNvCxnSpPr>
          <p:nvPr/>
        </p:nvCxnSpPr>
        <p:spPr>
          <a:xfrm flipH="1">
            <a:off x="10072915" y="6350000"/>
            <a:ext cx="928914" cy="0"/>
          </a:xfrm>
          <a:prstGeom prst="straightConnector1">
            <a:avLst/>
          </a:prstGeom>
          <a:ln w="76200">
            <a:tailEnd type="triangle"/>
          </a:ln>
        </p:spPr>
        <p:style>
          <a:lnRef idx="2">
            <a:schemeClr val="accent2"/>
          </a:lnRef>
          <a:fillRef idx="0">
            <a:schemeClr val="accent2"/>
          </a:fillRef>
          <a:effectRef idx="1">
            <a:schemeClr val="accent2"/>
          </a:effectRef>
          <a:fontRef idx="minor">
            <a:schemeClr val="tx1"/>
          </a:fontRef>
        </p:style>
      </p:cxnSp>
      <p:pic>
        <p:nvPicPr>
          <p:cNvPr id="15" name="Picture 14">
            <a:extLst>
              <a:ext uri="{FF2B5EF4-FFF2-40B4-BE49-F238E27FC236}">
                <a16:creationId xmlns:a16="http://schemas.microsoft.com/office/drawing/2014/main" id="{08B70A18-1776-DC53-028A-6BBD5DC4975E}"/>
              </a:ext>
            </a:extLst>
          </p:cNvPr>
          <p:cNvPicPr>
            <a:picLocks noChangeAspect="1"/>
          </p:cNvPicPr>
          <p:nvPr/>
        </p:nvPicPr>
        <p:blipFill>
          <a:blip r:embed="rId5"/>
          <a:stretch>
            <a:fillRect/>
          </a:stretch>
        </p:blipFill>
        <p:spPr>
          <a:xfrm>
            <a:off x="0" y="0"/>
            <a:ext cx="1968851" cy="1325563"/>
          </a:xfrm>
          <a:prstGeom prst="rect">
            <a:avLst/>
          </a:prstGeom>
        </p:spPr>
      </p:pic>
    </p:spTree>
    <p:extLst>
      <p:ext uri="{BB962C8B-B14F-4D97-AF65-F5344CB8AC3E}">
        <p14:creationId xmlns:p14="http://schemas.microsoft.com/office/powerpoint/2010/main" val="39082609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45242-BE0B-9D10-D017-054590AB15D8}"/>
              </a:ext>
            </a:extLst>
          </p:cNvPr>
          <p:cNvSpPr>
            <a:spLocks noGrp="1"/>
          </p:cNvSpPr>
          <p:nvPr>
            <p:ph type="title"/>
          </p:nvPr>
        </p:nvSpPr>
        <p:spPr>
          <a:xfrm>
            <a:off x="838200" y="464116"/>
            <a:ext cx="10515600" cy="1325563"/>
          </a:xfrm>
        </p:spPr>
        <p:txBody>
          <a:bodyPr/>
          <a:lstStyle/>
          <a:p>
            <a:pPr algn="ctr"/>
            <a:r>
              <a:rPr lang="en-US" dirty="0"/>
              <a:t>Using </a:t>
            </a:r>
            <a:r>
              <a:rPr lang="en-US" dirty="0" err="1"/>
              <a:t>NeLS</a:t>
            </a:r>
            <a:r>
              <a:rPr lang="en-US" dirty="0"/>
              <a:t> trough the CLI</a:t>
            </a:r>
          </a:p>
        </p:txBody>
      </p:sp>
      <p:pic>
        <p:nvPicPr>
          <p:cNvPr id="6146" name="Picture 2" descr="cli · GitHub Topics · GitHub">
            <a:extLst>
              <a:ext uri="{FF2B5EF4-FFF2-40B4-BE49-F238E27FC236}">
                <a16:creationId xmlns:a16="http://schemas.microsoft.com/office/drawing/2014/main" id="{5D734983-B92A-2812-E59B-7F26281D39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26898"/>
            <a:ext cx="2743200" cy="27432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70F8C51E-54D0-6DDB-859F-F5AC251C32C7}"/>
              </a:ext>
            </a:extLst>
          </p:cNvPr>
          <p:cNvPicPr>
            <a:picLocks noChangeAspect="1"/>
          </p:cNvPicPr>
          <p:nvPr/>
        </p:nvPicPr>
        <p:blipFill>
          <a:blip r:embed="rId3"/>
          <a:stretch>
            <a:fillRect/>
          </a:stretch>
        </p:blipFill>
        <p:spPr>
          <a:xfrm>
            <a:off x="0" y="0"/>
            <a:ext cx="1968851" cy="1325563"/>
          </a:xfrm>
          <a:prstGeom prst="rect">
            <a:avLst/>
          </a:prstGeom>
        </p:spPr>
      </p:pic>
      <p:sp>
        <p:nvSpPr>
          <p:cNvPr id="4" name="TextBox 3">
            <a:extLst>
              <a:ext uri="{FF2B5EF4-FFF2-40B4-BE49-F238E27FC236}">
                <a16:creationId xmlns:a16="http://schemas.microsoft.com/office/drawing/2014/main" id="{D02AABE3-7EFD-7A26-1EB9-977DBBEBC33B}"/>
              </a:ext>
            </a:extLst>
          </p:cNvPr>
          <p:cNvSpPr txBox="1"/>
          <p:nvPr/>
        </p:nvSpPr>
        <p:spPr>
          <a:xfrm>
            <a:off x="2794000" y="2009384"/>
            <a:ext cx="8509000" cy="1077218"/>
          </a:xfrm>
          <a:prstGeom prst="rect">
            <a:avLst/>
          </a:prstGeom>
          <a:noFill/>
        </p:spPr>
        <p:txBody>
          <a:bodyPr wrap="square" rtlCol="0">
            <a:spAutoFit/>
          </a:bodyPr>
          <a:lstStyle/>
          <a:p>
            <a:pPr marL="457200" indent="-457200">
              <a:buFont typeface="Arial" panose="020B0604020202020204" pitchFamily="34" charset="0"/>
              <a:buChar char="•"/>
            </a:pPr>
            <a:r>
              <a:rPr lang="en-US" sz="3200" dirty="0" err="1"/>
              <a:t>NeLS</a:t>
            </a:r>
            <a:r>
              <a:rPr lang="en-US" sz="3200" dirty="0"/>
              <a:t> servers can be reached directly from the CLI using Secure Shell (SSH) protocol:</a:t>
            </a:r>
          </a:p>
        </p:txBody>
      </p:sp>
      <p:pic>
        <p:nvPicPr>
          <p:cNvPr id="6" name="Picture 5">
            <a:extLst>
              <a:ext uri="{FF2B5EF4-FFF2-40B4-BE49-F238E27FC236}">
                <a16:creationId xmlns:a16="http://schemas.microsoft.com/office/drawing/2014/main" id="{81AD283C-CB1E-E147-BB8D-FA19ECC48B2A}"/>
              </a:ext>
            </a:extLst>
          </p:cNvPr>
          <p:cNvPicPr>
            <a:picLocks noChangeAspect="1"/>
          </p:cNvPicPr>
          <p:nvPr/>
        </p:nvPicPr>
        <p:blipFill>
          <a:blip r:embed="rId4"/>
          <a:stretch>
            <a:fillRect/>
          </a:stretch>
        </p:blipFill>
        <p:spPr>
          <a:xfrm>
            <a:off x="5480504" y="3306308"/>
            <a:ext cx="2371725" cy="466725"/>
          </a:xfrm>
          <a:prstGeom prst="rect">
            <a:avLst/>
          </a:prstGeom>
        </p:spPr>
      </p:pic>
      <p:cxnSp>
        <p:nvCxnSpPr>
          <p:cNvPr id="10" name="Straight Arrow Connector 9">
            <a:extLst>
              <a:ext uri="{FF2B5EF4-FFF2-40B4-BE49-F238E27FC236}">
                <a16:creationId xmlns:a16="http://schemas.microsoft.com/office/drawing/2014/main" id="{AD020BD5-6ED5-2337-DE70-B2EFB92FBEDB}"/>
              </a:ext>
            </a:extLst>
          </p:cNvPr>
          <p:cNvCxnSpPr/>
          <p:nvPr/>
        </p:nvCxnSpPr>
        <p:spPr>
          <a:xfrm>
            <a:off x="6516914" y="3870098"/>
            <a:ext cx="0" cy="761773"/>
          </a:xfrm>
          <a:prstGeom prst="straightConnector1">
            <a:avLst/>
          </a:prstGeom>
          <a:ln w="76200">
            <a:tailEnd type="triangle"/>
          </a:ln>
        </p:spPr>
        <p:style>
          <a:lnRef idx="2">
            <a:schemeClr val="accent2"/>
          </a:lnRef>
          <a:fillRef idx="0">
            <a:schemeClr val="accent2"/>
          </a:fillRef>
          <a:effectRef idx="1">
            <a:schemeClr val="accent2"/>
          </a:effectRef>
          <a:fontRef idx="minor">
            <a:schemeClr val="tx1"/>
          </a:fontRef>
        </p:style>
      </p:cxnSp>
      <p:pic>
        <p:nvPicPr>
          <p:cNvPr id="7" name="Picture 6">
            <a:extLst>
              <a:ext uri="{FF2B5EF4-FFF2-40B4-BE49-F238E27FC236}">
                <a16:creationId xmlns:a16="http://schemas.microsoft.com/office/drawing/2014/main" id="{02928AE2-33E6-A21C-2E7E-75C647431A84}"/>
              </a:ext>
            </a:extLst>
          </p:cNvPr>
          <p:cNvPicPr>
            <a:picLocks noChangeAspect="1"/>
          </p:cNvPicPr>
          <p:nvPr/>
        </p:nvPicPr>
        <p:blipFill>
          <a:blip r:embed="rId5"/>
          <a:stretch>
            <a:fillRect/>
          </a:stretch>
        </p:blipFill>
        <p:spPr>
          <a:xfrm>
            <a:off x="4563611" y="4628604"/>
            <a:ext cx="4732578" cy="2229396"/>
          </a:xfrm>
          <a:prstGeom prst="rect">
            <a:avLst/>
          </a:prstGeom>
        </p:spPr>
      </p:pic>
    </p:spTree>
    <p:extLst>
      <p:ext uri="{BB962C8B-B14F-4D97-AF65-F5344CB8AC3E}">
        <p14:creationId xmlns:p14="http://schemas.microsoft.com/office/powerpoint/2010/main" val="34677404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F16F0D8-69CF-C4C3-16BE-B0B35EEEBC3F}"/>
              </a:ext>
            </a:extLst>
          </p:cNvPr>
          <p:cNvPicPr>
            <a:picLocks noChangeAspect="1"/>
          </p:cNvPicPr>
          <p:nvPr/>
        </p:nvPicPr>
        <p:blipFill>
          <a:blip r:embed="rId2"/>
          <a:stretch>
            <a:fillRect/>
          </a:stretch>
        </p:blipFill>
        <p:spPr>
          <a:xfrm>
            <a:off x="2422684" y="2246152"/>
            <a:ext cx="5965241" cy="3401836"/>
          </a:xfrm>
          <a:prstGeom prst="rect">
            <a:avLst/>
          </a:prstGeom>
        </p:spPr>
      </p:pic>
      <p:sp>
        <p:nvSpPr>
          <p:cNvPr id="9" name="Title 1">
            <a:extLst>
              <a:ext uri="{FF2B5EF4-FFF2-40B4-BE49-F238E27FC236}">
                <a16:creationId xmlns:a16="http://schemas.microsoft.com/office/drawing/2014/main" id="{F93E07CE-63C0-9C89-FBB5-DA7D37CA7EAC}"/>
              </a:ext>
            </a:extLst>
          </p:cNvPr>
          <p:cNvSpPr>
            <a:spLocks noGrp="1"/>
          </p:cNvSpPr>
          <p:nvPr>
            <p:ph type="title"/>
          </p:nvPr>
        </p:nvSpPr>
        <p:spPr>
          <a:xfrm>
            <a:off x="838200" y="365125"/>
            <a:ext cx="10515600" cy="1325563"/>
          </a:xfrm>
        </p:spPr>
        <p:txBody>
          <a:bodyPr/>
          <a:lstStyle/>
          <a:p>
            <a:pPr algn="ctr"/>
            <a:r>
              <a:rPr lang="en-US" dirty="0"/>
              <a:t>Using </a:t>
            </a:r>
            <a:r>
              <a:rPr lang="en-US" dirty="0" err="1"/>
              <a:t>NeLS</a:t>
            </a:r>
            <a:r>
              <a:rPr lang="en-US" dirty="0"/>
              <a:t> trough the CLI</a:t>
            </a:r>
          </a:p>
        </p:txBody>
      </p:sp>
      <p:pic>
        <p:nvPicPr>
          <p:cNvPr id="10" name="Picture 9">
            <a:extLst>
              <a:ext uri="{FF2B5EF4-FFF2-40B4-BE49-F238E27FC236}">
                <a16:creationId xmlns:a16="http://schemas.microsoft.com/office/drawing/2014/main" id="{5A376506-0A6D-4125-718E-A8F9ACFA40FC}"/>
              </a:ext>
            </a:extLst>
          </p:cNvPr>
          <p:cNvPicPr>
            <a:picLocks noChangeAspect="1"/>
          </p:cNvPicPr>
          <p:nvPr/>
        </p:nvPicPr>
        <p:blipFill>
          <a:blip r:embed="rId3"/>
          <a:stretch>
            <a:fillRect/>
          </a:stretch>
        </p:blipFill>
        <p:spPr>
          <a:xfrm>
            <a:off x="0" y="0"/>
            <a:ext cx="1968851" cy="1325563"/>
          </a:xfrm>
          <a:prstGeom prst="rect">
            <a:avLst/>
          </a:prstGeom>
        </p:spPr>
      </p:pic>
    </p:spTree>
    <p:extLst>
      <p:ext uri="{BB962C8B-B14F-4D97-AF65-F5344CB8AC3E}">
        <p14:creationId xmlns:p14="http://schemas.microsoft.com/office/powerpoint/2010/main" val="13233921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B3F01-4B04-EA06-6332-617C682AD4EB}"/>
              </a:ext>
            </a:extLst>
          </p:cNvPr>
          <p:cNvSpPr>
            <a:spLocks noGrp="1"/>
          </p:cNvSpPr>
          <p:nvPr>
            <p:ph type="ctrTitle"/>
          </p:nvPr>
        </p:nvSpPr>
        <p:spPr>
          <a:xfrm>
            <a:off x="3493478" y="3954870"/>
            <a:ext cx="7640470" cy="864096"/>
          </a:xfrm>
        </p:spPr>
        <p:txBody>
          <a:bodyPr>
            <a:normAutofit/>
          </a:bodyPr>
          <a:lstStyle/>
          <a:p>
            <a:pPr algn="ctr"/>
            <a:r>
              <a:rPr lang="en-US" dirty="0" err="1"/>
              <a:t>usegalaxy.no</a:t>
            </a:r>
            <a:endParaRPr lang="en-US" dirty="0"/>
          </a:p>
        </p:txBody>
      </p:sp>
    </p:spTree>
    <p:extLst>
      <p:ext uri="{BB962C8B-B14F-4D97-AF65-F5344CB8AC3E}">
        <p14:creationId xmlns:p14="http://schemas.microsoft.com/office/powerpoint/2010/main" val="29018390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B8DFB782-96FB-05EA-BBE8-8528B052A8A2}"/>
              </a:ext>
            </a:extLst>
          </p:cNvPr>
          <p:cNvSpPr txBox="1"/>
          <p:nvPr/>
        </p:nvSpPr>
        <p:spPr>
          <a:xfrm>
            <a:off x="3875695" y="3064768"/>
            <a:ext cx="765979" cy="369332"/>
          </a:xfrm>
          <a:prstGeom prst="rect">
            <a:avLst/>
          </a:prstGeom>
          <a:noFill/>
        </p:spPr>
        <p:txBody>
          <a:bodyPr wrap="none" rtlCol="0">
            <a:spAutoFit/>
          </a:bodyPr>
          <a:lstStyle/>
          <a:p>
            <a:r>
              <a:rPr lang="en-NO" dirty="0"/>
              <a:t>DATA</a:t>
            </a:r>
          </a:p>
        </p:txBody>
      </p:sp>
      <p:pic>
        <p:nvPicPr>
          <p:cNvPr id="12" name="Picture 11">
            <a:extLst>
              <a:ext uri="{FF2B5EF4-FFF2-40B4-BE49-F238E27FC236}">
                <a16:creationId xmlns:a16="http://schemas.microsoft.com/office/drawing/2014/main" id="{C6E26CA0-A9FD-A1C4-AD11-A243F4C32A93}"/>
              </a:ext>
            </a:extLst>
          </p:cNvPr>
          <p:cNvPicPr>
            <a:picLocks noChangeAspect="1"/>
          </p:cNvPicPr>
          <p:nvPr/>
        </p:nvPicPr>
        <p:blipFill>
          <a:blip r:embed="rId2">
            <a:lum/>
            <a:alphaModFix/>
          </a:blip>
          <a:srcRect/>
          <a:stretch>
            <a:fillRect/>
          </a:stretch>
        </p:blipFill>
        <p:spPr>
          <a:xfrm>
            <a:off x="6645046" y="2220048"/>
            <a:ext cx="688134" cy="788907"/>
          </a:xfrm>
          <a:prstGeom prst="rect">
            <a:avLst/>
          </a:prstGeom>
          <a:noFill/>
          <a:ln>
            <a:noFill/>
          </a:ln>
        </p:spPr>
      </p:pic>
      <p:pic>
        <p:nvPicPr>
          <p:cNvPr id="13" name="Picture 12">
            <a:extLst>
              <a:ext uri="{FF2B5EF4-FFF2-40B4-BE49-F238E27FC236}">
                <a16:creationId xmlns:a16="http://schemas.microsoft.com/office/drawing/2014/main" id="{115C94C7-3456-2C71-D43E-1765264C0330}"/>
              </a:ext>
            </a:extLst>
          </p:cNvPr>
          <p:cNvPicPr>
            <a:picLocks noChangeAspect="1"/>
          </p:cNvPicPr>
          <p:nvPr/>
        </p:nvPicPr>
        <p:blipFill>
          <a:blip r:embed="rId3">
            <a:lum/>
            <a:alphaModFix/>
          </a:blip>
          <a:srcRect/>
          <a:stretch>
            <a:fillRect/>
          </a:stretch>
        </p:blipFill>
        <p:spPr>
          <a:xfrm>
            <a:off x="3807963" y="4102904"/>
            <a:ext cx="788907" cy="788907"/>
          </a:xfrm>
          <a:prstGeom prst="rect">
            <a:avLst/>
          </a:prstGeom>
          <a:noFill/>
          <a:ln>
            <a:noFill/>
          </a:ln>
        </p:spPr>
      </p:pic>
      <p:pic>
        <p:nvPicPr>
          <p:cNvPr id="14" name="Picture 8" descr="Free Dna Icon of Colored Outline style - Available in SVG, PNG, EPS, AI &amp;amp;  Icon fonts">
            <a:extLst>
              <a:ext uri="{FF2B5EF4-FFF2-40B4-BE49-F238E27FC236}">
                <a16:creationId xmlns:a16="http://schemas.microsoft.com/office/drawing/2014/main" id="{8F2124F0-15E9-D28A-981B-D5C9817BD7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4334" y="1923489"/>
            <a:ext cx="1390062" cy="1390062"/>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B750ED83-AA68-52C6-824F-40201AB813FA}"/>
              </a:ext>
            </a:extLst>
          </p:cNvPr>
          <p:cNvSpPr txBox="1"/>
          <p:nvPr/>
        </p:nvSpPr>
        <p:spPr>
          <a:xfrm>
            <a:off x="3676719" y="5008080"/>
            <a:ext cx="1390061" cy="369332"/>
          </a:xfrm>
          <a:prstGeom prst="rect">
            <a:avLst/>
          </a:prstGeom>
          <a:noFill/>
        </p:spPr>
        <p:txBody>
          <a:bodyPr wrap="none" rtlCol="0">
            <a:spAutoFit/>
          </a:bodyPr>
          <a:lstStyle/>
          <a:p>
            <a:r>
              <a:rPr lang="en-NO" dirty="0"/>
              <a:t>METADATA</a:t>
            </a:r>
          </a:p>
        </p:txBody>
      </p:sp>
      <p:sp>
        <p:nvSpPr>
          <p:cNvPr id="16" name="TextBox 15">
            <a:extLst>
              <a:ext uri="{FF2B5EF4-FFF2-40B4-BE49-F238E27FC236}">
                <a16:creationId xmlns:a16="http://schemas.microsoft.com/office/drawing/2014/main" id="{F84CE5EE-4AF0-7C13-EC89-4475B450864A}"/>
              </a:ext>
            </a:extLst>
          </p:cNvPr>
          <p:cNvSpPr txBox="1"/>
          <p:nvPr/>
        </p:nvSpPr>
        <p:spPr>
          <a:xfrm>
            <a:off x="6255917" y="3068039"/>
            <a:ext cx="1941685" cy="369332"/>
          </a:xfrm>
          <a:prstGeom prst="rect">
            <a:avLst/>
          </a:prstGeom>
          <a:noFill/>
        </p:spPr>
        <p:txBody>
          <a:bodyPr wrap="none" rtlCol="0">
            <a:spAutoFit/>
          </a:bodyPr>
          <a:lstStyle/>
          <a:p>
            <a:r>
              <a:rPr lang="en-NO" dirty="0"/>
              <a:t>DATA STORAGE</a:t>
            </a:r>
          </a:p>
        </p:txBody>
      </p:sp>
      <p:pic>
        <p:nvPicPr>
          <p:cNvPr id="17" name="Picture 16">
            <a:extLst>
              <a:ext uri="{FF2B5EF4-FFF2-40B4-BE49-F238E27FC236}">
                <a16:creationId xmlns:a16="http://schemas.microsoft.com/office/drawing/2014/main" id="{14C91883-D231-CBC9-C62F-62F85479C98D}"/>
              </a:ext>
            </a:extLst>
          </p:cNvPr>
          <p:cNvPicPr>
            <a:picLocks noChangeAspect="1"/>
          </p:cNvPicPr>
          <p:nvPr/>
        </p:nvPicPr>
        <p:blipFill>
          <a:blip r:embed="rId5">
            <a:lum/>
            <a:alphaModFix/>
          </a:blip>
          <a:srcRect/>
          <a:stretch>
            <a:fillRect/>
          </a:stretch>
        </p:blipFill>
        <p:spPr>
          <a:xfrm>
            <a:off x="1595058" y="3313697"/>
            <a:ext cx="629529" cy="749938"/>
          </a:xfrm>
          <a:prstGeom prst="rect">
            <a:avLst/>
          </a:prstGeom>
          <a:noFill/>
          <a:ln>
            <a:noFill/>
          </a:ln>
        </p:spPr>
      </p:pic>
      <p:pic>
        <p:nvPicPr>
          <p:cNvPr id="18" name="Picture 10" descr="Big Data Icon Png - Quantum Computing">
            <a:extLst>
              <a:ext uri="{FF2B5EF4-FFF2-40B4-BE49-F238E27FC236}">
                <a16:creationId xmlns:a16="http://schemas.microsoft.com/office/drawing/2014/main" id="{7A8D7D17-1605-5FCC-B5F1-0821740A096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9635681" y="3313697"/>
            <a:ext cx="688132" cy="688132"/>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2" descr="New standards coming for ISAOs -- FCW">
            <a:extLst>
              <a:ext uri="{FF2B5EF4-FFF2-40B4-BE49-F238E27FC236}">
                <a16:creationId xmlns:a16="http://schemas.microsoft.com/office/drawing/2014/main" id="{61CE849B-E923-DC27-7924-BE6FC6C7D96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50653" y="3996727"/>
            <a:ext cx="1011767" cy="1011767"/>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B0ADBC59-ECDA-8742-0289-38488FAD62B6}"/>
              </a:ext>
            </a:extLst>
          </p:cNvPr>
          <p:cNvSpPr txBox="1"/>
          <p:nvPr/>
        </p:nvSpPr>
        <p:spPr>
          <a:xfrm>
            <a:off x="1257403" y="4302003"/>
            <a:ext cx="1685077" cy="369332"/>
          </a:xfrm>
          <a:prstGeom prst="rect">
            <a:avLst/>
          </a:prstGeom>
          <a:noFill/>
        </p:spPr>
        <p:txBody>
          <a:bodyPr wrap="none" rtlCol="0">
            <a:spAutoFit/>
          </a:bodyPr>
          <a:lstStyle/>
          <a:p>
            <a:r>
              <a:rPr lang="en-NO" dirty="0"/>
              <a:t>EXPERIMENT</a:t>
            </a:r>
          </a:p>
        </p:txBody>
      </p:sp>
      <p:sp>
        <p:nvSpPr>
          <p:cNvPr id="21" name="TextBox 20">
            <a:extLst>
              <a:ext uri="{FF2B5EF4-FFF2-40B4-BE49-F238E27FC236}">
                <a16:creationId xmlns:a16="http://schemas.microsoft.com/office/drawing/2014/main" id="{FD87B923-A0E7-6077-134A-21E8B05A93B3}"/>
              </a:ext>
            </a:extLst>
          </p:cNvPr>
          <p:cNvSpPr txBox="1"/>
          <p:nvPr/>
        </p:nvSpPr>
        <p:spPr>
          <a:xfrm>
            <a:off x="6214969" y="5008080"/>
            <a:ext cx="1915974" cy="369332"/>
          </a:xfrm>
          <a:prstGeom prst="rect">
            <a:avLst/>
          </a:prstGeom>
          <a:noFill/>
        </p:spPr>
        <p:txBody>
          <a:bodyPr wrap="none" rtlCol="0">
            <a:spAutoFit/>
          </a:bodyPr>
          <a:lstStyle/>
          <a:p>
            <a:r>
              <a:rPr lang="en-NO" dirty="0"/>
              <a:t>DATA ANALYSIS</a:t>
            </a:r>
          </a:p>
        </p:txBody>
      </p:sp>
      <p:sp>
        <p:nvSpPr>
          <p:cNvPr id="22" name="TextBox 21">
            <a:extLst>
              <a:ext uri="{FF2B5EF4-FFF2-40B4-BE49-F238E27FC236}">
                <a16:creationId xmlns:a16="http://schemas.microsoft.com/office/drawing/2014/main" id="{DB4D6797-8A89-5E7F-6B78-5F3F63166600}"/>
              </a:ext>
            </a:extLst>
          </p:cNvPr>
          <p:cNvSpPr txBox="1"/>
          <p:nvPr/>
        </p:nvSpPr>
        <p:spPr>
          <a:xfrm>
            <a:off x="9062543" y="4302003"/>
            <a:ext cx="2240806" cy="369332"/>
          </a:xfrm>
          <a:prstGeom prst="rect">
            <a:avLst/>
          </a:prstGeom>
          <a:noFill/>
        </p:spPr>
        <p:txBody>
          <a:bodyPr wrap="none" rtlCol="0">
            <a:spAutoFit/>
          </a:bodyPr>
          <a:lstStyle/>
          <a:p>
            <a:r>
              <a:rPr lang="en-NO" dirty="0"/>
              <a:t>DATA DEPOSITION</a:t>
            </a:r>
          </a:p>
        </p:txBody>
      </p:sp>
      <p:sp>
        <p:nvSpPr>
          <p:cNvPr id="23" name="Straight Connector 22">
            <a:extLst>
              <a:ext uri="{FF2B5EF4-FFF2-40B4-BE49-F238E27FC236}">
                <a16:creationId xmlns:a16="http://schemas.microsoft.com/office/drawing/2014/main" id="{5C509EA8-4E69-166D-2D1C-15F43A215F11}"/>
              </a:ext>
            </a:extLst>
          </p:cNvPr>
          <p:cNvSpPr/>
          <p:nvPr/>
        </p:nvSpPr>
        <p:spPr>
          <a:xfrm>
            <a:off x="2387094" y="3688666"/>
            <a:ext cx="871633" cy="0"/>
          </a:xfrm>
          <a:prstGeom prst="line">
            <a:avLst/>
          </a:prstGeom>
          <a:noFill/>
          <a:ln w="36000">
            <a:solidFill>
              <a:srgbClr val="000000"/>
            </a:solidFill>
            <a:prstDash val="solid"/>
            <a:tailEnd type="arrow"/>
          </a:ln>
        </p:spPr>
        <p:txBody>
          <a:bodyPr vert="horz" wrap="none" lIns="108000" tIns="63000" rIns="108000" bIns="63000" anchor="ctr" anchorCtr="0" compatLnSpc="0"/>
          <a:lstStyle/>
          <a:p>
            <a:pPr marL="0" marR="0" lvl="0" indent="0" rtl="0" hangingPunct="0">
              <a:lnSpc>
                <a:spcPct val="100000"/>
              </a:lnSpc>
              <a:spcBef>
                <a:spcPts val="0"/>
              </a:spcBef>
              <a:spcAft>
                <a:spcPts val="0"/>
              </a:spcAft>
              <a:buNone/>
              <a:tabLst/>
            </a:pPr>
            <a:endParaRPr lang="en-GB" sz="1800" b="0" i="0" u="none" strike="noStrike" kern="1200" cap="none">
              <a:ln>
                <a:noFill/>
              </a:ln>
              <a:latin typeface="Liberation Sans" pitchFamily="18"/>
              <a:ea typeface="Droid Sans Fallback" pitchFamily="2"/>
              <a:cs typeface="FreeSans" pitchFamily="2"/>
            </a:endParaRPr>
          </a:p>
        </p:txBody>
      </p:sp>
      <p:sp>
        <p:nvSpPr>
          <p:cNvPr id="24" name="Straight Connector 23">
            <a:extLst>
              <a:ext uri="{FF2B5EF4-FFF2-40B4-BE49-F238E27FC236}">
                <a16:creationId xmlns:a16="http://schemas.microsoft.com/office/drawing/2014/main" id="{CDE77380-C4CA-A9FA-1012-2431E162201F}"/>
              </a:ext>
            </a:extLst>
          </p:cNvPr>
          <p:cNvSpPr/>
          <p:nvPr/>
        </p:nvSpPr>
        <p:spPr>
          <a:xfrm>
            <a:off x="4846647" y="3688666"/>
            <a:ext cx="871633" cy="0"/>
          </a:xfrm>
          <a:prstGeom prst="line">
            <a:avLst/>
          </a:prstGeom>
          <a:noFill/>
          <a:ln w="36000">
            <a:solidFill>
              <a:srgbClr val="000000"/>
            </a:solidFill>
            <a:prstDash val="solid"/>
            <a:tailEnd type="arrow"/>
          </a:ln>
        </p:spPr>
        <p:txBody>
          <a:bodyPr vert="horz" wrap="none" lIns="108000" tIns="63000" rIns="108000" bIns="63000" anchor="ctr" anchorCtr="0" compatLnSpc="0"/>
          <a:lstStyle/>
          <a:p>
            <a:pPr marL="0" marR="0" lvl="0" indent="0" rtl="0" hangingPunct="0">
              <a:lnSpc>
                <a:spcPct val="100000"/>
              </a:lnSpc>
              <a:spcBef>
                <a:spcPts val="0"/>
              </a:spcBef>
              <a:spcAft>
                <a:spcPts val="0"/>
              </a:spcAft>
              <a:buNone/>
              <a:tabLst/>
            </a:pPr>
            <a:endParaRPr lang="en-GB" sz="1800" b="0" i="0" u="none" strike="noStrike" kern="1200" cap="none">
              <a:ln>
                <a:noFill/>
              </a:ln>
              <a:latin typeface="Liberation Sans" pitchFamily="18"/>
              <a:ea typeface="Droid Sans Fallback" pitchFamily="2"/>
              <a:cs typeface="FreeSans" pitchFamily="2"/>
            </a:endParaRPr>
          </a:p>
        </p:txBody>
      </p:sp>
      <p:sp>
        <p:nvSpPr>
          <p:cNvPr id="25" name="Straight Connector 24">
            <a:extLst>
              <a:ext uri="{FF2B5EF4-FFF2-40B4-BE49-F238E27FC236}">
                <a16:creationId xmlns:a16="http://schemas.microsoft.com/office/drawing/2014/main" id="{8F13C08E-7100-4B35-92D3-9E6F181FDC9C}"/>
              </a:ext>
            </a:extLst>
          </p:cNvPr>
          <p:cNvSpPr/>
          <p:nvPr/>
        </p:nvSpPr>
        <p:spPr>
          <a:xfrm>
            <a:off x="8338862" y="3688666"/>
            <a:ext cx="871633" cy="0"/>
          </a:xfrm>
          <a:prstGeom prst="line">
            <a:avLst/>
          </a:prstGeom>
          <a:noFill/>
          <a:ln w="36000">
            <a:solidFill>
              <a:srgbClr val="000000"/>
            </a:solidFill>
            <a:prstDash val="solid"/>
            <a:tailEnd type="arrow"/>
          </a:ln>
        </p:spPr>
        <p:txBody>
          <a:bodyPr vert="horz" wrap="none" lIns="108000" tIns="63000" rIns="108000" bIns="63000" anchor="ctr" anchorCtr="0" compatLnSpc="0"/>
          <a:lstStyle/>
          <a:p>
            <a:pPr marL="0" marR="0" lvl="0" indent="0" rtl="0" hangingPunct="0">
              <a:lnSpc>
                <a:spcPct val="100000"/>
              </a:lnSpc>
              <a:spcBef>
                <a:spcPts val="0"/>
              </a:spcBef>
              <a:spcAft>
                <a:spcPts val="0"/>
              </a:spcAft>
              <a:buNone/>
              <a:tabLst/>
            </a:pPr>
            <a:endParaRPr lang="en-GB" sz="1800" b="0" i="0" u="none" strike="noStrike" kern="1200" cap="none">
              <a:ln>
                <a:noFill/>
              </a:ln>
              <a:latin typeface="Liberation Sans" pitchFamily="18"/>
              <a:ea typeface="Droid Sans Fallback" pitchFamily="2"/>
              <a:cs typeface="FreeSans" pitchFamily="2"/>
            </a:endParaRPr>
          </a:p>
        </p:txBody>
      </p:sp>
      <p:sp>
        <p:nvSpPr>
          <p:cNvPr id="26" name="Straight Connector 25">
            <a:extLst>
              <a:ext uri="{FF2B5EF4-FFF2-40B4-BE49-F238E27FC236}">
                <a16:creationId xmlns:a16="http://schemas.microsoft.com/office/drawing/2014/main" id="{741FC48E-766C-2418-BB0A-49997CC42A59}"/>
              </a:ext>
            </a:extLst>
          </p:cNvPr>
          <p:cNvSpPr/>
          <p:nvPr/>
        </p:nvSpPr>
        <p:spPr>
          <a:xfrm>
            <a:off x="7172956" y="3376966"/>
            <a:ext cx="0" cy="542035"/>
          </a:xfrm>
          <a:prstGeom prst="line">
            <a:avLst/>
          </a:prstGeom>
          <a:noFill/>
          <a:ln w="36000">
            <a:solidFill>
              <a:srgbClr val="000000"/>
            </a:solidFill>
            <a:prstDash val="solid"/>
            <a:tailEnd type="arrow"/>
          </a:ln>
        </p:spPr>
        <p:txBody>
          <a:bodyPr vert="horz" wrap="none" lIns="108000" tIns="63000" rIns="108000" bIns="63000" anchor="ctr" anchorCtr="0" compatLnSpc="0"/>
          <a:lstStyle/>
          <a:p>
            <a:pPr marL="0" marR="0" lvl="0" indent="0" rtl="0" hangingPunct="0">
              <a:lnSpc>
                <a:spcPct val="100000"/>
              </a:lnSpc>
              <a:spcBef>
                <a:spcPts val="0"/>
              </a:spcBef>
              <a:spcAft>
                <a:spcPts val="0"/>
              </a:spcAft>
              <a:buNone/>
              <a:tabLst/>
            </a:pPr>
            <a:endParaRPr lang="en-GB" sz="1800" b="0" i="0" u="none" strike="noStrike" kern="1200" cap="none">
              <a:ln>
                <a:noFill/>
              </a:ln>
              <a:latin typeface="Liberation Sans" pitchFamily="18"/>
              <a:ea typeface="Droid Sans Fallback" pitchFamily="2"/>
              <a:cs typeface="FreeSans" pitchFamily="2"/>
            </a:endParaRPr>
          </a:p>
        </p:txBody>
      </p:sp>
      <p:sp>
        <p:nvSpPr>
          <p:cNvPr id="27" name="Straight Connector 26">
            <a:extLst>
              <a:ext uri="{FF2B5EF4-FFF2-40B4-BE49-F238E27FC236}">
                <a16:creationId xmlns:a16="http://schemas.microsoft.com/office/drawing/2014/main" id="{66ABC51A-EC99-35F9-F53D-044D100526DD}"/>
              </a:ext>
            </a:extLst>
          </p:cNvPr>
          <p:cNvSpPr/>
          <p:nvPr/>
        </p:nvSpPr>
        <p:spPr>
          <a:xfrm flipV="1">
            <a:off x="6812219" y="3377327"/>
            <a:ext cx="0" cy="530986"/>
          </a:xfrm>
          <a:prstGeom prst="line">
            <a:avLst/>
          </a:prstGeom>
          <a:noFill/>
          <a:ln w="36000">
            <a:solidFill>
              <a:srgbClr val="000000"/>
            </a:solidFill>
            <a:prstDash val="solid"/>
            <a:tailEnd type="arrow"/>
          </a:ln>
        </p:spPr>
        <p:txBody>
          <a:bodyPr vert="horz" wrap="none" lIns="108000" tIns="63000" rIns="108000" bIns="63000" anchor="ctr" anchorCtr="0" compatLnSpc="0"/>
          <a:lstStyle/>
          <a:p>
            <a:pPr marL="0" marR="0" lvl="0" indent="0" rtl="0" hangingPunct="0">
              <a:lnSpc>
                <a:spcPct val="100000"/>
              </a:lnSpc>
              <a:spcBef>
                <a:spcPts val="0"/>
              </a:spcBef>
              <a:spcAft>
                <a:spcPts val="0"/>
              </a:spcAft>
              <a:buNone/>
              <a:tabLst/>
            </a:pPr>
            <a:endParaRPr lang="en-GB" sz="1800" b="0" i="0" u="none" strike="noStrike" kern="1200" cap="none">
              <a:ln>
                <a:noFill/>
              </a:ln>
              <a:latin typeface="Liberation Sans" pitchFamily="18"/>
              <a:ea typeface="Droid Sans Fallback" pitchFamily="2"/>
              <a:cs typeface="FreeSans" pitchFamily="2"/>
            </a:endParaRPr>
          </a:p>
        </p:txBody>
      </p:sp>
      <p:sp>
        <p:nvSpPr>
          <p:cNvPr id="28" name="Straight Connector 27">
            <a:extLst>
              <a:ext uri="{FF2B5EF4-FFF2-40B4-BE49-F238E27FC236}">
                <a16:creationId xmlns:a16="http://schemas.microsoft.com/office/drawing/2014/main" id="{0076D9B6-7F70-9620-BFA5-569581AECF47}"/>
              </a:ext>
            </a:extLst>
          </p:cNvPr>
          <p:cNvSpPr/>
          <p:nvPr/>
        </p:nvSpPr>
        <p:spPr>
          <a:xfrm>
            <a:off x="4371749" y="3417648"/>
            <a:ext cx="0" cy="542035"/>
          </a:xfrm>
          <a:prstGeom prst="line">
            <a:avLst/>
          </a:prstGeom>
          <a:noFill/>
          <a:ln w="36000">
            <a:solidFill>
              <a:srgbClr val="000000"/>
            </a:solidFill>
            <a:prstDash val="solid"/>
            <a:tailEnd type="arrow"/>
          </a:ln>
        </p:spPr>
        <p:txBody>
          <a:bodyPr vert="horz" wrap="none" lIns="108000" tIns="63000" rIns="108000" bIns="63000" anchor="ctr" anchorCtr="0" compatLnSpc="0"/>
          <a:lstStyle/>
          <a:p>
            <a:pPr marL="0" marR="0" lvl="0" indent="0" rtl="0" hangingPunct="0">
              <a:lnSpc>
                <a:spcPct val="100000"/>
              </a:lnSpc>
              <a:spcBef>
                <a:spcPts val="0"/>
              </a:spcBef>
              <a:spcAft>
                <a:spcPts val="0"/>
              </a:spcAft>
              <a:buNone/>
              <a:tabLst/>
            </a:pPr>
            <a:endParaRPr lang="en-GB" sz="1800" b="0" i="0" u="none" strike="noStrike" kern="1200" cap="none">
              <a:ln>
                <a:noFill/>
              </a:ln>
              <a:latin typeface="Liberation Sans" pitchFamily="18"/>
              <a:ea typeface="Droid Sans Fallback" pitchFamily="2"/>
              <a:cs typeface="FreeSans" pitchFamily="2"/>
            </a:endParaRPr>
          </a:p>
        </p:txBody>
      </p:sp>
      <p:sp>
        <p:nvSpPr>
          <p:cNvPr id="29" name="Straight Connector 28">
            <a:extLst>
              <a:ext uri="{FF2B5EF4-FFF2-40B4-BE49-F238E27FC236}">
                <a16:creationId xmlns:a16="http://schemas.microsoft.com/office/drawing/2014/main" id="{FC1CE706-58DA-BD3A-883B-201528246508}"/>
              </a:ext>
            </a:extLst>
          </p:cNvPr>
          <p:cNvSpPr/>
          <p:nvPr/>
        </p:nvSpPr>
        <p:spPr>
          <a:xfrm flipV="1">
            <a:off x="4011012" y="3418009"/>
            <a:ext cx="0" cy="530986"/>
          </a:xfrm>
          <a:prstGeom prst="line">
            <a:avLst/>
          </a:prstGeom>
          <a:noFill/>
          <a:ln w="36000">
            <a:solidFill>
              <a:srgbClr val="000000"/>
            </a:solidFill>
            <a:prstDash val="solid"/>
            <a:tailEnd type="arrow"/>
          </a:ln>
        </p:spPr>
        <p:txBody>
          <a:bodyPr vert="horz" wrap="none" lIns="108000" tIns="63000" rIns="108000" bIns="63000" anchor="ctr" anchorCtr="0" compatLnSpc="0"/>
          <a:lstStyle/>
          <a:p>
            <a:pPr marL="0" marR="0" lvl="0" indent="0" rtl="0" hangingPunct="0">
              <a:lnSpc>
                <a:spcPct val="100000"/>
              </a:lnSpc>
              <a:spcBef>
                <a:spcPts val="0"/>
              </a:spcBef>
              <a:spcAft>
                <a:spcPts val="0"/>
              </a:spcAft>
              <a:buNone/>
              <a:tabLst/>
            </a:pPr>
            <a:endParaRPr lang="en-GB" sz="1800" b="0" i="0" u="none" strike="noStrike" kern="1200" cap="none">
              <a:ln>
                <a:noFill/>
              </a:ln>
              <a:latin typeface="Liberation Sans" pitchFamily="18"/>
              <a:ea typeface="Droid Sans Fallback" pitchFamily="2"/>
              <a:cs typeface="FreeSans" pitchFamily="2"/>
            </a:endParaRPr>
          </a:p>
        </p:txBody>
      </p:sp>
      <p:sp>
        <p:nvSpPr>
          <p:cNvPr id="30" name="Straight Connector 29">
            <a:extLst>
              <a:ext uri="{FF2B5EF4-FFF2-40B4-BE49-F238E27FC236}">
                <a16:creationId xmlns:a16="http://schemas.microsoft.com/office/drawing/2014/main" id="{B511BD4C-E2AD-5AEB-0875-350708421B8B}"/>
              </a:ext>
            </a:extLst>
          </p:cNvPr>
          <p:cNvSpPr/>
          <p:nvPr/>
        </p:nvSpPr>
        <p:spPr>
          <a:xfrm>
            <a:off x="1474005" y="5692538"/>
            <a:ext cx="7736490" cy="0"/>
          </a:xfrm>
          <a:prstGeom prst="line">
            <a:avLst/>
          </a:prstGeom>
          <a:noFill/>
          <a:ln w="36000">
            <a:solidFill>
              <a:srgbClr val="000000"/>
            </a:solidFill>
            <a:prstDash val="solid"/>
            <a:tailEnd type="arrow"/>
          </a:ln>
        </p:spPr>
        <p:txBody>
          <a:bodyPr vert="horz" wrap="none" lIns="108000" tIns="63000" rIns="108000" bIns="63000" anchor="ctr" anchorCtr="0" compatLnSpc="0"/>
          <a:lstStyle/>
          <a:p>
            <a:pPr marL="0" marR="0" lvl="0" indent="0" rtl="0" hangingPunct="0">
              <a:lnSpc>
                <a:spcPct val="100000"/>
              </a:lnSpc>
              <a:spcBef>
                <a:spcPts val="0"/>
              </a:spcBef>
              <a:spcAft>
                <a:spcPts val="0"/>
              </a:spcAft>
              <a:buNone/>
              <a:tabLst/>
            </a:pPr>
            <a:endParaRPr lang="en-GB" sz="1800" b="0" i="0" u="none" strike="noStrike" kern="1200" cap="none">
              <a:ln>
                <a:noFill/>
              </a:ln>
              <a:latin typeface="Liberation Sans" pitchFamily="18"/>
              <a:ea typeface="Droid Sans Fallback" pitchFamily="2"/>
              <a:cs typeface="FreeSans" pitchFamily="2"/>
            </a:endParaRPr>
          </a:p>
        </p:txBody>
      </p:sp>
      <p:sp>
        <p:nvSpPr>
          <p:cNvPr id="31" name="TextBox 30">
            <a:extLst>
              <a:ext uri="{FF2B5EF4-FFF2-40B4-BE49-F238E27FC236}">
                <a16:creationId xmlns:a16="http://schemas.microsoft.com/office/drawing/2014/main" id="{B54D7CF1-A6C4-3B6D-0137-41C4F003E3F4}"/>
              </a:ext>
            </a:extLst>
          </p:cNvPr>
          <p:cNvSpPr txBox="1"/>
          <p:nvPr/>
        </p:nvSpPr>
        <p:spPr>
          <a:xfrm>
            <a:off x="2957350" y="6074703"/>
            <a:ext cx="2520242" cy="307777"/>
          </a:xfrm>
          <a:prstGeom prst="rect">
            <a:avLst/>
          </a:prstGeom>
          <a:noFill/>
        </p:spPr>
        <p:txBody>
          <a:bodyPr wrap="none" rtlCol="0">
            <a:spAutoFit/>
          </a:bodyPr>
          <a:lstStyle/>
          <a:p>
            <a:r>
              <a:rPr lang="en-NO" dirty="0"/>
              <a:t>DATA MANAGEMENT PLAN</a:t>
            </a:r>
          </a:p>
        </p:txBody>
      </p:sp>
      <p:pic>
        <p:nvPicPr>
          <p:cNvPr id="32" name="Picture 31" descr="Shape&#10;&#10;Description automatically generated with low confidence">
            <a:extLst>
              <a:ext uri="{FF2B5EF4-FFF2-40B4-BE49-F238E27FC236}">
                <a16:creationId xmlns:a16="http://schemas.microsoft.com/office/drawing/2014/main" id="{0BBD6FFD-E3D1-5836-9233-E9CC8A0F6FBA}"/>
              </a:ext>
            </a:extLst>
          </p:cNvPr>
          <p:cNvPicPr>
            <a:picLocks noChangeAspect="1"/>
          </p:cNvPicPr>
          <p:nvPr/>
        </p:nvPicPr>
        <p:blipFill>
          <a:blip r:embed="rId8"/>
          <a:stretch>
            <a:fillRect/>
          </a:stretch>
        </p:blipFill>
        <p:spPr>
          <a:xfrm>
            <a:off x="5600656" y="5812406"/>
            <a:ext cx="832373" cy="832373"/>
          </a:xfrm>
          <a:prstGeom prst="rect">
            <a:avLst/>
          </a:prstGeom>
        </p:spPr>
      </p:pic>
      <p:pic>
        <p:nvPicPr>
          <p:cNvPr id="33" name="Google Shape;270;p66">
            <a:extLst>
              <a:ext uri="{FF2B5EF4-FFF2-40B4-BE49-F238E27FC236}">
                <a16:creationId xmlns:a16="http://schemas.microsoft.com/office/drawing/2014/main" id="{397BFE00-69C9-BB8D-2423-14AA527446D4}"/>
              </a:ext>
            </a:extLst>
          </p:cNvPr>
          <p:cNvPicPr preferRelativeResize="0"/>
          <p:nvPr/>
        </p:nvPicPr>
        <p:blipFill rotWithShape="1">
          <a:blip r:embed="rId9">
            <a:alphaModFix/>
          </a:blip>
          <a:srcRect/>
          <a:stretch/>
        </p:blipFill>
        <p:spPr>
          <a:xfrm>
            <a:off x="479293" y="1085533"/>
            <a:ext cx="736220" cy="759020"/>
          </a:xfrm>
          <a:prstGeom prst="rect">
            <a:avLst/>
          </a:prstGeom>
          <a:noFill/>
          <a:ln>
            <a:noFill/>
          </a:ln>
        </p:spPr>
      </p:pic>
      <p:sp>
        <p:nvSpPr>
          <p:cNvPr id="34" name="TextBox 33">
            <a:extLst>
              <a:ext uri="{FF2B5EF4-FFF2-40B4-BE49-F238E27FC236}">
                <a16:creationId xmlns:a16="http://schemas.microsoft.com/office/drawing/2014/main" id="{1EE4D8BF-E4F3-9C70-262C-929D9494A68A}"/>
              </a:ext>
            </a:extLst>
          </p:cNvPr>
          <p:cNvSpPr txBox="1"/>
          <p:nvPr/>
        </p:nvSpPr>
        <p:spPr>
          <a:xfrm>
            <a:off x="1346471" y="1178816"/>
            <a:ext cx="1693605" cy="646331"/>
          </a:xfrm>
          <a:prstGeom prst="rect">
            <a:avLst/>
          </a:prstGeom>
          <a:noFill/>
        </p:spPr>
        <p:txBody>
          <a:bodyPr wrap="none" rtlCol="0">
            <a:spAutoFit/>
          </a:bodyPr>
          <a:lstStyle/>
          <a:p>
            <a:pPr algn="ctr"/>
            <a:r>
              <a:rPr lang="en-NO" dirty="0"/>
              <a:t>IDEA</a:t>
            </a:r>
          </a:p>
          <a:p>
            <a:pPr algn="ctr"/>
            <a:r>
              <a:rPr lang="en-NO" dirty="0"/>
              <a:t>APPLICATION</a:t>
            </a:r>
          </a:p>
        </p:txBody>
      </p:sp>
      <p:pic>
        <p:nvPicPr>
          <p:cNvPr id="35" name="Google Shape;446;p77">
            <a:extLst>
              <a:ext uri="{FF2B5EF4-FFF2-40B4-BE49-F238E27FC236}">
                <a16:creationId xmlns:a16="http://schemas.microsoft.com/office/drawing/2014/main" id="{C581FDDA-2086-D922-AC37-0ECE3786D861}"/>
              </a:ext>
            </a:extLst>
          </p:cNvPr>
          <p:cNvPicPr preferRelativeResize="0"/>
          <p:nvPr/>
        </p:nvPicPr>
        <p:blipFill rotWithShape="1">
          <a:blip r:embed="rId3">
            <a:alphaModFix/>
          </a:blip>
          <a:srcRect/>
          <a:stretch/>
        </p:blipFill>
        <p:spPr>
          <a:xfrm>
            <a:off x="10945276" y="1109497"/>
            <a:ext cx="757514" cy="834582"/>
          </a:xfrm>
          <a:prstGeom prst="rect">
            <a:avLst/>
          </a:prstGeom>
          <a:noFill/>
          <a:ln>
            <a:noFill/>
          </a:ln>
        </p:spPr>
      </p:pic>
      <p:sp>
        <p:nvSpPr>
          <p:cNvPr id="36" name="TextBox 35">
            <a:extLst>
              <a:ext uri="{FF2B5EF4-FFF2-40B4-BE49-F238E27FC236}">
                <a16:creationId xmlns:a16="http://schemas.microsoft.com/office/drawing/2014/main" id="{66B86962-CFB4-0FE6-459D-13F3555C7B23}"/>
              </a:ext>
            </a:extLst>
          </p:cNvPr>
          <p:cNvSpPr txBox="1"/>
          <p:nvPr/>
        </p:nvSpPr>
        <p:spPr>
          <a:xfrm>
            <a:off x="8753110" y="1317315"/>
            <a:ext cx="2014206" cy="369332"/>
          </a:xfrm>
          <a:prstGeom prst="rect">
            <a:avLst/>
          </a:prstGeom>
          <a:noFill/>
        </p:spPr>
        <p:txBody>
          <a:bodyPr wrap="none" rtlCol="0">
            <a:spAutoFit/>
          </a:bodyPr>
          <a:lstStyle/>
          <a:p>
            <a:pPr algn="ctr"/>
            <a:r>
              <a:rPr lang="en-NO" dirty="0"/>
              <a:t>PUBLICATION(S)</a:t>
            </a:r>
          </a:p>
        </p:txBody>
      </p:sp>
      <p:sp>
        <p:nvSpPr>
          <p:cNvPr id="37" name="Straight Connector 36">
            <a:extLst>
              <a:ext uri="{FF2B5EF4-FFF2-40B4-BE49-F238E27FC236}">
                <a16:creationId xmlns:a16="http://schemas.microsoft.com/office/drawing/2014/main" id="{7FEBA966-96DE-578E-8A12-AF8012150C67}"/>
              </a:ext>
            </a:extLst>
          </p:cNvPr>
          <p:cNvSpPr/>
          <p:nvPr/>
        </p:nvSpPr>
        <p:spPr>
          <a:xfrm>
            <a:off x="3807963" y="1500692"/>
            <a:ext cx="3901879" cy="0"/>
          </a:xfrm>
          <a:prstGeom prst="line">
            <a:avLst/>
          </a:prstGeom>
          <a:noFill/>
          <a:ln w="36000">
            <a:solidFill>
              <a:srgbClr val="000000"/>
            </a:solidFill>
            <a:prstDash val="solid"/>
            <a:tailEnd type="arrow"/>
          </a:ln>
        </p:spPr>
        <p:txBody>
          <a:bodyPr vert="horz" wrap="none" lIns="108000" tIns="63000" rIns="108000" bIns="63000" anchor="ctr" anchorCtr="0" compatLnSpc="0"/>
          <a:lstStyle/>
          <a:p>
            <a:pPr marL="0" marR="0" lvl="0" indent="0" rtl="0" hangingPunct="0">
              <a:lnSpc>
                <a:spcPct val="100000"/>
              </a:lnSpc>
              <a:spcBef>
                <a:spcPts val="0"/>
              </a:spcBef>
              <a:spcAft>
                <a:spcPts val="0"/>
              </a:spcAft>
              <a:buNone/>
              <a:tabLst/>
            </a:pPr>
            <a:endParaRPr lang="en-GB" sz="1800" b="0" i="0" u="none" strike="noStrike" kern="1200" cap="none">
              <a:ln>
                <a:noFill/>
              </a:ln>
              <a:latin typeface="Liberation Sans" pitchFamily="18"/>
              <a:ea typeface="Droid Sans Fallback" pitchFamily="2"/>
              <a:cs typeface="FreeSans" pitchFamily="2"/>
            </a:endParaRPr>
          </a:p>
        </p:txBody>
      </p:sp>
      <p:sp>
        <p:nvSpPr>
          <p:cNvPr id="38" name="Google Shape;85;p1">
            <a:extLst>
              <a:ext uri="{FF2B5EF4-FFF2-40B4-BE49-F238E27FC236}">
                <a16:creationId xmlns:a16="http://schemas.microsoft.com/office/drawing/2014/main" id="{295859C7-045C-0AE7-05BE-621FEC4DF326}"/>
              </a:ext>
            </a:extLst>
          </p:cNvPr>
          <p:cNvSpPr/>
          <p:nvPr/>
        </p:nvSpPr>
        <p:spPr>
          <a:xfrm>
            <a:off x="241113" y="980728"/>
            <a:ext cx="11709774" cy="1031148"/>
          </a:xfrm>
          <a:prstGeom prst="rect">
            <a:avLst/>
          </a:prstGeom>
          <a:no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9" name="Google Shape;85;p1">
            <a:extLst>
              <a:ext uri="{FF2B5EF4-FFF2-40B4-BE49-F238E27FC236}">
                <a16:creationId xmlns:a16="http://schemas.microsoft.com/office/drawing/2014/main" id="{259D0DE5-A9B2-1AA8-78E7-4F6404DC5389}"/>
              </a:ext>
            </a:extLst>
          </p:cNvPr>
          <p:cNvSpPr/>
          <p:nvPr/>
        </p:nvSpPr>
        <p:spPr>
          <a:xfrm>
            <a:off x="241113" y="2144619"/>
            <a:ext cx="11709774" cy="3165756"/>
          </a:xfrm>
          <a:prstGeom prst="rect">
            <a:avLst/>
          </a:prstGeom>
          <a:no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0" name="Google Shape;85;p1">
            <a:extLst>
              <a:ext uri="{FF2B5EF4-FFF2-40B4-BE49-F238E27FC236}">
                <a16:creationId xmlns:a16="http://schemas.microsoft.com/office/drawing/2014/main" id="{25745C4C-F643-464E-A474-E5B23ABF2C9E}"/>
              </a:ext>
            </a:extLst>
          </p:cNvPr>
          <p:cNvSpPr/>
          <p:nvPr/>
        </p:nvSpPr>
        <p:spPr>
          <a:xfrm>
            <a:off x="241113" y="5524261"/>
            <a:ext cx="9725847" cy="1182634"/>
          </a:xfrm>
          <a:prstGeom prst="rect">
            <a:avLst/>
          </a:prstGeom>
          <a:no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41" name="Picture 40" descr="A picture containing text, clipart&#10;&#10;Description automatically generated">
            <a:extLst>
              <a:ext uri="{FF2B5EF4-FFF2-40B4-BE49-F238E27FC236}">
                <a16:creationId xmlns:a16="http://schemas.microsoft.com/office/drawing/2014/main" id="{7E9BD11D-CDC7-B0A5-90EC-65096C35489F}"/>
              </a:ext>
            </a:extLst>
          </p:cNvPr>
          <p:cNvPicPr>
            <a:picLocks noChangeAspect="1"/>
          </p:cNvPicPr>
          <p:nvPr/>
        </p:nvPicPr>
        <p:blipFill>
          <a:blip r:embed="rId10"/>
          <a:stretch>
            <a:fillRect/>
          </a:stretch>
        </p:blipFill>
        <p:spPr>
          <a:xfrm>
            <a:off x="6740290" y="5985057"/>
            <a:ext cx="1644259" cy="487067"/>
          </a:xfrm>
          <a:prstGeom prst="rect">
            <a:avLst/>
          </a:prstGeom>
        </p:spPr>
      </p:pic>
      <p:pic>
        <p:nvPicPr>
          <p:cNvPr id="42" name="Picture 41">
            <a:extLst>
              <a:ext uri="{FF2B5EF4-FFF2-40B4-BE49-F238E27FC236}">
                <a16:creationId xmlns:a16="http://schemas.microsoft.com/office/drawing/2014/main" id="{14FD56C7-F675-E465-422B-BFC5A2E90AB7}"/>
              </a:ext>
            </a:extLst>
          </p:cNvPr>
          <p:cNvPicPr>
            <a:picLocks noChangeAspect="1"/>
          </p:cNvPicPr>
          <p:nvPr/>
        </p:nvPicPr>
        <p:blipFill>
          <a:blip r:embed="rId11">
            <a:lum/>
            <a:alphaModFix/>
          </a:blip>
          <a:srcRect/>
          <a:stretch>
            <a:fillRect/>
          </a:stretch>
        </p:blipFill>
        <p:spPr>
          <a:xfrm>
            <a:off x="7709842" y="2251403"/>
            <a:ext cx="3094689" cy="688111"/>
          </a:xfrm>
          <a:prstGeom prst="rect">
            <a:avLst/>
          </a:prstGeom>
          <a:noFill/>
          <a:ln>
            <a:noFill/>
          </a:ln>
        </p:spPr>
      </p:pic>
      <p:pic>
        <p:nvPicPr>
          <p:cNvPr id="43" name="Picture 42" descr="Logo&#10;&#10;Description automatically generated">
            <a:extLst>
              <a:ext uri="{FF2B5EF4-FFF2-40B4-BE49-F238E27FC236}">
                <a16:creationId xmlns:a16="http://schemas.microsoft.com/office/drawing/2014/main" id="{32C836DB-0FDE-4ADF-51FC-DB7540A4C077}"/>
              </a:ext>
            </a:extLst>
          </p:cNvPr>
          <p:cNvPicPr>
            <a:picLocks noChangeAspect="1"/>
          </p:cNvPicPr>
          <p:nvPr/>
        </p:nvPicPr>
        <p:blipFill>
          <a:blip r:embed="rId12"/>
          <a:stretch>
            <a:fillRect/>
          </a:stretch>
        </p:blipFill>
        <p:spPr>
          <a:xfrm>
            <a:off x="7727980" y="4278093"/>
            <a:ext cx="1221763" cy="319452"/>
          </a:xfrm>
          <a:prstGeom prst="rect">
            <a:avLst/>
          </a:prstGeom>
        </p:spPr>
      </p:pic>
      <p:sp>
        <p:nvSpPr>
          <p:cNvPr id="3" name="TextBox 2">
            <a:extLst>
              <a:ext uri="{FF2B5EF4-FFF2-40B4-BE49-F238E27FC236}">
                <a16:creationId xmlns:a16="http://schemas.microsoft.com/office/drawing/2014/main" id="{C5AA9103-1848-0640-A7FF-64B0498E11BD}"/>
              </a:ext>
            </a:extLst>
          </p:cNvPr>
          <p:cNvSpPr txBox="1"/>
          <p:nvPr/>
        </p:nvSpPr>
        <p:spPr>
          <a:xfrm>
            <a:off x="8837198" y="2251202"/>
            <a:ext cx="2736647" cy="400110"/>
          </a:xfrm>
          <a:prstGeom prst="rect">
            <a:avLst/>
          </a:prstGeom>
          <a:noFill/>
        </p:spPr>
        <p:txBody>
          <a:bodyPr wrap="none" rtlCol="0">
            <a:spAutoFit/>
          </a:bodyPr>
          <a:lstStyle/>
          <a:p>
            <a:r>
              <a:rPr lang="en-US" sz="2000" dirty="0" err="1">
                <a:solidFill>
                  <a:srgbClr val="C00000"/>
                </a:solidFill>
              </a:rPr>
              <a:t>StorBioInfo</a:t>
            </a:r>
            <a:r>
              <a:rPr lang="en-US" sz="2000" dirty="0">
                <a:solidFill>
                  <a:srgbClr val="C00000"/>
                </a:solidFill>
              </a:rPr>
              <a:t>/NIRD/TSD</a:t>
            </a:r>
          </a:p>
        </p:txBody>
      </p:sp>
      <p:sp>
        <p:nvSpPr>
          <p:cNvPr id="44" name="TextBox 43">
            <a:extLst>
              <a:ext uri="{FF2B5EF4-FFF2-40B4-BE49-F238E27FC236}">
                <a16:creationId xmlns:a16="http://schemas.microsoft.com/office/drawing/2014/main" id="{10FAB0EF-C268-02B1-2606-EC7937A3BD1D}"/>
              </a:ext>
            </a:extLst>
          </p:cNvPr>
          <p:cNvSpPr txBox="1"/>
          <p:nvPr/>
        </p:nvSpPr>
        <p:spPr>
          <a:xfrm>
            <a:off x="7676660" y="4678182"/>
            <a:ext cx="1324402" cy="400110"/>
          </a:xfrm>
          <a:prstGeom prst="rect">
            <a:avLst/>
          </a:prstGeom>
          <a:noFill/>
        </p:spPr>
        <p:txBody>
          <a:bodyPr wrap="none" rtlCol="0">
            <a:spAutoFit/>
          </a:bodyPr>
          <a:lstStyle/>
          <a:p>
            <a:r>
              <a:rPr lang="en-US" sz="2000" b="1" dirty="0">
                <a:solidFill>
                  <a:srgbClr val="C00000"/>
                </a:solidFill>
              </a:rPr>
              <a:t>Analysis!</a:t>
            </a:r>
          </a:p>
        </p:txBody>
      </p:sp>
      <p:sp>
        <p:nvSpPr>
          <p:cNvPr id="5" name="Title 4">
            <a:extLst>
              <a:ext uri="{FF2B5EF4-FFF2-40B4-BE49-F238E27FC236}">
                <a16:creationId xmlns:a16="http://schemas.microsoft.com/office/drawing/2014/main" id="{44303894-B48A-ECA7-0C1E-9B20DE38AFF5}"/>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42409160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3;p3">
            <a:extLst>
              <a:ext uri="{FF2B5EF4-FFF2-40B4-BE49-F238E27FC236}">
                <a16:creationId xmlns:a16="http://schemas.microsoft.com/office/drawing/2014/main" id="{FD0F7CD9-4918-FF4D-834B-1199474DB807}"/>
              </a:ext>
            </a:extLst>
          </p:cNvPr>
          <p:cNvSpPr txBox="1">
            <a:spLocks/>
          </p:cNvSpPr>
          <p:nvPr/>
        </p:nvSpPr>
        <p:spPr>
          <a:xfrm>
            <a:off x="1064354" y="215667"/>
            <a:ext cx="10871200" cy="648072"/>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Corbel"/>
                <a:ea typeface="Corbel"/>
                <a:cs typeface="Corbel"/>
                <a:sym typeface="Corbel"/>
              </a:defRPr>
            </a:lvl1pPr>
            <a:lvl2pPr marR="0" lvl="1"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Corbel"/>
                <a:ea typeface="Corbel"/>
                <a:cs typeface="Corbel"/>
                <a:sym typeface="Corbel"/>
              </a:defRPr>
            </a:lvl2pPr>
            <a:lvl3pPr marR="0" lvl="2"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Corbel"/>
                <a:ea typeface="Corbel"/>
                <a:cs typeface="Corbel"/>
                <a:sym typeface="Corbel"/>
              </a:defRPr>
            </a:lvl3pPr>
            <a:lvl4pPr marR="0" lvl="3"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Corbel"/>
                <a:ea typeface="Corbel"/>
                <a:cs typeface="Corbel"/>
                <a:sym typeface="Corbel"/>
              </a:defRPr>
            </a:lvl4pPr>
            <a:lvl5pPr marR="0" lvl="4"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Corbel"/>
                <a:ea typeface="Corbel"/>
                <a:cs typeface="Corbel"/>
                <a:sym typeface="Corbel"/>
              </a:defRPr>
            </a:lvl5pPr>
            <a:lvl6pPr marR="0" lvl="5"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9pPr>
          </a:lstStyle>
          <a:p>
            <a:pPr>
              <a:lnSpc>
                <a:spcPct val="90000"/>
              </a:lnSpc>
            </a:pPr>
            <a:r>
              <a:rPr lang="en-GB" sz="4400" i="1" dirty="0" err="1">
                <a:solidFill>
                  <a:srgbClr val="F57E20"/>
                </a:solidFill>
              </a:rPr>
              <a:t>usegalaxy.no</a:t>
            </a:r>
            <a:r>
              <a:rPr lang="en-GB" sz="4400" i="1" dirty="0">
                <a:solidFill>
                  <a:srgbClr val="F57E20"/>
                </a:solidFill>
              </a:rPr>
              <a:t> – The national Galaxy server</a:t>
            </a:r>
            <a:endParaRPr lang="en-GB" dirty="0"/>
          </a:p>
        </p:txBody>
      </p:sp>
      <p:sp>
        <p:nvSpPr>
          <p:cNvPr id="4" name="Google Shape;64;p3">
            <a:extLst>
              <a:ext uri="{FF2B5EF4-FFF2-40B4-BE49-F238E27FC236}">
                <a16:creationId xmlns:a16="http://schemas.microsoft.com/office/drawing/2014/main" id="{E922F765-4533-9634-0B66-999AEAC253E9}"/>
              </a:ext>
            </a:extLst>
          </p:cNvPr>
          <p:cNvSpPr txBox="1">
            <a:spLocks/>
          </p:cNvSpPr>
          <p:nvPr/>
        </p:nvSpPr>
        <p:spPr>
          <a:xfrm>
            <a:off x="433415" y="1282931"/>
            <a:ext cx="3248440" cy="5272013"/>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400"/>
              <a:buFont typeface="Corbel"/>
              <a:buNone/>
            </a:pPr>
            <a:r>
              <a:rPr lang="en-GB" sz="2400" dirty="0">
                <a:latin typeface="Corbel" panose="020B0503020204020204" pitchFamily="34" charset="0"/>
              </a:rPr>
              <a:t>Web-based platform</a:t>
            </a:r>
          </a:p>
          <a:p>
            <a:pPr>
              <a:spcBef>
                <a:spcPts val="1080"/>
              </a:spcBef>
              <a:buSzPts val="2400"/>
              <a:buFont typeface="Corbel"/>
              <a:buNone/>
            </a:pPr>
            <a:r>
              <a:rPr lang="en-GB" sz="2400" dirty="0">
                <a:latin typeface="Corbel" panose="020B0503020204020204" pitchFamily="34" charset="0"/>
              </a:rPr>
              <a:t>Provide bioinformatic tools and workflows</a:t>
            </a:r>
          </a:p>
          <a:p>
            <a:pPr>
              <a:spcBef>
                <a:spcPts val="1080"/>
              </a:spcBef>
              <a:buSzPts val="2400"/>
              <a:buFont typeface="Corbel"/>
              <a:buNone/>
            </a:pPr>
            <a:r>
              <a:rPr lang="en-GB" sz="2400" dirty="0">
                <a:latin typeface="Corbel" panose="020B0503020204020204" pitchFamily="34" charset="0"/>
              </a:rPr>
              <a:t>Open to all Norwegian users and collaborators</a:t>
            </a:r>
          </a:p>
          <a:p>
            <a:pPr>
              <a:spcBef>
                <a:spcPts val="1080"/>
              </a:spcBef>
              <a:buSzPts val="2400"/>
              <a:buFont typeface="Corbel"/>
              <a:buNone/>
            </a:pPr>
            <a:r>
              <a:rPr lang="en-GB" sz="2400" dirty="0">
                <a:latin typeface="Corbel" panose="020B0503020204020204" pitchFamily="34" charset="0"/>
              </a:rPr>
              <a:t>Enable accessible, reproducible, and transparent computational biomedical research</a:t>
            </a:r>
          </a:p>
          <a:p>
            <a:pPr>
              <a:spcBef>
                <a:spcPts val="1080"/>
              </a:spcBef>
              <a:buSzPts val="2400"/>
              <a:buFont typeface="Corbel"/>
              <a:buNone/>
            </a:pPr>
            <a:r>
              <a:rPr lang="en-GB" sz="2400" b="1" dirty="0">
                <a:solidFill>
                  <a:srgbClr val="F36B17"/>
                </a:solidFill>
                <a:latin typeface="Corbel" panose="020B0503020204020204" pitchFamily="34" charset="0"/>
              </a:rPr>
              <a:t>Directly connected to the </a:t>
            </a:r>
            <a:r>
              <a:rPr lang="en-GB" sz="2400" b="1" dirty="0" err="1">
                <a:solidFill>
                  <a:srgbClr val="F36B17"/>
                </a:solidFill>
                <a:latin typeface="Corbel" panose="020B0503020204020204" pitchFamily="34" charset="0"/>
              </a:rPr>
              <a:t>NeLS</a:t>
            </a:r>
            <a:r>
              <a:rPr lang="en-GB" sz="2400" b="1" dirty="0">
                <a:solidFill>
                  <a:srgbClr val="F36B17"/>
                </a:solidFill>
                <a:latin typeface="Corbel" panose="020B0503020204020204" pitchFamily="34" charset="0"/>
              </a:rPr>
              <a:t> storage </a:t>
            </a:r>
          </a:p>
        </p:txBody>
      </p:sp>
      <p:pic>
        <p:nvPicPr>
          <p:cNvPr id="5" name="Picture 4">
            <a:extLst>
              <a:ext uri="{FF2B5EF4-FFF2-40B4-BE49-F238E27FC236}">
                <a16:creationId xmlns:a16="http://schemas.microsoft.com/office/drawing/2014/main" id="{A42D06CE-C814-9E02-CFA6-62B58310FB07}"/>
              </a:ext>
            </a:extLst>
          </p:cNvPr>
          <p:cNvPicPr>
            <a:picLocks noChangeAspect="1"/>
          </p:cNvPicPr>
          <p:nvPr/>
        </p:nvPicPr>
        <p:blipFill>
          <a:blip r:embed="rId2"/>
          <a:stretch>
            <a:fillRect/>
          </a:stretch>
        </p:blipFill>
        <p:spPr>
          <a:xfrm>
            <a:off x="3780769" y="983672"/>
            <a:ext cx="7977816" cy="455260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85559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3;p3">
            <a:extLst>
              <a:ext uri="{FF2B5EF4-FFF2-40B4-BE49-F238E27FC236}">
                <a16:creationId xmlns:a16="http://schemas.microsoft.com/office/drawing/2014/main" id="{FD0F7CD9-4918-FF4D-834B-1199474DB807}"/>
              </a:ext>
            </a:extLst>
          </p:cNvPr>
          <p:cNvSpPr txBox="1">
            <a:spLocks/>
          </p:cNvSpPr>
          <p:nvPr/>
        </p:nvSpPr>
        <p:spPr>
          <a:xfrm>
            <a:off x="1064354" y="215667"/>
            <a:ext cx="10871200" cy="648072"/>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Corbel"/>
                <a:ea typeface="Corbel"/>
                <a:cs typeface="Corbel"/>
                <a:sym typeface="Corbel"/>
              </a:defRPr>
            </a:lvl1pPr>
            <a:lvl2pPr marR="0" lvl="1"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Corbel"/>
                <a:ea typeface="Corbel"/>
                <a:cs typeface="Corbel"/>
                <a:sym typeface="Corbel"/>
              </a:defRPr>
            </a:lvl2pPr>
            <a:lvl3pPr marR="0" lvl="2"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Corbel"/>
                <a:ea typeface="Corbel"/>
                <a:cs typeface="Corbel"/>
                <a:sym typeface="Corbel"/>
              </a:defRPr>
            </a:lvl3pPr>
            <a:lvl4pPr marR="0" lvl="3"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Corbel"/>
                <a:ea typeface="Corbel"/>
                <a:cs typeface="Corbel"/>
                <a:sym typeface="Corbel"/>
              </a:defRPr>
            </a:lvl4pPr>
            <a:lvl5pPr marR="0" lvl="4"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Corbel"/>
                <a:ea typeface="Corbel"/>
                <a:cs typeface="Corbel"/>
                <a:sym typeface="Corbel"/>
              </a:defRPr>
            </a:lvl5pPr>
            <a:lvl6pPr marR="0" lvl="5"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9pPr>
          </a:lstStyle>
          <a:p>
            <a:pPr>
              <a:lnSpc>
                <a:spcPct val="90000"/>
              </a:lnSpc>
            </a:pPr>
            <a:r>
              <a:rPr lang="en-GB" sz="4400" i="1" dirty="0" err="1">
                <a:solidFill>
                  <a:srgbClr val="F57E20"/>
                </a:solidFill>
              </a:rPr>
              <a:t>usegalaxy.no</a:t>
            </a:r>
            <a:r>
              <a:rPr lang="en-GB" sz="4400" i="1" dirty="0">
                <a:solidFill>
                  <a:srgbClr val="F57E20"/>
                </a:solidFill>
              </a:rPr>
              <a:t> – The basics</a:t>
            </a:r>
            <a:endParaRPr lang="en-GB" dirty="0"/>
          </a:p>
        </p:txBody>
      </p:sp>
      <p:sp>
        <p:nvSpPr>
          <p:cNvPr id="4" name="Google Shape;64;p3">
            <a:extLst>
              <a:ext uri="{FF2B5EF4-FFF2-40B4-BE49-F238E27FC236}">
                <a16:creationId xmlns:a16="http://schemas.microsoft.com/office/drawing/2014/main" id="{E922F765-4533-9634-0B66-999AEAC253E9}"/>
              </a:ext>
            </a:extLst>
          </p:cNvPr>
          <p:cNvSpPr txBox="1">
            <a:spLocks/>
          </p:cNvSpPr>
          <p:nvPr/>
        </p:nvSpPr>
        <p:spPr>
          <a:xfrm>
            <a:off x="433415" y="1282931"/>
            <a:ext cx="3248440" cy="5272013"/>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SzPts val="2400"/>
              <a:buFont typeface="Corbel"/>
              <a:buNone/>
            </a:pPr>
            <a:r>
              <a:rPr lang="en-GB" sz="2400" dirty="0">
                <a:latin typeface="Corbel" panose="020B0503020204020204" pitchFamily="34" charset="0"/>
              </a:rPr>
              <a:t>Important features:</a:t>
            </a:r>
          </a:p>
          <a:p>
            <a:pPr marL="0" lvl="0" indent="0" algn="l" rtl="0">
              <a:spcBef>
                <a:spcPts val="1080"/>
              </a:spcBef>
              <a:spcAft>
                <a:spcPts val="0"/>
              </a:spcAft>
              <a:buSzPts val="2400"/>
              <a:buFont typeface="Corbel"/>
              <a:buNone/>
            </a:pPr>
            <a:r>
              <a:rPr lang="en-GB" sz="2400" dirty="0">
                <a:latin typeface="Corbel" panose="020B0503020204020204" pitchFamily="34" charset="0"/>
              </a:rPr>
              <a:t>Tools menu with ~2000 tools sorted in sections</a:t>
            </a:r>
          </a:p>
          <a:p>
            <a:pPr marL="0" lvl="0" indent="0" algn="l" rtl="0">
              <a:spcBef>
                <a:spcPts val="1080"/>
              </a:spcBef>
              <a:spcAft>
                <a:spcPts val="0"/>
              </a:spcAft>
              <a:buSzPts val="2400"/>
              <a:buFont typeface="Corbel"/>
              <a:buNone/>
            </a:pPr>
            <a:r>
              <a:rPr lang="en-GB" sz="2400" dirty="0">
                <a:latin typeface="Corbel" panose="020B0503020204020204" pitchFamily="34" charset="0"/>
              </a:rPr>
              <a:t>Current disk usage (</a:t>
            </a:r>
            <a:r>
              <a:rPr lang="en-GB" sz="2400" dirty="0">
                <a:latin typeface="Corbel" panose="020B0503020204020204" pitchFamily="34" charset="0"/>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lc="http://schemas.openxmlformats.org/drawingml/2006/lockedCanvas" textRoundtripDataId="0"/>
                  </a:ext>
                </a:extLst>
              </a:rPr>
              <a:t>default</a:t>
            </a:r>
            <a:r>
              <a:rPr lang="en-GB" sz="2400" dirty="0">
                <a:latin typeface="Corbel" panose="020B0503020204020204" pitchFamily="34" charset="0"/>
              </a:rPr>
              <a:t> is 200 GB total personal disk space)</a:t>
            </a:r>
          </a:p>
          <a:p>
            <a:pPr marL="0" lvl="0" indent="0" algn="l" rtl="0">
              <a:spcBef>
                <a:spcPts val="1080"/>
              </a:spcBef>
              <a:spcAft>
                <a:spcPts val="0"/>
              </a:spcAft>
              <a:buSzPts val="2400"/>
              <a:buFont typeface="Corbel"/>
              <a:buNone/>
            </a:pPr>
            <a:r>
              <a:rPr lang="en-GB" sz="2400" dirty="0">
                <a:latin typeface="Corbel" panose="020B0503020204020204" pitchFamily="34" charset="0"/>
              </a:rPr>
              <a:t>Status of compute backend</a:t>
            </a:r>
          </a:p>
          <a:p>
            <a:pPr marL="0" lvl="0" indent="0" algn="l" rtl="0">
              <a:spcBef>
                <a:spcPts val="1080"/>
              </a:spcBef>
              <a:spcAft>
                <a:spcPts val="0"/>
              </a:spcAft>
              <a:buSzPts val="2400"/>
              <a:buFont typeface="Corbel"/>
              <a:buNone/>
            </a:pPr>
            <a:r>
              <a:rPr lang="en-GB" sz="2400" dirty="0">
                <a:latin typeface="Corbel" panose="020B0503020204020204" pitchFamily="34" charset="0"/>
              </a:rPr>
              <a:t>Quick start guide</a:t>
            </a:r>
          </a:p>
          <a:p>
            <a:pPr marL="0" lvl="0" indent="0" algn="l" rtl="0">
              <a:spcBef>
                <a:spcPts val="1080"/>
              </a:spcBef>
              <a:spcAft>
                <a:spcPts val="0"/>
              </a:spcAft>
              <a:buSzPts val="2400"/>
              <a:buFont typeface="Corbel"/>
              <a:buNone/>
            </a:pPr>
            <a:r>
              <a:rPr lang="en-GB" sz="2400" dirty="0">
                <a:latin typeface="Corbel" panose="020B0503020204020204" pitchFamily="34" charset="0"/>
              </a:rPr>
              <a:t>Contact support</a:t>
            </a:r>
          </a:p>
          <a:p>
            <a:pPr marL="0" lvl="0" indent="0" algn="l" rtl="0">
              <a:spcBef>
                <a:spcPts val="1080"/>
              </a:spcBef>
              <a:spcAft>
                <a:spcPts val="0"/>
              </a:spcAft>
              <a:buSzPts val="2400"/>
              <a:buFont typeface="Corbel"/>
              <a:buNone/>
            </a:pPr>
            <a:r>
              <a:rPr lang="en-GB" sz="2400" dirty="0">
                <a:latin typeface="Corbel" panose="020B0503020204020204" pitchFamily="34" charset="0"/>
              </a:rPr>
              <a:t>Help and guides</a:t>
            </a:r>
          </a:p>
        </p:txBody>
      </p:sp>
      <p:pic>
        <p:nvPicPr>
          <p:cNvPr id="5" name="Picture 4">
            <a:extLst>
              <a:ext uri="{FF2B5EF4-FFF2-40B4-BE49-F238E27FC236}">
                <a16:creationId xmlns:a16="http://schemas.microsoft.com/office/drawing/2014/main" id="{A42D06CE-C814-9E02-CFA6-62B58310FB07}"/>
              </a:ext>
            </a:extLst>
          </p:cNvPr>
          <p:cNvPicPr>
            <a:picLocks noChangeAspect="1"/>
          </p:cNvPicPr>
          <p:nvPr/>
        </p:nvPicPr>
        <p:blipFill>
          <a:blip r:embed="rId2"/>
          <a:stretch>
            <a:fillRect/>
          </a:stretch>
        </p:blipFill>
        <p:spPr>
          <a:xfrm>
            <a:off x="3780769" y="983672"/>
            <a:ext cx="7977816" cy="4552604"/>
          </a:xfrm>
          <a:prstGeom prst="rect">
            <a:avLst/>
          </a:prstGeom>
          <a:ln>
            <a:noFill/>
          </a:ln>
          <a:effectLst>
            <a:outerShdw blurRad="292100" dist="139700" dir="2700000" algn="tl" rotWithShape="0">
              <a:srgbClr val="333333">
                <a:alpha val="65000"/>
              </a:srgbClr>
            </a:outerShdw>
          </a:effectLst>
        </p:spPr>
      </p:pic>
      <p:sp>
        <p:nvSpPr>
          <p:cNvPr id="2" name="Google Shape;74;p4">
            <a:extLst>
              <a:ext uri="{FF2B5EF4-FFF2-40B4-BE49-F238E27FC236}">
                <a16:creationId xmlns:a16="http://schemas.microsoft.com/office/drawing/2014/main" id="{32E01B89-FADA-E3FC-1ADF-6B33B245BAB4}"/>
              </a:ext>
            </a:extLst>
          </p:cNvPr>
          <p:cNvSpPr/>
          <p:nvPr/>
        </p:nvSpPr>
        <p:spPr>
          <a:xfrm>
            <a:off x="3681856" y="1200592"/>
            <a:ext cx="1371408" cy="4595335"/>
          </a:xfrm>
          <a:prstGeom prst="rect">
            <a:avLst/>
          </a:prstGeom>
          <a:noFill/>
          <a:ln w="381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Arial"/>
              <a:ea typeface="Arial"/>
              <a:cs typeface="Arial"/>
              <a:sym typeface="Arial"/>
            </a:endParaRPr>
          </a:p>
        </p:txBody>
      </p:sp>
      <p:sp>
        <p:nvSpPr>
          <p:cNvPr id="6" name="Google Shape;75;p4">
            <a:extLst>
              <a:ext uri="{FF2B5EF4-FFF2-40B4-BE49-F238E27FC236}">
                <a16:creationId xmlns:a16="http://schemas.microsoft.com/office/drawing/2014/main" id="{BA4EB38E-A633-24C7-7B1A-EA96B16870FF}"/>
              </a:ext>
            </a:extLst>
          </p:cNvPr>
          <p:cNvSpPr/>
          <p:nvPr/>
        </p:nvSpPr>
        <p:spPr>
          <a:xfrm>
            <a:off x="3780770" y="863739"/>
            <a:ext cx="7977816" cy="486044"/>
          </a:xfrm>
          <a:prstGeom prst="rect">
            <a:avLst/>
          </a:prstGeom>
          <a:noFill/>
          <a:ln w="381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Arial"/>
              <a:ea typeface="Arial"/>
              <a:cs typeface="Arial"/>
              <a:sym typeface="Arial"/>
            </a:endParaRPr>
          </a:p>
        </p:txBody>
      </p:sp>
      <p:sp>
        <p:nvSpPr>
          <p:cNvPr id="7" name="Google Shape;76;p4">
            <a:extLst>
              <a:ext uri="{FF2B5EF4-FFF2-40B4-BE49-F238E27FC236}">
                <a16:creationId xmlns:a16="http://schemas.microsoft.com/office/drawing/2014/main" id="{1E15734F-9FE6-9B3F-0F9D-56ED2DA95BA6}"/>
              </a:ext>
            </a:extLst>
          </p:cNvPr>
          <p:cNvSpPr txBox="1"/>
          <p:nvPr/>
        </p:nvSpPr>
        <p:spPr>
          <a:xfrm>
            <a:off x="10683466" y="4728040"/>
            <a:ext cx="90281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b="0" i="0" u="none" strike="noStrike" cap="none" dirty="0">
                <a:solidFill>
                  <a:schemeClr val="dk1"/>
                </a:solidFill>
                <a:latin typeface="Corbel" panose="020B0503020204020204" pitchFamily="34" charset="0"/>
                <a:sym typeface="Arial"/>
              </a:rPr>
              <a:t>History</a:t>
            </a:r>
            <a:endParaRPr dirty="0">
              <a:latin typeface="Corbel" panose="020B0503020204020204" pitchFamily="34" charset="0"/>
            </a:endParaRPr>
          </a:p>
        </p:txBody>
      </p:sp>
      <p:sp>
        <p:nvSpPr>
          <p:cNvPr id="8" name="Google Shape;78;p4">
            <a:extLst>
              <a:ext uri="{FF2B5EF4-FFF2-40B4-BE49-F238E27FC236}">
                <a16:creationId xmlns:a16="http://schemas.microsoft.com/office/drawing/2014/main" id="{36F330B2-8410-4E83-613A-44634A9A9ED8}"/>
              </a:ext>
            </a:extLst>
          </p:cNvPr>
          <p:cNvSpPr txBox="1"/>
          <p:nvPr/>
        </p:nvSpPr>
        <p:spPr>
          <a:xfrm>
            <a:off x="7431257" y="5689662"/>
            <a:ext cx="151836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dirty="0">
                <a:solidFill>
                  <a:schemeClr val="dk1"/>
                </a:solidFill>
                <a:latin typeface="Corbel" panose="020B0503020204020204" pitchFamily="34" charset="0"/>
                <a:sym typeface="Arial"/>
              </a:rPr>
              <a:t>Main window</a:t>
            </a:r>
            <a:endParaRPr dirty="0">
              <a:latin typeface="Corbel" panose="020B0503020204020204" pitchFamily="34" charset="0"/>
            </a:endParaRPr>
          </a:p>
        </p:txBody>
      </p:sp>
      <p:sp>
        <p:nvSpPr>
          <p:cNvPr id="9" name="Google Shape;79;p4">
            <a:extLst>
              <a:ext uri="{FF2B5EF4-FFF2-40B4-BE49-F238E27FC236}">
                <a16:creationId xmlns:a16="http://schemas.microsoft.com/office/drawing/2014/main" id="{43D0A802-B563-DB5F-51C6-DA14144BC4C8}"/>
              </a:ext>
            </a:extLst>
          </p:cNvPr>
          <p:cNvSpPr/>
          <p:nvPr/>
        </p:nvSpPr>
        <p:spPr>
          <a:xfrm>
            <a:off x="10337474" y="1203232"/>
            <a:ext cx="1594797" cy="3930444"/>
          </a:xfrm>
          <a:prstGeom prst="rect">
            <a:avLst/>
          </a:prstGeom>
          <a:noFill/>
          <a:ln w="381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Arial"/>
              <a:ea typeface="Arial"/>
              <a:cs typeface="Arial"/>
              <a:sym typeface="Arial"/>
            </a:endParaRPr>
          </a:p>
        </p:txBody>
      </p:sp>
      <p:sp>
        <p:nvSpPr>
          <p:cNvPr id="10" name="Google Shape;80;p4">
            <a:extLst>
              <a:ext uri="{FF2B5EF4-FFF2-40B4-BE49-F238E27FC236}">
                <a16:creationId xmlns:a16="http://schemas.microsoft.com/office/drawing/2014/main" id="{1362BAF6-A7A2-B8C8-EADA-0FBF20972FE1}"/>
              </a:ext>
            </a:extLst>
          </p:cNvPr>
          <p:cNvSpPr txBox="1"/>
          <p:nvPr/>
        </p:nvSpPr>
        <p:spPr>
          <a:xfrm>
            <a:off x="3780769" y="5873129"/>
            <a:ext cx="1568127"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dirty="0">
                <a:solidFill>
                  <a:schemeClr val="dk1"/>
                </a:solidFill>
                <a:latin typeface="Corbel" panose="020B0503020204020204" pitchFamily="34" charset="0"/>
                <a:sym typeface="Arial"/>
              </a:rPr>
              <a:t>Tools menu</a:t>
            </a:r>
            <a:endParaRPr dirty="0">
              <a:latin typeface="Corbel" panose="020B0503020204020204" pitchFamily="34" charset="0"/>
            </a:endParaRPr>
          </a:p>
        </p:txBody>
      </p:sp>
      <p:sp>
        <p:nvSpPr>
          <p:cNvPr id="11" name="Google Shape;77;p4">
            <a:extLst>
              <a:ext uri="{FF2B5EF4-FFF2-40B4-BE49-F238E27FC236}">
                <a16:creationId xmlns:a16="http://schemas.microsoft.com/office/drawing/2014/main" id="{51C0BCBB-D25E-F61E-27C9-3CE78B53433E}"/>
              </a:ext>
            </a:extLst>
          </p:cNvPr>
          <p:cNvSpPr txBox="1"/>
          <p:nvPr/>
        </p:nvSpPr>
        <p:spPr>
          <a:xfrm>
            <a:off x="7981127" y="494407"/>
            <a:ext cx="13260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dirty="0">
                <a:solidFill>
                  <a:schemeClr val="dk1"/>
                </a:solidFill>
                <a:latin typeface="Corbel" panose="020B0503020204020204" pitchFamily="34" charset="0"/>
                <a:sym typeface="Arial"/>
              </a:rPr>
              <a:t>Main menu</a:t>
            </a:r>
            <a:endParaRPr dirty="0">
              <a:latin typeface="Corbel" panose="020B0503020204020204" pitchFamily="34" charset="0"/>
            </a:endParaRPr>
          </a:p>
        </p:txBody>
      </p:sp>
    </p:spTree>
    <p:extLst>
      <p:ext uri="{BB962C8B-B14F-4D97-AF65-F5344CB8AC3E}">
        <p14:creationId xmlns:p14="http://schemas.microsoft.com/office/powerpoint/2010/main" val="7873354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3;p3">
            <a:extLst>
              <a:ext uri="{FF2B5EF4-FFF2-40B4-BE49-F238E27FC236}">
                <a16:creationId xmlns:a16="http://schemas.microsoft.com/office/drawing/2014/main" id="{FD0F7CD9-4918-FF4D-834B-1199474DB807}"/>
              </a:ext>
            </a:extLst>
          </p:cNvPr>
          <p:cNvSpPr txBox="1">
            <a:spLocks/>
          </p:cNvSpPr>
          <p:nvPr/>
        </p:nvSpPr>
        <p:spPr>
          <a:xfrm>
            <a:off x="1064354" y="215667"/>
            <a:ext cx="10871200" cy="648072"/>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Corbel"/>
                <a:ea typeface="Corbel"/>
                <a:cs typeface="Corbel"/>
                <a:sym typeface="Corbel"/>
              </a:defRPr>
            </a:lvl1pPr>
            <a:lvl2pPr marR="0" lvl="1"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Corbel"/>
                <a:ea typeface="Corbel"/>
                <a:cs typeface="Corbel"/>
                <a:sym typeface="Corbel"/>
              </a:defRPr>
            </a:lvl2pPr>
            <a:lvl3pPr marR="0" lvl="2"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Corbel"/>
                <a:ea typeface="Corbel"/>
                <a:cs typeface="Corbel"/>
                <a:sym typeface="Corbel"/>
              </a:defRPr>
            </a:lvl3pPr>
            <a:lvl4pPr marR="0" lvl="3"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Corbel"/>
                <a:ea typeface="Corbel"/>
                <a:cs typeface="Corbel"/>
                <a:sym typeface="Corbel"/>
              </a:defRPr>
            </a:lvl4pPr>
            <a:lvl5pPr marR="0" lvl="4"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Corbel"/>
                <a:ea typeface="Corbel"/>
                <a:cs typeface="Corbel"/>
                <a:sym typeface="Corbel"/>
              </a:defRPr>
            </a:lvl5pPr>
            <a:lvl6pPr marR="0" lvl="5"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9pPr>
          </a:lstStyle>
          <a:p>
            <a:pPr>
              <a:lnSpc>
                <a:spcPct val="90000"/>
              </a:lnSpc>
            </a:pPr>
            <a:r>
              <a:rPr lang="en-GB" sz="4400" i="1" dirty="0">
                <a:solidFill>
                  <a:srgbClr val="F57E20"/>
                </a:solidFill>
              </a:rPr>
              <a:t>Your account and saved data</a:t>
            </a:r>
            <a:endParaRPr lang="en-GB" dirty="0"/>
          </a:p>
        </p:txBody>
      </p:sp>
      <p:sp>
        <p:nvSpPr>
          <p:cNvPr id="4" name="Google Shape;64;p3">
            <a:extLst>
              <a:ext uri="{FF2B5EF4-FFF2-40B4-BE49-F238E27FC236}">
                <a16:creationId xmlns:a16="http://schemas.microsoft.com/office/drawing/2014/main" id="{E922F765-4533-9634-0B66-999AEAC253E9}"/>
              </a:ext>
            </a:extLst>
          </p:cNvPr>
          <p:cNvSpPr txBox="1">
            <a:spLocks/>
          </p:cNvSpPr>
          <p:nvPr/>
        </p:nvSpPr>
        <p:spPr>
          <a:xfrm>
            <a:off x="433415" y="1282931"/>
            <a:ext cx="3176059" cy="5272013"/>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SzPts val="2400"/>
              <a:buFont typeface="Corbel"/>
              <a:buNone/>
            </a:pPr>
            <a:r>
              <a:rPr lang="en-GB" sz="2400" dirty="0">
                <a:latin typeface="Corbel" panose="020B0503020204020204" pitchFamily="34" charset="0"/>
              </a:rPr>
              <a:t>Account settings and saved data such as saved histories and visualizations</a:t>
            </a:r>
          </a:p>
          <a:p>
            <a:pPr marL="0" lvl="0" indent="0" algn="l" rtl="0">
              <a:spcBef>
                <a:spcPts val="1080"/>
              </a:spcBef>
              <a:spcAft>
                <a:spcPts val="0"/>
              </a:spcAft>
              <a:buSzPts val="2400"/>
              <a:buFont typeface="Corbel"/>
              <a:buNone/>
            </a:pPr>
            <a:r>
              <a:rPr lang="en-GB" sz="2400" dirty="0">
                <a:latin typeface="Corbel" panose="020B0503020204020204" pitchFamily="34" charset="0"/>
              </a:rPr>
              <a:t>Histories other users have shared with you</a:t>
            </a:r>
          </a:p>
          <a:p>
            <a:pPr marL="0" lvl="0" indent="0" algn="l" rtl="0">
              <a:spcBef>
                <a:spcPts val="1080"/>
              </a:spcBef>
              <a:spcAft>
                <a:spcPts val="0"/>
              </a:spcAft>
              <a:buSzPts val="2400"/>
              <a:buFont typeface="Corbel"/>
              <a:buNone/>
            </a:pPr>
            <a:r>
              <a:rPr lang="en-GB" sz="2400" dirty="0">
                <a:latin typeface="Corbel" panose="020B0503020204020204" pitchFamily="34" charset="0"/>
              </a:rPr>
              <a:t>Log of analysis workflows you have run</a:t>
            </a:r>
          </a:p>
          <a:p>
            <a:pPr>
              <a:spcBef>
                <a:spcPts val="1080"/>
              </a:spcBef>
              <a:buSzPts val="2400"/>
              <a:buFont typeface="Corbel"/>
              <a:buNone/>
            </a:pPr>
            <a:r>
              <a:rPr lang="en-GB" sz="2400" dirty="0">
                <a:latin typeface="Corbel" panose="020B0503020204020204" pitchFamily="34" charset="0"/>
              </a:rPr>
              <a:t> </a:t>
            </a:r>
          </a:p>
        </p:txBody>
      </p:sp>
      <p:pic>
        <p:nvPicPr>
          <p:cNvPr id="6" name="Picture 5">
            <a:extLst>
              <a:ext uri="{FF2B5EF4-FFF2-40B4-BE49-F238E27FC236}">
                <a16:creationId xmlns:a16="http://schemas.microsoft.com/office/drawing/2014/main" id="{2B4694FC-BB55-CA39-4733-EB7800195C17}"/>
              </a:ext>
            </a:extLst>
          </p:cNvPr>
          <p:cNvPicPr>
            <a:picLocks noChangeAspect="1"/>
          </p:cNvPicPr>
          <p:nvPr/>
        </p:nvPicPr>
        <p:blipFill>
          <a:blip r:embed="rId2"/>
          <a:stretch>
            <a:fillRect/>
          </a:stretch>
        </p:blipFill>
        <p:spPr>
          <a:xfrm>
            <a:off x="3767603" y="994173"/>
            <a:ext cx="8189324" cy="4416600"/>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6A52A8F6-6F79-C215-1A15-C477718945AA}"/>
              </a:ext>
            </a:extLst>
          </p:cNvPr>
          <p:cNvPicPr>
            <a:picLocks noChangeAspect="1"/>
          </p:cNvPicPr>
          <p:nvPr/>
        </p:nvPicPr>
        <p:blipFill rotWithShape="1">
          <a:blip r:embed="rId2"/>
          <a:srcRect l="54330" t="5639" r="33161" b="53265"/>
          <a:stretch/>
        </p:blipFill>
        <p:spPr>
          <a:xfrm>
            <a:off x="5658558" y="2990706"/>
            <a:ext cx="1980055" cy="3508286"/>
          </a:xfrm>
          <a:prstGeom prst="rect">
            <a:avLst/>
          </a:prstGeom>
          <a:ln>
            <a:noFill/>
          </a:ln>
          <a:effectLst>
            <a:outerShdw blurRad="292100" dist="139700" dir="2700000" algn="tl" rotWithShape="0">
              <a:srgbClr val="333333">
                <a:alpha val="65000"/>
              </a:srgbClr>
            </a:outerShdw>
          </a:effectLst>
        </p:spPr>
      </p:pic>
      <p:cxnSp>
        <p:nvCxnSpPr>
          <p:cNvPr id="9" name="Straight Connector 8">
            <a:extLst>
              <a:ext uri="{FF2B5EF4-FFF2-40B4-BE49-F238E27FC236}">
                <a16:creationId xmlns:a16="http://schemas.microsoft.com/office/drawing/2014/main" id="{A724B8DD-A59F-3325-F10D-40597E8DA19A}"/>
              </a:ext>
            </a:extLst>
          </p:cNvPr>
          <p:cNvCxnSpPr/>
          <p:nvPr/>
        </p:nvCxnSpPr>
        <p:spPr>
          <a:xfrm flipH="1">
            <a:off x="5658558" y="1282931"/>
            <a:ext cx="2550416" cy="1707775"/>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C99998D-6226-8C0F-84BF-522AB2332814}"/>
              </a:ext>
            </a:extLst>
          </p:cNvPr>
          <p:cNvCxnSpPr>
            <a:cxnSpLocks/>
          </p:cNvCxnSpPr>
          <p:nvPr/>
        </p:nvCxnSpPr>
        <p:spPr>
          <a:xfrm flipH="1">
            <a:off x="7638613" y="3065049"/>
            <a:ext cx="570361" cy="3433943"/>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EAD885C-4DE2-C1D6-6797-A25999D0A8B7}"/>
              </a:ext>
            </a:extLst>
          </p:cNvPr>
          <p:cNvSpPr txBox="1"/>
          <p:nvPr/>
        </p:nvSpPr>
        <p:spPr>
          <a:xfrm>
            <a:off x="8827741" y="421802"/>
            <a:ext cx="1205779" cy="461665"/>
          </a:xfrm>
          <a:prstGeom prst="rect">
            <a:avLst/>
          </a:prstGeom>
          <a:noFill/>
        </p:spPr>
        <p:txBody>
          <a:bodyPr wrap="none" rtlCol="0">
            <a:spAutoFit/>
          </a:bodyPr>
          <a:lstStyle/>
          <a:p>
            <a:r>
              <a:rPr lang="en-US" sz="2400" dirty="0">
                <a:latin typeface="Corbel" panose="020B0503020204020204" pitchFamily="34" charset="0"/>
              </a:rPr>
              <a:t>“Home”</a:t>
            </a:r>
          </a:p>
        </p:txBody>
      </p:sp>
      <p:cxnSp>
        <p:nvCxnSpPr>
          <p:cNvPr id="15" name="Straight Arrow Connector 14">
            <a:extLst>
              <a:ext uri="{FF2B5EF4-FFF2-40B4-BE49-F238E27FC236}">
                <a16:creationId xmlns:a16="http://schemas.microsoft.com/office/drawing/2014/main" id="{5E1F9B7F-03AC-DDA0-51A9-CFE907D8A7A9}"/>
              </a:ext>
            </a:extLst>
          </p:cNvPr>
          <p:cNvCxnSpPr>
            <a:cxnSpLocks/>
          </p:cNvCxnSpPr>
          <p:nvPr/>
        </p:nvCxnSpPr>
        <p:spPr>
          <a:xfrm flipH="1">
            <a:off x="6290797" y="666905"/>
            <a:ext cx="2536944" cy="433125"/>
          </a:xfrm>
          <a:prstGeom prst="straightConnector1">
            <a:avLst/>
          </a:prstGeom>
          <a:ln w="22225">
            <a:tailEnd type="stealth" w="lg" len="lg"/>
          </a:ln>
        </p:spPr>
        <p:style>
          <a:lnRef idx="1">
            <a:schemeClr val="accent3"/>
          </a:lnRef>
          <a:fillRef idx="0">
            <a:schemeClr val="accent3"/>
          </a:fillRef>
          <a:effectRef idx="0">
            <a:schemeClr val="accent3"/>
          </a:effectRef>
          <a:fontRef idx="minor">
            <a:schemeClr val="tx1"/>
          </a:fontRef>
        </p:style>
      </p:cxnSp>
      <p:sp>
        <p:nvSpPr>
          <p:cNvPr id="17" name="Google Shape;100;p6">
            <a:extLst>
              <a:ext uri="{FF2B5EF4-FFF2-40B4-BE49-F238E27FC236}">
                <a16:creationId xmlns:a16="http://schemas.microsoft.com/office/drawing/2014/main" id="{153CCD05-8FBF-491C-7EA8-871FB5849D9F}"/>
              </a:ext>
            </a:extLst>
          </p:cNvPr>
          <p:cNvSpPr/>
          <p:nvPr/>
        </p:nvSpPr>
        <p:spPr>
          <a:xfrm>
            <a:off x="8148185" y="950509"/>
            <a:ext cx="442452" cy="338423"/>
          </a:xfrm>
          <a:prstGeom prst="rect">
            <a:avLst/>
          </a:prstGeom>
          <a:noFill/>
          <a:ln w="381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568211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C1B28-24CA-A2B3-30B3-8AA50FC0BF63}"/>
              </a:ext>
            </a:extLst>
          </p:cNvPr>
          <p:cNvSpPr>
            <a:spLocks noGrp="1"/>
          </p:cNvSpPr>
          <p:nvPr>
            <p:ph type="title"/>
          </p:nvPr>
        </p:nvSpPr>
        <p:spPr>
          <a:xfrm>
            <a:off x="804644" y="1984200"/>
            <a:ext cx="10515600" cy="1325563"/>
          </a:xfrm>
        </p:spPr>
        <p:txBody>
          <a:bodyPr>
            <a:normAutofit fontScale="90000"/>
          </a:bodyPr>
          <a:lstStyle/>
          <a:p>
            <a:r>
              <a:rPr lang="en-US" dirty="0">
                <a:solidFill>
                  <a:srgbClr val="F36B17"/>
                </a:solidFill>
              </a:rPr>
              <a:t>Hands on Galaxy</a:t>
            </a:r>
            <a:br>
              <a:rPr lang="en-US" dirty="0">
                <a:solidFill>
                  <a:srgbClr val="F36B17"/>
                </a:solidFill>
              </a:rPr>
            </a:br>
            <a:br>
              <a:rPr lang="en-US" dirty="0">
                <a:solidFill>
                  <a:srgbClr val="F36B17"/>
                </a:solidFill>
              </a:rPr>
            </a:br>
            <a:r>
              <a:rPr lang="en-US" dirty="0">
                <a:solidFill>
                  <a:srgbClr val="F36B17"/>
                </a:solidFill>
              </a:rPr>
              <a:t>	How to perform </a:t>
            </a:r>
            <a:r>
              <a:rPr lang="en-US" dirty="0" err="1">
                <a:solidFill>
                  <a:srgbClr val="F36B17"/>
                </a:solidFill>
              </a:rPr>
              <a:t>RNAseq</a:t>
            </a:r>
            <a:r>
              <a:rPr lang="en-US" dirty="0">
                <a:solidFill>
                  <a:srgbClr val="F36B17"/>
                </a:solidFill>
              </a:rPr>
              <a:t> analysis and Differential Gene Expression in Galaxy.no</a:t>
            </a:r>
          </a:p>
        </p:txBody>
      </p:sp>
      <p:sp>
        <p:nvSpPr>
          <p:cNvPr id="4" name="TextBox 3">
            <a:extLst>
              <a:ext uri="{FF2B5EF4-FFF2-40B4-BE49-F238E27FC236}">
                <a16:creationId xmlns:a16="http://schemas.microsoft.com/office/drawing/2014/main" id="{2617CA07-3240-808D-E90E-B13BB5675926}"/>
              </a:ext>
            </a:extLst>
          </p:cNvPr>
          <p:cNvSpPr txBox="1"/>
          <p:nvPr/>
        </p:nvSpPr>
        <p:spPr>
          <a:xfrm>
            <a:off x="758154" y="4477354"/>
            <a:ext cx="10822847" cy="369332"/>
          </a:xfrm>
          <a:prstGeom prst="rect">
            <a:avLst/>
          </a:prstGeom>
          <a:noFill/>
        </p:spPr>
        <p:txBody>
          <a:bodyPr wrap="square">
            <a:spAutoFit/>
          </a:bodyPr>
          <a:lstStyle/>
          <a:p>
            <a:r>
              <a:rPr lang="en-US" dirty="0">
                <a:hlinkClick r:id="rId2"/>
              </a:rPr>
              <a:t>https://training.galaxyproject.org/training-material/topics/transcriptomics/tutorials/ref-based/tutorial.html</a:t>
            </a:r>
            <a:r>
              <a:rPr lang="en-US" dirty="0"/>
              <a:t> </a:t>
            </a:r>
          </a:p>
        </p:txBody>
      </p:sp>
    </p:spTree>
    <p:extLst>
      <p:ext uri="{BB962C8B-B14F-4D97-AF65-F5344CB8AC3E}">
        <p14:creationId xmlns:p14="http://schemas.microsoft.com/office/powerpoint/2010/main" val="32749211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d2c0a6e-2c12-4688-9c96-cb4c6b822d2a}" enabled="1" method="Privileged" siteId="{eec01f8e-737f-43e3-9ed5-f8a59913bd82}" removed="0"/>
</clbl:labelList>
</file>

<file path=docProps/app.xml><?xml version="1.0" encoding="utf-8"?>
<Properties xmlns="http://schemas.openxmlformats.org/officeDocument/2006/extended-properties" xmlns:vt="http://schemas.openxmlformats.org/officeDocument/2006/docPropsVTypes">
  <TotalTime>428</TotalTime>
  <Words>913</Words>
  <Application>Microsoft Office PowerPoint</Application>
  <PresentationFormat>Widescreen</PresentationFormat>
  <Paragraphs>158</Paragraphs>
  <Slides>29</Slides>
  <Notes>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29</vt:i4>
      </vt:variant>
    </vt:vector>
  </HeadingPairs>
  <TitlesOfParts>
    <vt:vector size="41" baseType="lpstr">
      <vt:lpstr>Abadi</vt:lpstr>
      <vt:lpstr>-apple-system</vt:lpstr>
      <vt:lpstr>Aptos</vt:lpstr>
      <vt:lpstr>Aptos Display</vt:lpstr>
      <vt:lpstr>Arial</vt:lpstr>
      <vt:lpstr>Calibri</vt:lpstr>
      <vt:lpstr>Comic Sans MS</vt:lpstr>
      <vt:lpstr>Corbel</vt:lpstr>
      <vt:lpstr>Lato</vt:lpstr>
      <vt:lpstr>Liberation Sans</vt:lpstr>
      <vt:lpstr>Roboto Slab</vt:lpstr>
      <vt:lpstr>Office Theme</vt:lpstr>
      <vt:lpstr>PowerPoint Presentation</vt:lpstr>
      <vt:lpstr>ELIXIR - A distributed infrastructure for Life Science data</vt:lpstr>
      <vt:lpstr>ELIXIR Norway </vt:lpstr>
      <vt:lpstr>PowerPoint Presentation</vt:lpstr>
      <vt:lpstr>Examples of topics ELIXIR-NMBU can help </vt:lpstr>
      <vt:lpstr>Topics ELIXIR-NMBU can help with.</vt:lpstr>
      <vt:lpstr>Topics ELIXIR-NMBU can help with.</vt:lpstr>
      <vt:lpstr>ELIXIR-NMBU cannot help with</vt:lpstr>
      <vt:lpstr>What if do I need assistance for more than 2 days?</vt:lpstr>
      <vt:lpstr>ELIXIR-How to get help?</vt:lpstr>
      <vt:lpstr>Where else can ELIXIR Norway help?</vt:lpstr>
      <vt:lpstr>PowerPoint Presentation</vt:lpstr>
      <vt:lpstr>PowerPoint Presentation</vt:lpstr>
      <vt:lpstr>Login to NeLS using the WebPortal</vt:lpstr>
      <vt:lpstr>PowerPoint Presentation</vt:lpstr>
      <vt:lpstr>I don't have FEIDE login credentials (Non-Norwegian collaborators) </vt:lpstr>
      <vt:lpstr>The NeLS filesystem</vt:lpstr>
      <vt:lpstr>How does NeLS work?</vt:lpstr>
      <vt:lpstr>Apply for a project in NeLS for sharing data  within and outside Norway</vt:lpstr>
      <vt:lpstr>Adding members to a project</vt:lpstr>
      <vt:lpstr>Transfer data to and from NeLS (Using the web-portal)</vt:lpstr>
      <vt:lpstr>Using NeLS trough the CLI</vt:lpstr>
      <vt:lpstr>Using NeLS trough the CLI</vt:lpstr>
      <vt:lpstr>usegalaxy.no</vt:lpstr>
      <vt:lpstr>PowerPoint Presentation</vt:lpstr>
      <vt:lpstr>PowerPoint Presentation</vt:lpstr>
      <vt:lpstr>PowerPoint Presentation</vt:lpstr>
      <vt:lpstr>PowerPoint Presentation</vt:lpstr>
      <vt:lpstr>Hands on Galaxy   How to perform RNAseq analysis and Differential Gene Expression in Galaxy.no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Arturo Vera Ponce De Leon</dc:creator>
  <cp:lastModifiedBy>Arturo Vera Ponce De Leon</cp:lastModifiedBy>
  <cp:revision>3</cp:revision>
  <dcterms:created xsi:type="dcterms:W3CDTF">2024-06-03T08:45:22Z</dcterms:created>
  <dcterms:modified xsi:type="dcterms:W3CDTF">2026-10-15T14:31:00Z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0484126-3486-41a9-802e-7f1e2277276c_Enabled">
    <vt:lpwstr>true</vt:lpwstr>
  </property>
  <property fmtid="{D5CDD505-2E9C-101B-9397-08002B2CF9AE}" pid="3" name="MSIP_Label_d0484126-3486-41a9-802e-7f1e2277276c_SetDate">
    <vt:lpwstr>2024-06-03T09:19:13Z</vt:lpwstr>
  </property>
  <property fmtid="{D5CDD505-2E9C-101B-9397-08002B2CF9AE}" pid="4" name="MSIP_Label_d0484126-3486-41a9-802e-7f1e2277276c_Method">
    <vt:lpwstr>Standard</vt:lpwstr>
  </property>
  <property fmtid="{D5CDD505-2E9C-101B-9397-08002B2CF9AE}" pid="5" name="MSIP_Label_d0484126-3486-41a9-802e-7f1e2277276c_Name">
    <vt:lpwstr>d0484126-3486-41a9-802e-7f1e2277276c</vt:lpwstr>
  </property>
  <property fmtid="{D5CDD505-2E9C-101B-9397-08002B2CF9AE}" pid="6" name="MSIP_Label_d0484126-3486-41a9-802e-7f1e2277276c_SiteId">
    <vt:lpwstr>eec01f8e-737f-43e3-9ed5-f8a59913bd82</vt:lpwstr>
  </property>
  <property fmtid="{D5CDD505-2E9C-101B-9397-08002B2CF9AE}" pid="7" name="MSIP_Label_d0484126-3486-41a9-802e-7f1e2277276c_ActionId">
    <vt:lpwstr>3c4c27a2-66d7-478c-8ade-167b5104b5e0</vt:lpwstr>
  </property>
  <property fmtid="{D5CDD505-2E9C-101B-9397-08002B2CF9AE}" pid="8" name="MSIP_Label_d0484126-3486-41a9-802e-7f1e2277276c_ContentBits">
    <vt:lpwstr>0</vt:lpwstr>
  </property>
</Properties>
</file>